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2" d="100"/>
          <a:sy n="72" d="100"/>
        </p:scale>
        <p:origin x="576" y="66"/>
      </p:cViewPr>
      <p:guideLst>
        <p:guide orient="horz" pos="3240"/>
        <p:guide pos="57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158294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정보를 채워 제출합니다.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인식 배경과 목표를 구체적으로.</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아이디어 개요와 적용 기술, 차별점.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MVP 기능, 범위, 역할, 시연 시나리오.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유형, 확보 경로, 대체 방안.</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산업적 효과와 정량 지표, 확장 가능성.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12489F">
                  <a:alpha val="100000"/>
                </a:srgbClr>
              </a:gs>
              <a:gs pos="42000">
                <a:srgbClr val="0B2A6B">
                  <a:alpha val="100000"/>
                </a:srgbClr>
              </a:gs>
              <a:gs pos="100000">
                <a:srgbClr val="061532">
                  <a:alpha val="100000"/>
                </a:srgbClr>
              </a:gs>
            </a:gsLst>
            <a:path path="circle">
              <a:fillToRect l="78000" t="18000" r="22000" b="82000"/>
            </a:path>
          </a:gradFill>
          <a:ln/>
        </p:spPr>
        <p:txBody>
          <a:bodyPr/>
          <a:lstStyle/>
          <a:p>
            <a:endParaRPr lang="ko-KR" altLang="en-US"/>
          </a:p>
        </p:txBody>
      </p:sp>
      <p:sp>
        <p:nvSpPr>
          <p:cNvPr id="3" name="Shape 1"/>
          <p:cNvSpPr/>
          <p:nvPr/>
        </p:nvSpPr>
        <p:spPr>
          <a:xfrm>
            <a:off x="1143000" y="3167063"/>
            <a:ext cx="609600" cy="38100"/>
          </a:xfrm>
          <a:prstGeom prst="rect">
            <a:avLst/>
          </a:prstGeom>
          <a:solidFill>
            <a:srgbClr val="4FD0F5"/>
          </a:solidFill>
          <a:ln/>
        </p:spPr>
        <p:txBody>
          <a:bodyPr/>
          <a:lstStyle/>
          <a:p>
            <a:endParaRPr lang="ko-KR" altLang="en-US"/>
          </a:p>
        </p:txBody>
      </p:sp>
      <p:sp>
        <p:nvSpPr>
          <p:cNvPr id="4" name="Text 2"/>
          <p:cNvSpPr/>
          <p:nvPr/>
        </p:nvSpPr>
        <p:spPr>
          <a:xfrm>
            <a:off x="1962150" y="2995613"/>
            <a:ext cx="1163241" cy="419100"/>
          </a:xfrm>
          <a:prstGeom prst="rect">
            <a:avLst/>
          </a:prstGeom>
          <a:noFill/>
          <a:ln/>
        </p:spPr>
        <p:txBody>
          <a:bodyPr wrap="square" lIns="25400" tIns="25400" rIns="25400" bIns="25400" rtlCol="0" anchor="t">
            <a:normAutofit/>
          </a:bodyPr>
          <a:lstStyle/>
          <a:p>
            <a:pPr marL="0" indent="0" algn="l">
              <a:buNone/>
            </a:pPr>
            <a:r>
              <a:rPr lang="en-US" sz="2550" b="1" kern="0" spc="561" dirty="0">
                <a:solidFill>
                  <a:srgbClr val="7FDCFF"/>
                </a:solidFill>
                <a:latin typeface="Pretendard" pitchFamily="34" charset="0"/>
                <a:ea typeface="Pretendard" pitchFamily="34" charset="-122"/>
                <a:cs typeface="Pretendard" pitchFamily="34" charset="-120"/>
              </a:rPr>
              <a:t>2026</a:t>
            </a:r>
            <a:endParaRPr lang="en-US" sz="2550" dirty="0"/>
          </a:p>
        </p:txBody>
      </p:sp>
      <p:sp>
        <p:nvSpPr>
          <p:cNvPr id="5" name="Text 3"/>
          <p:cNvSpPr/>
          <p:nvPr/>
        </p:nvSpPr>
        <p:spPr>
          <a:xfrm>
            <a:off x="1143000" y="3700463"/>
            <a:ext cx="17602200" cy="1466850"/>
          </a:xfrm>
          <a:prstGeom prst="rect">
            <a:avLst/>
          </a:prstGeom>
          <a:noFill/>
          <a:ln/>
        </p:spPr>
        <p:txBody>
          <a:bodyPr wrap="square" lIns="25400" tIns="25400" rIns="25400" bIns="25400" rtlCol="0" anchor="t">
            <a:normAutofit/>
          </a:bodyPr>
          <a:lstStyle/>
          <a:p>
            <a:pPr marL="0" indent="0" algn="l">
              <a:lnSpc>
                <a:spcPct val="85227"/>
              </a:lnSpc>
              <a:buNone/>
            </a:pPr>
            <a:r>
              <a:rPr lang="en-US" sz="11250" b="1" kern="0" spc="-337" dirty="0">
                <a:solidFill>
                  <a:srgbClr val="FFFFFF"/>
                </a:solidFill>
                <a:latin typeface="Pretendard" pitchFamily="34" charset="0"/>
                <a:ea typeface="Pretendard" pitchFamily="34" charset="-122"/>
                <a:cs typeface="Pretendard" pitchFamily="34" charset="-120"/>
              </a:rPr>
              <a:t>K-조선 해커톤</a:t>
            </a:r>
            <a:endParaRPr lang="en-US" sz="11250" dirty="0"/>
          </a:p>
        </p:txBody>
      </p:sp>
      <p:sp>
        <p:nvSpPr>
          <p:cNvPr id="6" name="Text 4"/>
          <p:cNvSpPr/>
          <p:nvPr/>
        </p:nvSpPr>
        <p:spPr>
          <a:xfrm>
            <a:off x="1143000" y="5453063"/>
            <a:ext cx="17602200" cy="752475"/>
          </a:xfrm>
          <a:prstGeom prst="rect">
            <a:avLst/>
          </a:prstGeom>
          <a:noFill/>
          <a:ln/>
        </p:spPr>
        <p:txBody>
          <a:bodyPr wrap="square" lIns="25400" tIns="25400" rIns="25400" bIns="25400" rtlCol="0" anchor="t">
            <a:normAutofit/>
          </a:bodyPr>
          <a:lstStyle/>
          <a:p>
            <a:pPr marL="0" indent="0" algn="l">
              <a:buNone/>
            </a:pPr>
            <a:r>
              <a:rPr lang="en-US" sz="4800" kern="0" spc="1440" dirty="0">
                <a:solidFill>
                  <a:srgbClr val="BCD8FF"/>
                </a:solidFill>
                <a:latin typeface="Pretendard" pitchFamily="34" charset="0"/>
                <a:ea typeface="Pretendard" pitchFamily="34" charset="-122"/>
                <a:cs typeface="Pretendard" pitchFamily="34" charset="-120"/>
              </a:rPr>
              <a:t>계 획 서</a:t>
            </a:r>
            <a:endParaRPr lang="en-US" sz="4800" dirty="0"/>
          </a:p>
        </p:txBody>
      </p:sp>
      <p:sp>
        <p:nvSpPr>
          <p:cNvPr id="7" name="Shape 5"/>
          <p:cNvSpPr/>
          <p:nvPr/>
        </p:nvSpPr>
        <p:spPr>
          <a:xfrm>
            <a:off x="1143000" y="8115300"/>
            <a:ext cx="16002000" cy="19050"/>
          </a:xfrm>
          <a:prstGeom prst="rect">
            <a:avLst/>
          </a:prstGeom>
          <a:solidFill>
            <a:srgbClr val="7FDCFF">
              <a:alpha val="45000"/>
            </a:srgbClr>
          </a:solidFill>
          <a:ln/>
        </p:spPr>
        <p:txBody>
          <a:bodyPr/>
          <a:lstStyle/>
          <a:p>
            <a:endParaRPr lang="ko-KR" altLang="en-US"/>
          </a:p>
        </p:txBody>
      </p:sp>
      <p:sp>
        <p:nvSpPr>
          <p:cNvPr id="8" name="Text 6"/>
          <p:cNvSpPr/>
          <p:nvPr/>
        </p:nvSpPr>
        <p:spPr>
          <a:xfrm>
            <a:off x="1143000" y="8553450"/>
            <a:ext cx="5238750"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팀명</a:t>
            </a:r>
            <a:endParaRPr lang="en-US" sz="1950" dirty="0"/>
          </a:p>
        </p:txBody>
      </p:sp>
      <p:sp>
        <p:nvSpPr>
          <p:cNvPr id="9" name="Text 7"/>
          <p:cNvSpPr/>
          <p:nvPr/>
        </p:nvSpPr>
        <p:spPr>
          <a:xfrm>
            <a:off x="1143000" y="8982075"/>
            <a:ext cx="5238750"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[팀명 기재]</a:t>
            </a:r>
            <a:endParaRPr lang="en-US" sz="3000" dirty="0"/>
          </a:p>
        </p:txBody>
      </p:sp>
      <p:sp>
        <p:nvSpPr>
          <p:cNvPr id="10" name="Shape 8"/>
          <p:cNvSpPr/>
          <p:nvPr/>
        </p:nvSpPr>
        <p:spPr>
          <a:xfrm>
            <a:off x="6477000" y="8553450"/>
            <a:ext cx="9525" cy="876300"/>
          </a:xfrm>
          <a:prstGeom prst="rect">
            <a:avLst/>
          </a:prstGeom>
          <a:solidFill>
            <a:srgbClr val="FFFFFF">
              <a:alpha val="18000"/>
            </a:srgbClr>
          </a:solidFill>
          <a:ln/>
        </p:spPr>
        <p:txBody>
          <a:bodyPr/>
          <a:lstStyle/>
          <a:p>
            <a:endParaRPr lang="ko-KR" altLang="en-US"/>
          </a:p>
        </p:txBody>
      </p:sp>
      <p:sp>
        <p:nvSpPr>
          <p:cNvPr id="11" name="Text 9"/>
          <p:cNvSpPr/>
          <p:nvPr/>
        </p:nvSpPr>
        <p:spPr>
          <a:xfrm>
            <a:off x="7058025" y="8553450"/>
            <a:ext cx="4599623"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팀장</a:t>
            </a:r>
            <a:endParaRPr lang="en-US" sz="1950" dirty="0"/>
          </a:p>
        </p:txBody>
      </p:sp>
      <p:sp>
        <p:nvSpPr>
          <p:cNvPr id="12" name="Text 10"/>
          <p:cNvSpPr/>
          <p:nvPr/>
        </p:nvSpPr>
        <p:spPr>
          <a:xfrm>
            <a:off x="7058025" y="8982075"/>
            <a:ext cx="4599623"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[팀장 성명 기재]</a:t>
            </a:r>
            <a:endParaRPr lang="en-US" sz="3000" dirty="0"/>
          </a:p>
        </p:txBody>
      </p:sp>
      <p:sp>
        <p:nvSpPr>
          <p:cNvPr id="13" name="Shape 11"/>
          <p:cNvSpPr/>
          <p:nvPr/>
        </p:nvSpPr>
        <p:spPr>
          <a:xfrm>
            <a:off x="11811000" y="8553450"/>
            <a:ext cx="9525" cy="876300"/>
          </a:xfrm>
          <a:prstGeom prst="rect">
            <a:avLst/>
          </a:prstGeom>
          <a:solidFill>
            <a:srgbClr val="FFFFFF">
              <a:alpha val="18000"/>
            </a:srgbClr>
          </a:solidFill>
          <a:ln/>
        </p:spPr>
        <p:txBody>
          <a:bodyPr/>
          <a:lstStyle/>
          <a:p>
            <a:endParaRPr lang="ko-KR" altLang="en-US"/>
          </a:p>
        </p:txBody>
      </p:sp>
      <p:sp>
        <p:nvSpPr>
          <p:cNvPr id="14" name="Text 12"/>
          <p:cNvSpPr/>
          <p:nvPr/>
        </p:nvSpPr>
        <p:spPr>
          <a:xfrm>
            <a:off x="12392025" y="8553450"/>
            <a:ext cx="5228273"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팀원</a:t>
            </a:r>
            <a:endParaRPr lang="en-US" sz="1950" dirty="0"/>
          </a:p>
        </p:txBody>
      </p:sp>
      <p:sp>
        <p:nvSpPr>
          <p:cNvPr id="15" name="Text 13"/>
          <p:cNvSpPr/>
          <p:nvPr/>
        </p:nvSpPr>
        <p:spPr>
          <a:xfrm>
            <a:off x="12392025" y="8982075"/>
            <a:ext cx="5029200"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1인 참가</a:t>
            </a:r>
            <a:endParaRPr lang="en-US" sz="3000" dirty="0"/>
          </a:p>
        </p:txBody>
      </p:sp>
      <p:sp>
        <p:nvSpPr>
          <p:cNvPr id="16" name="TextBox 15"/>
          <p:cNvSpPr txBox="1"/>
          <p:nvPr/>
        </p:nvSpPr>
        <p:spPr>
          <a:xfrm>
            <a:off x="1143000" y="6510528"/>
            <a:ext cx="16002000" cy="566928"/>
          </a:xfrm>
          <a:prstGeom prst="rect">
            <a:avLst/>
          </a:prstGeom>
          <a:noFill/>
        </p:spPr>
        <p:txBody>
          <a:bodyPr wrap="square" anchor="t" lIns="0" rIns="0" tIns="0" bIns="0">
            <a:spAutoFit/>
          </a:bodyPr>
          <a:lstStyle/>
          <a:p>
            <a:pPr algn="l">
              <a:lnSpc>
                <a:spcPct val="112000"/>
              </a:lnSpc>
            </a:pPr>
            <a:r>
              <a:rPr sz="2600" b="1" i="0">
                <a:solidFill>
                  <a:srgbClr val="FFFFFF"/>
                </a:solidFill>
                <a:latin typeface="Pretendard"/>
                <a:ea typeface="Pretendard"/>
                <a:cs typeface="Pretendard"/>
              </a:rPr>
              <a:t>RT 판독 워크벤치 — “판독은 자격자가, 서류는 AI가.”</a:t>
            </a:r>
          </a:p>
        </p:txBody>
      </p:sp>
      <p:sp>
        <p:nvSpPr>
          <p:cNvPr id="17" name="TextBox 16"/>
          <p:cNvSpPr txBox="1"/>
          <p:nvPr/>
        </p:nvSpPr>
        <p:spPr>
          <a:xfrm>
            <a:off x="1143000" y="7150608"/>
            <a:ext cx="16002000" cy="411480"/>
          </a:xfrm>
          <a:prstGeom prst="rect">
            <a:avLst/>
          </a:prstGeom>
          <a:noFill/>
        </p:spPr>
        <p:txBody>
          <a:bodyPr wrap="square" anchor="t" lIns="0" rIns="0" tIns="0" bIns="0">
            <a:spAutoFit/>
          </a:bodyPr>
          <a:lstStyle/>
          <a:p>
            <a:pPr algn="l">
              <a:lnSpc>
                <a:spcPct val="112000"/>
              </a:lnSpc>
            </a:pPr>
            <a:r>
              <a:rPr sz="1600" b="0" i="0">
                <a:solidFill>
                  <a:srgbClr val="7FDCFF"/>
                </a:solidFill>
                <a:latin typeface="Pretendard"/>
                <a:ea typeface="Pretendard"/>
                <a:cs typeface="Pretendard"/>
              </a:rPr>
              <a:t>생산 분야 · 용접부 RT(방사선투과검사) 사진을 판독하는 사람의 판정·소견서·기록 업무를 돕는, 내 PC에서 도는 소프트웨어</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805607"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01</a:t>
            </a:r>
            <a:endParaRPr lang="en-US" sz="4950" dirty="0"/>
          </a:p>
        </p:txBody>
      </p:sp>
      <p:sp>
        <p:nvSpPr>
          <p:cNvPr id="4" name="Shape 2"/>
          <p:cNvSpPr/>
          <p:nvPr/>
        </p:nvSpPr>
        <p:spPr>
          <a:xfrm>
            <a:off x="1529507"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배경 및 목적</a:t>
            </a:r>
            <a:endParaRPr lang="en-US" sz="3450" dirty="0"/>
          </a:p>
        </p:txBody>
      </p:sp>
      <p:sp>
        <p:nvSpPr>
          <p:cNvPr id="6" name="Shape 4"/>
          <p:cNvSpPr/>
          <p:nvPr/>
        </p:nvSpPr>
        <p:spPr>
          <a:xfrm>
            <a:off x="571500" y="25010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7868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문제 인식 배경</a:t>
            </a:r>
            <a:endParaRPr lang="en-US" sz="2025" dirty="0"/>
          </a:p>
        </p:txBody>
      </p:sp>
      <p:sp>
        <p:nvSpPr>
          <p:cNvPr id="8" name="Text 6"/>
          <p:cNvSpPr/>
          <p:nvPr/>
        </p:nvSpPr>
        <p:spPr>
          <a:xfrm>
            <a:off x="571500" y="3177332"/>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조선산업 현장에서 발견한 문제·불편함과 그 근거</a:t>
            </a:r>
            <a:endParaRPr lang="en-US" sz="1800" dirty="0"/>
          </a:p>
        </p:txBody>
      </p:sp>
      <p:sp>
        <p:nvSpPr>
          <p:cNvPr id="9" name="Text 7"/>
          <p:cNvSpPr/>
          <p:nvPr/>
        </p:nvSpPr>
        <p:spPr>
          <a:xfrm>
            <a:off x="571500" y="408786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해결하고자 하는 목표</a:t>
            </a:r>
            <a:endParaRPr lang="en-US" sz="2025" dirty="0"/>
          </a:p>
        </p:txBody>
      </p:sp>
      <p:sp>
        <p:nvSpPr>
          <p:cNvPr id="10" name="Text 8"/>
          <p:cNvSpPr/>
          <p:nvPr/>
        </p:nvSpPr>
        <p:spPr>
          <a:xfrm>
            <a:off x="571500" y="4478387"/>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본 프로젝트로 달성하려는 상태를 구체적으로 기술</a:t>
            </a:r>
            <a:endParaRPr lang="en-US" sz="1800" dirty="0"/>
          </a:p>
        </p:txBody>
      </p:sp>
      <p:sp>
        <p:nvSpPr>
          <p:cNvPr id="11" name="Text 9"/>
          <p:cNvSpPr/>
          <p:nvPr/>
        </p:nvSpPr>
        <p:spPr>
          <a:xfrm>
            <a:off x="571500" y="538891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해당 AX 분야</a:t>
            </a:r>
            <a:endParaRPr lang="en-US" sz="2025" dirty="0"/>
          </a:p>
        </p:txBody>
      </p:sp>
      <p:sp>
        <p:nvSpPr>
          <p:cNvPr id="12" name="Text 10"/>
          <p:cNvSpPr/>
          <p:nvPr/>
        </p:nvSpPr>
        <p:spPr>
          <a:xfrm>
            <a:off x="571500" y="577944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영업 / 설계 / 구매 / 생산 / 품질 / 안전 / 선박 중 선택</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30165" y="571500"/>
            <a:ext cx="2803059"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02</a:t>
            </a:r>
            <a:endParaRPr lang="en-US" sz="1950" dirty="0"/>
          </a:p>
        </p:txBody>
      </p:sp>
      <p:sp>
        <p:nvSpPr>
          <p:cNvPr id="16" name="Rounded Rectangle 15"/>
          <p:cNvSpPr/>
          <p:nvPr/>
        </p:nvSpPr>
        <p:spPr>
          <a:xfrm>
            <a:off x="4800600" y="1371600"/>
            <a:ext cx="7315200" cy="7882127"/>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45920"/>
            <a:ext cx="6428231"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문제 인식 배경</a:t>
            </a:r>
          </a:p>
        </p:txBody>
      </p:sp>
      <p:sp>
        <p:nvSpPr>
          <p:cNvPr id="19" name="TextBox 18"/>
          <p:cNvSpPr txBox="1"/>
          <p:nvPr/>
        </p:nvSpPr>
        <p:spPr>
          <a:xfrm>
            <a:off x="5120640" y="2240280"/>
            <a:ext cx="6675120" cy="6784847"/>
          </a:xfrm>
          <a:prstGeom prst="rect">
            <a:avLst/>
          </a:prstGeom>
          <a:noFill/>
        </p:spPr>
        <p:txBody>
          <a:bodyPr wrap="square" anchor="t" lIns="0" rIns="0" tIns="0" bIns="0">
            <a:spAutoFit/>
          </a:bodyPr>
          <a:lstStyle/>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RT(방사선투과검사)는 용접부를 X선으로 찍어 속에 숨은 결함을 찾는 검사다. 국내 조선소는 2021년 기준 대부분 </a:t>
            </a:r>
            <a:r>
              <a:rPr sz="1380" b="1" i="0">
                <a:solidFill>
                  <a:srgbClr val="1F2A44"/>
                </a:solidFill>
                <a:latin typeface="Pretendard"/>
                <a:ea typeface="Pretendard"/>
                <a:cs typeface="Pretendard"/>
              </a:rPr>
              <a:t>필름</a:t>
            </a:r>
            <a:r>
              <a:rPr sz="1380" b="0" i="0">
                <a:solidFill>
                  <a:srgbClr val="1F2A44"/>
                </a:solidFill>
                <a:latin typeface="Pretendard"/>
                <a:ea typeface="Pretendard"/>
                <a:cs typeface="Pretendard"/>
              </a:rPr>
              <a:t>으로 찍는다[1][2]. 한화오션이 2021.07 필름 없는 디지털 RT를 개발하고 5대 선급과 승인 체계 개발 MOU를 맺었지만[2], 이후 얼마나 바뀌었는지는 공개 자료로 확인되지 않는다 → </a:t>
            </a:r>
            <a:r>
              <a:rPr sz="1380" b="1" i="0">
                <a:solidFill>
                  <a:srgbClr val="1F2A44"/>
                </a:solidFill>
                <a:latin typeface="Pretendard"/>
                <a:ea typeface="Pretendard"/>
                <a:cs typeface="Pretendard"/>
              </a:rPr>
              <a:t>필름과 디지털이 함께 쓰이는 과도기</a:t>
            </a:r>
            <a:r>
              <a:rPr sz="1380" b="0" i="0">
                <a:solidFill>
                  <a:srgbClr val="1F2A44"/>
                </a:solidFill>
                <a:latin typeface="Pretendard"/>
                <a:ea typeface="Pretendard"/>
                <a:cs typeface="Pretendard"/>
              </a:rPr>
              <a:t>로 본다</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선급(배의 안전 기준을 정하고 검사하는 기관: KR·DNV·ABS 등)의 국제 협회 IACS는 2021.07부터 디지털 RT를 규칙에 넣었고[3], 2026.07.15 승인한 개정판(2028.01 이후 계약 선박)은 </a:t>
            </a:r>
            <a:r>
              <a:rPr sz="1380" b="1" i="0">
                <a:solidFill>
                  <a:srgbClr val="1F2A44"/>
                </a:solidFill>
                <a:latin typeface="Pretendard"/>
                <a:ea typeface="Pretendard"/>
                <a:cs typeface="Pretendard"/>
              </a:rPr>
              <a:t>사진 전체를 100mm 구간 단위로 판독</a:t>
            </a:r>
            <a:r>
              <a:rPr sz="1380" b="0" i="0">
                <a:solidFill>
                  <a:srgbClr val="1F2A44"/>
                </a:solidFill>
                <a:latin typeface="Pretendard"/>
                <a:ea typeface="Pretendard"/>
                <a:cs typeface="Pretendard"/>
              </a:rPr>
              <a:t>하도록 정했다[4]. 찍는 방법이 바뀌어도 </a:t>
            </a:r>
            <a:r>
              <a:rPr sz="1380" b="1" i="0">
                <a:solidFill>
                  <a:srgbClr val="1F2A44"/>
                </a:solidFill>
                <a:latin typeface="Pretendard"/>
                <a:ea typeface="Pretendard"/>
                <a:cs typeface="Pretendard"/>
              </a:rPr>
              <a:t>판독·판정·기록은 여전히 사람의 일</a:t>
            </a:r>
            <a:r>
              <a:rPr sz="1380" b="0" i="0">
                <a:solidFill>
                  <a:srgbClr val="1F2A44"/>
                </a:solidFill>
                <a:latin typeface="Pretendard"/>
                <a:ea typeface="Pretendard"/>
                <a:cs typeface="Pretendard"/>
              </a:rPr>
              <a:t>이다</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판독원(자격을 가진 사람)의 하루: 사진에서 결함을 찾고 → 크기를 재서 기준과 대조하고 → 합격/불합격을 정하고 → </a:t>
            </a:r>
            <a:r>
              <a:rPr sz="1380" b="1" i="0">
                <a:solidFill>
                  <a:srgbClr val="1F2A44"/>
                </a:solidFill>
                <a:latin typeface="Pretendard"/>
                <a:ea typeface="Pretendard"/>
                <a:cs typeface="Pretendard"/>
              </a:rPr>
              <a:t>보고서를 손으로 쓴다</a:t>
            </a:r>
            <a:r>
              <a:rPr sz="1380" b="0" i="0">
                <a:solidFill>
                  <a:srgbClr val="1F2A44"/>
                </a:solidFill>
                <a:latin typeface="Pretendard"/>
                <a:ea typeface="Pretendard"/>
                <a:cs typeface="Pretendard"/>
              </a:rPr>
              <a:t>(선급 규칙 필수 항목 25개[3]) → 보관 → 선주·선급이 물으면 </a:t>
            </a:r>
            <a:r>
              <a:rPr sz="1380" b="1" i="0">
                <a:solidFill>
                  <a:srgbClr val="1F2A44"/>
                </a:solidFill>
                <a:latin typeface="Pretendard"/>
                <a:ea typeface="Pretendard"/>
                <a:cs typeface="Pretendard"/>
              </a:rPr>
              <a:t>서류 더미를 뒤진다</a:t>
            </a:r>
            <a:r>
              <a:rPr sz="1380" b="0" i="0">
                <a:solidFill>
                  <a:srgbClr val="1F2A44"/>
                </a:solidFill>
                <a:latin typeface="Pretendard"/>
                <a:ea typeface="Pretendard"/>
                <a:cs typeface="Pretendard"/>
              </a:rPr>
              <a:t>. 불합격이 나오면 같은 용접선을 더 찍어 다시 판독한다[3]</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조선 3사의 AI 투자는 용접 ‘작업’과 카메라 검사에 몰려 있다(한화오션×NC AI 2026.06[5], HD현대중공업 AI 조선소 2026.06[6]). </a:t>
            </a:r>
            <a:r>
              <a:rPr sz="1380" b="1" i="0">
                <a:solidFill>
                  <a:srgbClr val="1F2A44"/>
                </a:solidFill>
                <a:latin typeface="Pretendard"/>
                <a:ea typeface="Pretendard"/>
                <a:cs typeface="Pretendard"/>
              </a:rPr>
              <a:t>판독 이후 단계(판정 근거·보고서·이력)에 대한 공개 투자 사례는 찾지 못했다</a:t>
            </a:r>
            <a:r>
              <a:rPr sz="1380" b="0" i="0">
                <a:solidFill>
                  <a:srgbClr val="1F2A44"/>
                </a:solidFill>
                <a:latin typeface="Pretendard"/>
                <a:ea typeface="Pretendard"/>
                <a:cs typeface="Pretendard"/>
              </a:rPr>
              <a:t>(2026.09 검색 기준)</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두산에너빌리티 D-Vision(RT 사진 AI 판독)은 2019년 말 자사 시범 → 2024.03 출시 → 2024.11 에너지공단 MOU[7] — </a:t>
            </a:r>
            <a:r>
              <a:rPr sz="1380" b="1" i="0">
                <a:solidFill>
                  <a:srgbClr val="1F2A44"/>
                </a:solidFill>
                <a:latin typeface="Pretendard"/>
                <a:ea typeface="Pretendard"/>
                <a:cs typeface="Pretendard"/>
              </a:rPr>
              <a:t>자사 적용·외부 확산 시도 단계</a:t>
            </a:r>
            <a:r>
              <a:rPr sz="1380" b="0" i="0">
                <a:solidFill>
                  <a:srgbClr val="1F2A44"/>
                </a:solidFill>
                <a:latin typeface="Pretendard"/>
                <a:ea typeface="Pretendard"/>
                <a:cs typeface="Pretendard"/>
              </a:rPr>
              <a:t>이며 외부 유료 고객은 공개 확인되지 않는다 → 문제는 실재하지만 시장의 지불 의사는 아직 미검증</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판독 인력은 고령화로 줄고 있고(두산에너빌리티 2024·2026 인터뷰[7]), 최저가 입찰로 숙련자 확보가 어렵다[8]. 국내 비파괴검사 물량의 </a:t>
            </a:r>
            <a:r>
              <a:rPr sz="1380" b="1" i="0">
                <a:solidFill>
                  <a:srgbClr val="1F2A44"/>
                </a:solidFill>
                <a:latin typeface="Pretendard"/>
                <a:ea typeface="Pretendard"/>
                <a:cs typeface="Pretendard"/>
              </a:rPr>
              <a:t>약 80%가 방사선 방식 용접부 검사</a:t>
            </a:r>
            <a:r>
              <a:rPr sz="1380" b="0" i="0">
                <a:solidFill>
                  <a:srgbClr val="1F2A44"/>
                </a:solidFill>
                <a:latin typeface="Pretendard"/>
                <a:ea typeface="Pretendard"/>
                <a:cs typeface="Pretendard"/>
              </a:rPr>
              <a:t>[9] → 판독 부담이 RT에 집중된다</a:t>
            </a:r>
          </a:p>
        </p:txBody>
      </p:sp>
      <p:sp>
        <p:nvSpPr>
          <p:cNvPr id="20" name="Rounded Rectangle 19"/>
          <p:cNvSpPr/>
          <p:nvPr/>
        </p:nvSpPr>
        <p:spPr>
          <a:xfrm>
            <a:off x="12390120" y="1371600"/>
            <a:ext cx="5285231" cy="7882127"/>
          </a:xfrm>
          <a:prstGeom prst="roundRect">
            <a:avLst>
              <a:gd name="adj" fmla="val 3500"/>
            </a:avLst>
          </a:prstGeom>
          <a:solidFill>
            <a:srgbClr val="FFFFFF"/>
          </a:solidFill>
          <a:ln w="9525">
            <a:solidFill>
              <a:srgbClr val="D9E0EC"/>
            </a:solidFill>
          </a:ln>
        </p:spPr>
        <p:txBody>
          <a:bodyPr rtlCol="0" anchor="ctr"/>
          <a:lstStyle/>
          <a:p/>
        </p:txBody>
      </p:sp>
      <p:sp>
        <p:nvSpPr>
          <p:cNvPr id="21" name="Oval 20"/>
          <p:cNvSpPr/>
          <p:nvPr/>
        </p:nvSpPr>
        <p:spPr>
          <a:xfrm>
            <a:off x="12710160" y="1746504"/>
            <a:ext cx="146304" cy="146304"/>
          </a:xfrm>
          <a:prstGeom prst="ellipse">
            <a:avLst/>
          </a:prstGeom>
          <a:solidFill>
            <a:srgbClr val="4FD0F5"/>
          </a:solidFill>
          <a:ln>
            <a:noFill/>
          </a:ln>
        </p:spPr>
        <p:txBody>
          <a:bodyPr rtlCol="0" anchor="ctr"/>
          <a:lstStyle/>
          <a:p>
            <a:pPr algn="ctr"/>
          </a:p>
        </p:txBody>
      </p:sp>
      <p:sp>
        <p:nvSpPr>
          <p:cNvPr id="22" name="TextBox 21"/>
          <p:cNvSpPr txBox="1"/>
          <p:nvPr/>
        </p:nvSpPr>
        <p:spPr>
          <a:xfrm>
            <a:off x="12957048" y="1645920"/>
            <a:ext cx="439826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해결하고자 하는 목표</a:t>
            </a:r>
          </a:p>
        </p:txBody>
      </p:sp>
      <p:sp>
        <p:nvSpPr>
          <p:cNvPr id="23" name="TextBox 22"/>
          <p:cNvSpPr txBox="1"/>
          <p:nvPr/>
        </p:nvSpPr>
        <p:spPr>
          <a:xfrm>
            <a:off x="12710160" y="2240280"/>
            <a:ext cx="4645151" cy="2926080"/>
          </a:xfrm>
          <a:prstGeom prst="rect">
            <a:avLst/>
          </a:prstGeom>
          <a:noFill/>
        </p:spPr>
        <p:txBody>
          <a:bodyPr wrap="square" anchor="t" lIns="0" rIns="0" tIns="0" bIns="0">
            <a:spAutoFit/>
          </a:bodyPr>
          <a:lstStyle/>
          <a:p>
            <a:pPr marL="189865" indent="-189865">
              <a:lnSpc>
                <a:spcPct val="114000"/>
              </a:lnSpc>
              <a:spcAft>
                <a:spcPts val="600"/>
              </a:spcAft>
              <a:buClr>
                <a:srgbClr val="4FD0F5"/>
              </a:buClr>
              <a:buFont typeface="Arial"/>
              <a:buChar char="•"/>
            </a:pPr>
            <a:r>
              <a:rPr sz="1300" b="1" i="0">
                <a:solidFill>
                  <a:srgbClr val="1F2A44"/>
                </a:solidFill>
                <a:latin typeface="Pretendard"/>
                <a:ea typeface="Pretendard"/>
                <a:cs typeface="Pretendard"/>
              </a:rPr>
              <a:t>판독원의 하루에서 문서 작업과 서류 검색을 없앤다</a:t>
            </a:r>
            <a:r>
              <a:rPr sz="1300" b="0" i="0">
                <a:solidFill>
                  <a:srgbClr val="1F2A44"/>
                </a:solidFill>
                <a:latin typeface="Pretendard"/>
                <a:ea typeface="Pretendard"/>
                <a:cs typeface="Pretendard"/>
              </a:rPr>
              <a:t> — 합격/불합격은 자격자(ISO 9712 Level 2 이상[3])가 정하고, 서류는 AI가 만든다</a:t>
            </a:r>
          </a:p>
          <a:p>
            <a:pPr marL="189865" indent="-189865">
              <a:lnSpc>
                <a:spcPct val="114000"/>
              </a:lnSpc>
              <a:spcAft>
                <a:spcPts val="600"/>
              </a:spcAft>
              <a:buClr>
                <a:srgbClr val="4FD0F5"/>
              </a:buClr>
              <a:buFont typeface="Arial"/>
              <a:buChar char="•"/>
            </a:pPr>
            <a:r>
              <a:rPr sz="1300" b="0" i="0">
                <a:solidFill>
                  <a:srgbClr val="1F2A44"/>
                </a:solidFill>
                <a:latin typeface="Pretendard"/>
                <a:ea typeface="Pretendard"/>
                <a:cs typeface="Pretendard"/>
              </a:rPr>
              <a:t>목표 화면: 사진 열기 → AI가 놓칠 만한 곳 표시 → 클릭 두 번으로 크기 측정 → 규칙 엔진이 100mm 구간 기준으로 판정 → 소견서 초안 → 승인·PDF → 검색 가능한 기록 보관, </a:t>
            </a:r>
            <a:r>
              <a:rPr sz="1300" b="1" i="0">
                <a:solidFill>
                  <a:srgbClr val="1F2A44"/>
                </a:solidFill>
                <a:latin typeface="Pretendard"/>
                <a:ea typeface="Pretendard"/>
                <a:cs typeface="Pretendard"/>
              </a:rPr>
              <a:t>한 화면에서 끝</a:t>
            </a:r>
          </a:p>
          <a:p>
            <a:pPr marL="189865" indent="-189865">
              <a:lnSpc>
                <a:spcPct val="114000"/>
              </a:lnSpc>
              <a:spcAft>
                <a:spcPts val="600"/>
              </a:spcAft>
              <a:buClr>
                <a:srgbClr val="4FD0F5"/>
              </a:buClr>
              <a:buFont typeface="Arial"/>
              <a:buChar char="•"/>
            </a:pPr>
            <a:r>
              <a:rPr sz="1300" b="0" i="0">
                <a:solidFill>
                  <a:srgbClr val="1F2A44"/>
                </a:solidFill>
                <a:latin typeface="Pretendard"/>
                <a:ea typeface="Pretendard"/>
                <a:cs typeface="Pretendard"/>
              </a:rPr>
              <a:t>입력은 </a:t>
            </a:r>
            <a:r>
              <a:rPr sz="1300" b="1" i="0">
                <a:solidFill>
                  <a:srgbClr val="1F2A44"/>
                </a:solidFill>
                <a:latin typeface="Pretendard"/>
                <a:ea typeface="Pretendard"/>
                <a:cs typeface="Pretendard"/>
              </a:rPr>
              <a:t>스캔한 필름 사진 또는 디지털 RT 사진</a:t>
            </a:r>
            <a:r>
              <a:rPr sz="1300" b="0" i="0">
                <a:solidFill>
                  <a:srgbClr val="1F2A44"/>
                </a:solidFill>
                <a:latin typeface="Pretendard"/>
                <a:ea typeface="Pretendard"/>
                <a:cs typeface="Pretendard"/>
              </a:rPr>
              <a:t> — 판독원에게 새 장비나 새 촬영 절차를 요구하지 않는다. 단, 필름을 스캔하는 장비(ISO 14096-2 등급 디지타이저 또는 스캔 서비스)는 </a:t>
            </a:r>
            <a:r>
              <a:rPr sz="1300" b="1" i="0">
                <a:solidFill>
                  <a:srgbClr val="1F2A44"/>
                </a:solidFill>
                <a:latin typeface="Pretendard"/>
                <a:ea typeface="Pretendard"/>
                <a:cs typeface="Pretendard"/>
              </a:rPr>
              <a:t>조직이 갖춰야 할 전제조건</a:t>
            </a:r>
          </a:p>
        </p:txBody>
      </p:sp>
      <p:sp>
        <p:nvSpPr>
          <p:cNvPr id="24" name="TextBox 23"/>
          <p:cNvSpPr txBox="1"/>
          <p:nvPr/>
        </p:nvSpPr>
        <p:spPr>
          <a:xfrm>
            <a:off x="12710160" y="5166360"/>
            <a:ext cx="4645151" cy="292608"/>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3대 설계 원칙</a:t>
            </a:r>
          </a:p>
        </p:txBody>
      </p:sp>
      <p:sp>
        <p:nvSpPr>
          <p:cNvPr id="25" name="Rounded Rectangle 24"/>
          <p:cNvSpPr/>
          <p:nvPr/>
        </p:nvSpPr>
        <p:spPr>
          <a:xfrm>
            <a:off x="12710160" y="5550408"/>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1</a:t>
            </a:r>
          </a:p>
        </p:txBody>
      </p:sp>
      <p:sp>
        <p:nvSpPr>
          <p:cNvPr id="26" name="TextBox 25"/>
          <p:cNvSpPr txBox="1"/>
          <p:nvPr/>
        </p:nvSpPr>
        <p:spPr>
          <a:xfrm>
            <a:off x="13213080" y="5513832"/>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AI는 판정하지 않는다</a:t>
            </a:r>
          </a:p>
        </p:txBody>
      </p:sp>
      <p:sp>
        <p:nvSpPr>
          <p:cNvPr id="27" name="TextBox 26"/>
          <p:cNvSpPr txBox="1"/>
          <p:nvPr/>
        </p:nvSpPr>
        <p:spPr>
          <a:xfrm>
            <a:off x="13213080" y="5788152"/>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합격/불합격 = 규칙 엔진 + 판독원, LLM = 글쓰기·검색 보조</a:t>
            </a:r>
          </a:p>
        </p:txBody>
      </p:sp>
      <p:sp>
        <p:nvSpPr>
          <p:cNvPr id="28" name="Rounded Rectangle 27"/>
          <p:cNvSpPr/>
          <p:nvPr/>
        </p:nvSpPr>
        <p:spPr>
          <a:xfrm>
            <a:off x="12710160" y="6208776"/>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2</a:t>
            </a:r>
          </a:p>
        </p:txBody>
      </p:sp>
      <p:sp>
        <p:nvSpPr>
          <p:cNvPr id="29" name="TextBox 28"/>
          <p:cNvSpPr txBox="1"/>
          <p:nvPr/>
        </p:nvSpPr>
        <p:spPr>
          <a:xfrm>
            <a:off x="13213080" y="6172200"/>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기존 사진·기존 절차 위에</a:t>
            </a:r>
          </a:p>
        </p:txBody>
      </p:sp>
      <p:sp>
        <p:nvSpPr>
          <p:cNvPr id="30" name="TextBox 29"/>
          <p:cNvSpPr txBox="1"/>
          <p:nvPr/>
        </p:nvSpPr>
        <p:spPr>
          <a:xfrm>
            <a:off x="13213080" y="6446520"/>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스캔 필름이든 디지털 사진이든 같은 파이프라인</a:t>
            </a:r>
          </a:p>
        </p:txBody>
      </p:sp>
      <p:sp>
        <p:nvSpPr>
          <p:cNvPr id="31" name="Rounded Rectangle 30"/>
          <p:cNvSpPr/>
          <p:nvPr/>
        </p:nvSpPr>
        <p:spPr>
          <a:xfrm>
            <a:off x="12710160" y="6867144"/>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3</a:t>
            </a:r>
          </a:p>
        </p:txBody>
      </p:sp>
      <p:sp>
        <p:nvSpPr>
          <p:cNvPr id="32" name="TextBox 31"/>
          <p:cNvSpPr txBox="1"/>
          <p:nvPr/>
        </p:nvSpPr>
        <p:spPr>
          <a:xfrm>
            <a:off x="13213080" y="6830568"/>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탐지는 부품이다</a:t>
            </a:r>
          </a:p>
        </p:txBody>
      </p:sp>
      <p:sp>
        <p:nvSpPr>
          <p:cNvPr id="33" name="TextBox 32"/>
          <p:cNvSpPr txBox="1"/>
          <p:nvPr/>
        </p:nvSpPr>
        <p:spPr>
          <a:xfrm>
            <a:off x="13213080" y="7104888"/>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새로움은 판독 업무 전체를 하나로 잇는 통합</a:t>
            </a:r>
          </a:p>
        </p:txBody>
      </p:sp>
      <p:sp>
        <p:nvSpPr>
          <p:cNvPr id="34" name="Rounded Rectangle 33"/>
          <p:cNvSpPr/>
          <p:nvPr/>
        </p:nvSpPr>
        <p:spPr>
          <a:xfrm>
            <a:off x="12710160" y="7790688"/>
            <a:ext cx="4645151" cy="1234440"/>
          </a:xfrm>
          <a:prstGeom prst="roundRect">
            <a:avLst>
              <a:gd name="adj" fmla="val 8000"/>
            </a:avLst>
          </a:prstGeom>
          <a:solidFill>
            <a:srgbClr val="F2F5FA"/>
          </a:solidFill>
          <a:ln>
            <a:noFill/>
          </a:ln>
        </p:spPr>
        <p:txBody>
          <a:bodyPr rtlCol="0" anchor="ctr"/>
          <a:lstStyle/>
          <a:p/>
        </p:txBody>
      </p:sp>
      <p:sp>
        <p:nvSpPr>
          <p:cNvPr id="35" name="TextBox 34"/>
          <p:cNvSpPr txBox="1"/>
          <p:nvPr/>
        </p:nvSpPr>
        <p:spPr>
          <a:xfrm>
            <a:off x="12893040" y="7927848"/>
            <a:ext cx="2011680" cy="292608"/>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해당 AX 분야</a:t>
            </a:r>
          </a:p>
        </p:txBody>
      </p:sp>
      <p:sp>
        <p:nvSpPr>
          <p:cNvPr id="36" name="Rounded Rectangle 35"/>
          <p:cNvSpPr/>
          <p:nvPr/>
        </p:nvSpPr>
        <p:spPr>
          <a:xfrm>
            <a:off x="12893040" y="8293608"/>
            <a:ext cx="1188720" cy="502920"/>
          </a:xfrm>
          <a:prstGeom prst="roundRect">
            <a:avLst>
              <a:gd name="adj" fmla="val 50000"/>
            </a:avLst>
          </a:prstGeom>
          <a:solidFill>
            <a:srgbClr val="0B2A6B"/>
          </a:solidFill>
          <a:ln>
            <a:noFill/>
          </a:ln>
        </p:spPr>
        <p:txBody>
          <a:bodyPr rtlCol="0" anchor="ctr" lIns="73152" rIns="73152" tIns="0" bIns="0"/>
          <a:lstStyle/>
          <a:p>
            <a:pPr algn="ctr"/>
            <a:r>
              <a:rPr sz="1700" b="1" i="0">
                <a:solidFill>
                  <a:srgbClr val="FFFFFF"/>
                </a:solidFill>
                <a:latin typeface="Pretendard"/>
                <a:ea typeface="Pretendard"/>
                <a:cs typeface="Pretendard"/>
              </a:rPr>
              <a:t>생산</a:t>
            </a:r>
          </a:p>
        </p:txBody>
      </p:sp>
      <p:sp>
        <p:nvSpPr>
          <p:cNvPr id="37" name="TextBox 36"/>
          <p:cNvSpPr txBox="1"/>
          <p:nvPr/>
        </p:nvSpPr>
        <p:spPr>
          <a:xfrm>
            <a:off x="14264640" y="8247888"/>
            <a:ext cx="2907791" cy="822960"/>
          </a:xfrm>
          <a:prstGeom prst="rect">
            <a:avLst/>
          </a:prstGeom>
          <a:noFill/>
        </p:spPr>
        <p:txBody>
          <a:bodyPr wrap="square" anchor="t" lIns="0" rIns="0" tIns="0" bIns="0">
            <a:spAutoFit/>
          </a:bodyPr>
          <a:lstStyle/>
          <a:p>
            <a:pPr algn="l">
              <a:lnSpc>
                <a:spcPct val="112000"/>
              </a:lnSpc>
            </a:pPr>
            <a:r>
              <a:rPr sz="1200" b="0" i="0">
                <a:solidFill>
                  <a:srgbClr val="1F2A44"/>
                </a:solidFill>
                <a:latin typeface="Pretendard"/>
                <a:ea typeface="Pretendard"/>
                <a:cs typeface="Pretendard"/>
              </a:rPr>
              <a:t>선체 블록 용접부 RT 사진의 판독·판정·보고서·이력 관리 — 생산 공정 뒤쪽의 용접 품질 확인 업무</a:t>
            </a:r>
          </a:p>
        </p:txBody>
      </p:sp>
      <p:sp>
        <p:nvSpPr>
          <p:cNvPr id="38" name="TextBox 37"/>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참고  [1] 황훈규 외, 한국정보통신학회논문지 25(2), 2021.02  ·  [2] 데일리안·CCTV뉴스 2021.07.02†  ·  [3] IACS UR W33 Rev.1/Corr.1(2021) §3.3·§8·§9.2  ·  [4] IACS UR W33 Rev.2·W34 Rev.1(2026.07.15 승인)  ·  [5] 뉴스핌 2026.06.04†  ·  [6] 아시아투데이 2026.06†  ·  [7] 두산에너빌리티 통합보고서 2024·2026, 팍스경제TV 2024, 이투데이 2024.11.14, 위키리크스한국 2026.03†  ·  [8] 가스신문 2025.09.18†  ·  [9] 가스신문 기고 ‘비파괴검사 시장 현황’†  ·  † 검색 요약 기준(제출 전 원문 확인)</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893415"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02</a:t>
            </a:r>
            <a:endParaRPr lang="en-US" sz="4950" dirty="0"/>
          </a:p>
        </p:txBody>
      </p:sp>
      <p:sp>
        <p:nvSpPr>
          <p:cNvPr id="4" name="Shape 2"/>
          <p:cNvSpPr/>
          <p:nvPr/>
        </p:nvSpPr>
        <p:spPr>
          <a:xfrm>
            <a:off x="1617315"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296412" cy="1089422"/>
          </a:xfrm>
          <a:prstGeom prst="rect">
            <a:avLst/>
          </a:prstGeom>
          <a:noFill/>
          <a:ln/>
        </p:spPr>
        <p:txBody>
          <a:bodyPr wrap="square" lIns="25400" tIns="25400" rIns="25400" bIns="25400" rtlCol="0" anchor="t">
            <a:normAutofit lnSpcReduction="10000"/>
          </a:bodyPr>
          <a:lstStyle/>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아이디어</a:t>
            </a:r>
            <a:r>
              <a:rPr lang="en-US" sz="3450" b="1" kern="0" spc="-69" dirty="0">
                <a:solidFill>
                  <a:srgbClr val="FFFFFF"/>
                </a:solidFill>
                <a:latin typeface="Pretendard" pitchFamily="34" charset="0"/>
                <a:ea typeface="Pretendard" pitchFamily="34" charset="-122"/>
                <a:cs typeface="Pretendard" pitchFamily="34" charset="-120"/>
              </a:rPr>
              <a:t> 및</a:t>
            </a:r>
          </a:p>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활용</a:t>
            </a:r>
            <a:r>
              <a:rPr lang="en-US" sz="3450" b="1" kern="0" spc="-69" dirty="0">
                <a:solidFill>
                  <a:srgbClr val="FFFFFF"/>
                </a:solidFill>
                <a:latin typeface="Pretendard" pitchFamily="34" charset="0"/>
                <a:ea typeface="Pretendard" pitchFamily="34" charset="-122"/>
                <a:cs typeface="Pretendard" pitchFamily="34" charset="-120"/>
              </a:rPr>
              <a:t> AI </a:t>
            </a:r>
            <a:r>
              <a:rPr lang="en-US" sz="3450" b="1" kern="0" spc="-69" dirty="0" err="1">
                <a:solidFill>
                  <a:srgbClr val="FFFFFF"/>
                </a:solidFill>
                <a:latin typeface="Pretendard" pitchFamily="34" charset="0"/>
                <a:ea typeface="Pretendard" pitchFamily="34" charset="-122"/>
                <a:cs typeface="Pretendard" pitchFamily="34" charset="-120"/>
              </a:rPr>
              <a:t>기술</a:t>
            </a:r>
            <a:endParaRPr lang="en-US" sz="3450" dirty="0"/>
          </a:p>
        </p:txBody>
      </p:sp>
      <p:sp>
        <p:nvSpPr>
          <p:cNvPr id="6" name="Shape 4"/>
          <p:cNvSpPr/>
          <p:nvPr/>
        </p:nvSpPr>
        <p:spPr>
          <a:xfrm>
            <a:off x="571500" y="3026718"/>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331246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아이디어 개요</a:t>
            </a:r>
            <a:endParaRPr lang="en-US" sz="2025" dirty="0"/>
          </a:p>
        </p:txBody>
      </p:sp>
      <p:sp>
        <p:nvSpPr>
          <p:cNvPr id="8" name="Text 6"/>
          <p:cNvSpPr/>
          <p:nvPr/>
        </p:nvSpPr>
        <p:spPr>
          <a:xfrm>
            <a:off x="571500" y="370299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서비스 한 줄 정의, 주요 사용자, 핵심 동작 방식</a:t>
            </a:r>
            <a:endParaRPr lang="en-US" sz="1800" dirty="0"/>
          </a:p>
        </p:txBody>
      </p:sp>
      <p:sp>
        <p:nvSpPr>
          <p:cNvPr id="9" name="Text 7"/>
          <p:cNvSpPr/>
          <p:nvPr/>
        </p:nvSpPr>
        <p:spPr>
          <a:xfrm>
            <a:off x="571500" y="4613523"/>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적용 AI 기술</a:t>
            </a:r>
            <a:endParaRPr lang="en-US" sz="2025" dirty="0"/>
          </a:p>
        </p:txBody>
      </p:sp>
      <p:sp>
        <p:nvSpPr>
          <p:cNvPr id="10" name="Text 8"/>
          <p:cNvSpPr/>
          <p:nvPr/>
        </p:nvSpPr>
        <p:spPr>
          <a:xfrm>
            <a:off x="571500" y="5004048"/>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활용 예정인 생성형 AI 툴·모델·기술 스택을 구체적으로 기재</a:t>
            </a:r>
            <a:endParaRPr lang="en-US" sz="1800" dirty="0"/>
          </a:p>
        </p:txBody>
      </p:sp>
      <p:sp>
        <p:nvSpPr>
          <p:cNvPr id="11" name="Text 9"/>
          <p:cNvSpPr/>
          <p:nvPr/>
        </p:nvSpPr>
        <p:spPr>
          <a:xfrm>
            <a:off x="571500" y="5914579"/>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차별점</a:t>
            </a:r>
            <a:endParaRPr lang="en-US" sz="2025" dirty="0"/>
          </a:p>
        </p:txBody>
      </p:sp>
      <p:sp>
        <p:nvSpPr>
          <p:cNvPr id="12" name="Text 10"/>
          <p:cNvSpPr/>
          <p:nvPr/>
        </p:nvSpPr>
        <p:spPr>
          <a:xfrm>
            <a:off x="571500" y="6305104"/>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기존 방식 또는 유사 서비스 대비 차별화 지점</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2872" y="571500"/>
            <a:ext cx="2811081"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03</a:t>
            </a:r>
            <a:endParaRPr lang="en-US" sz="1950" dirty="0"/>
          </a:p>
        </p:txBody>
      </p:sp>
      <p:sp>
        <p:nvSpPr>
          <p:cNvPr id="16" name="Rounded Rectangle 15"/>
          <p:cNvSpPr/>
          <p:nvPr/>
        </p:nvSpPr>
        <p:spPr>
          <a:xfrm>
            <a:off x="4800600" y="1371600"/>
            <a:ext cx="12874752" cy="3429000"/>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28216"/>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27632"/>
            <a:ext cx="1198778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아이디어 개요</a:t>
            </a:r>
          </a:p>
        </p:txBody>
      </p:sp>
      <p:sp>
        <p:nvSpPr>
          <p:cNvPr id="19" name="TextBox 18"/>
          <p:cNvSpPr txBox="1"/>
          <p:nvPr/>
        </p:nvSpPr>
        <p:spPr>
          <a:xfrm>
            <a:off x="5120640" y="2048256"/>
            <a:ext cx="12234672" cy="868680"/>
          </a:xfrm>
          <a:prstGeom prst="rect">
            <a:avLst/>
          </a:prstGeom>
          <a:noFill/>
        </p:spPr>
        <p:txBody>
          <a:bodyPr wrap="square" anchor="t" lIns="0" rIns="0" tIns="0" bIns="0">
            <a:spAutoFit/>
          </a:bodyPr>
          <a:lstStyle/>
          <a:p>
            <a:pPr algn="l">
              <a:lnSpc>
                <a:spcPct val="110000"/>
              </a:lnSpc>
            </a:pPr>
            <a:r>
              <a:rPr sz="1300" b="1" i="0">
                <a:solidFill>
                  <a:srgbClr val="1F2A44"/>
                </a:solidFill>
                <a:latin typeface="Pretendard"/>
                <a:ea typeface="Pretendard"/>
                <a:cs typeface="Pretendard"/>
              </a:rPr>
              <a:t>RT 판독 워크벤치</a:t>
            </a:r>
            <a:r>
              <a:rPr sz="1300" b="0" i="0">
                <a:solidFill>
                  <a:srgbClr val="1F2A44"/>
                </a:solidFill>
                <a:latin typeface="Pretendard"/>
                <a:ea typeface="Pretendard"/>
                <a:cs typeface="Pretendard"/>
              </a:rPr>
              <a:t> — 사진을 열면 AI가 놓칠 만한 곳을 표시하고, 판독원이 결함 종류를 확정하고 클릭 두 번으로 잰 크기를 규칙 엔진이 100mm 구간 기준으로 판정하며, 소견서·PDF·기록 보관까지 한 화면에서 끝나는 </a:t>
            </a:r>
            <a:r>
              <a:rPr sz="1300" b="1" i="0">
                <a:solidFill>
                  <a:srgbClr val="1F2A44"/>
                </a:solidFill>
                <a:latin typeface="Pretendard"/>
                <a:ea typeface="Pretendard"/>
                <a:cs typeface="Pretendard"/>
              </a:rPr>
              <a:t>내 PC에서 도는 웹앱</a:t>
            </a:r>
            <a:r>
              <a:rPr sz="1300" b="0" i="0">
                <a:solidFill>
                  <a:srgbClr val="1F2A44"/>
                </a:solidFill>
                <a:latin typeface="Pretendard"/>
                <a:ea typeface="Pretendard"/>
                <a:cs typeface="Pretendard"/>
              </a:rPr>
              <a:t>(Streamlit — 브라우저로 표시, 같은 와이파이의 태블릿에서도 접속)</a:t>
            </a:r>
          </a:p>
        </p:txBody>
      </p:sp>
      <p:sp>
        <p:nvSpPr>
          <p:cNvPr id="20" name="TextBox 19"/>
          <p:cNvSpPr txBox="1"/>
          <p:nvPr/>
        </p:nvSpPr>
        <p:spPr>
          <a:xfrm>
            <a:off x="5120640" y="2907791"/>
            <a:ext cx="12234672" cy="274320"/>
          </a:xfrm>
          <a:prstGeom prst="rect">
            <a:avLst/>
          </a:prstGeom>
          <a:noFill/>
        </p:spPr>
        <p:txBody>
          <a:bodyPr wrap="square" anchor="t" lIns="0" rIns="0" tIns="0" bIns="0">
            <a:spAutoFit/>
          </a:bodyPr>
          <a:lstStyle/>
          <a:p>
            <a:pPr algn="l">
              <a:lnSpc>
                <a:spcPct val="112000"/>
              </a:lnSpc>
            </a:pPr>
            <a:r>
              <a:rPr sz="1150" b="0" i="0">
                <a:solidFill>
                  <a:srgbClr val="5B6B8C"/>
                </a:solidFill>
                <a:latin typeface="Pretendard"/>
                <a:ea typeface="Pretendard"/>
                <a:cs typeface="Pretendard"/>
              </a:rPr>
              <a:t>사용자: RT 판독원(비파괴검사 자격자) 1인 — 검사업체 판독원 또는 조선소 품질 담당 · 판정·승인은 언제나 사람이 한다</a:t>
            </a:r>
          </a:p>
        </p:txBody>
      </p:sp>
      <p:sp>
        <p:nvSpPr>
          <p:cNvPr id="21" name="Rounded Rectangle 20"/>
          <p:cNvSpPr/>
          <p:nvPr/>
        </p:nvSpPr>
        <p:spPr>
          <a:xfrm>
            <a:off x="5120640" y="3218688"/>
            <a:ext cx="2894076" cy="1399031"/>
          </a:xfrm>
          <a:prstGeom prst="roundRect">
            <a:avLst>
              <a:gd name="adj" fmla="val 6000"/>
            </a:avLst>
          </a:prstGeom>
          <a:solidFill>
            <a:srgbClr val="F2F5FA"/>
          </a:solidFill>
          <a:ln>
            <a:noFill/>
          </a:ln>
        </p:spPr>
        <p:txBody>
          <a:bodyPr rtlCol="0" anchor="ctr"/>
          <a:lstStyle/>
          <a:p/>
        </p:txBody>
      </p:sp>
      <p:sp>
        <p:nvSpPr>
          <p:cNvPr id="22" name="TextBox 21"/>
          <p:cNvSpPr txBox="1"/>
          <p:nvPr/>
        </p:nvSpPr>
        <p:spPr>
          <a:xfrm>
            <a:off x="5285231"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① 2차 눈(Second Reader)</a:t>
            </a:r>
          </a:p>
        </p:txBody>
      </p:sp>
      <p:sp>
        <p:nvSpPr>
          <p:cNvPr id="23" name="TextBox 22"/>
          <p:cNvSpPr txBox="1"/>
          <p:nvPr/>
        </p:nvSpPr>
        <p:spPr>
          <a:xfrm>
            <a:off x="5285231" y="3611880"/>
            <a:ext cx="2564892" cy="941831"/>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판독원이 먼저 보고, AI가 놓칠 만한 후보를 표시한다. 놓침을 줄이는 쪽으로 조정(오탐은 클릭 한 번으로 지우면 되지만, 놓친 결함은 배에 남는다). 후보의 결함 종류는 </a:t>
            </a:r>
            <a:r>
              <a:rPr sz="950" b="1" i="0">
                <a:solidFill>
                  <a:srgbClr val="1F2A44"/>
                </a:solidFill>
                <a:latin typeface="Pretendard"/>
                <a:ea typeface="Pretendard"/>
                <a:cs typeface="Pretendard"/>
              </a:rPr>
              <a:t>판독원이 고쳐서 확정한 뒤 채택</a:t>
            </a:r>
            <a:r>
              <a:rPr sz="950" b="0" i="0">
                <a:solidFill>
                  <a:srgbClr val="1F2A44"/>
                </a:solidFill>
                <a:latin typeface="Pretendard"/>
                <a:ea typeface="Pretendard"/>
                <a:cs typeface="Pretendard"/>
              </a:rPr>
              <a:t> — 균열 같은 허용 불가 판정은 확정된 종류에만 적용</a:t>
            </a:r>
          </a:p>
        </p:txBody>
      </p:sp>
      <p:sp>
        <p:nvSpPr>
          <p:cNvPr id="24" name="Rounded Rectangle 23"/>
          <p:cNvSpPr/>
          <p:nvPr/>
        </p:nvSpPr>
        <p:spPr>
          <a:xfrm>
            <a:off x="8234171" y="3218688"/>
            <a:ext cx="2894076" cy="1399031"/>
          </a:xfrm>
          <a:prstGeom prst="roundRect">
            <a:avLst>
              <a:gd name="adj" fmla="val 6000"/>
            </a:avLst>
          </a:prstGeom>
          <a:solidFill>
            <a:srgbClr val="F2F5FA"/>
          </a:solidFill>
          <a:ln>
            <a:noFill/>
          </a:ln>
        </p:spPr>
        <p:txBody>
          <a:bodyPr rtlCol="0" anchor="ctr"/>
          <a:lstStyle/>
          <a:p/>
        </p:txBody>
      </p:sp>
      <p:sp>
        <p:nvSpPr>
          <p:cNvPr id="25" name="TextBox 24"/>
          <p:cNvSpPr txBox="1"/>
          <p:nvPr/>
        </p:nvSpPr>
        <p:spPr>
          <a:xfrm>
            <a:off x="8398763"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② 2클릭 자 + 규칙 판정</a:t>
            </a:r>
          </a:p>
        </p:txBody>
      </p:sp>
      <p:sp>
        <p:nvSpPr>
          <p:cNvPr id="26" name="TextBox 25"/>
          <p:cNvSpPr txBox="1"/>
          <p:nvPr/>
        </p:nvSpPr>
        <p:spPr>
          <a:xfrm>
            <a:off x="8398763" y="3611880"/>
            <a:ext cx="2564892" cy="941831"/>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기준물(IQI·납마커: 화질·크기 확인용 표준 지시계) 양 끝을 두 번 클릭해 mm/픽셀을 정하고, 결함 양 끝을 두 번 클릭해 크기 확정 → 규칙 엔진이 </a:t>
            </a:r>
            <a:r>
              <a:rPr sz="950" b="1" i="0">
                <a:solidFill>
                  <a:srgbClr val="1F2A44"/>
                </a:solidFill>
                <a:latin typeface="Pretendard"/>
                <a:ea typeface="Pretendard"/>
                <a:cs typeface="Pretendard"/>
              </a:rPr>
              <a:t>단일 크기·누적 길이·기공 면적률(%)</a:t>
            </a:r>
            <a:r>
              <a:rPr sz="950" b="0" i="0">
                <a:solidFill>
                  <a:srgbClr val="1F2A44"/>
                </a:solidFill>
                <a:latin typeface="Pretendard"/>
                <a:ea typeface="Pretendard"/>
                <a:cs typeface="Pretendard"/>
              </a:rPr>
              <a:t> 3가지 방식으로 합격/불합격과 근거 조항을 제시(100mm 평가 구간·용접부 폭 입력, 기준표 판본 선택)</a:t>
            </a:r>
          </a:p>
        </p:txBody>
      </p:sp>
      <p:sp>
        <p:nvSpPr>
          <p:cNvPr id="27" name="Rounded Rectangle 26"/>
          <p:cNvSpPr/>
          <p:nvPr/>
        </p:nvSpPr>
        <p:spPr>
          <a:xfrm>
            <a:off x="11347704" y="3218688"/>
            <a:ext cx="2894076" cy="1399031"/>
          </a:xfrm>
          <a:prstGeom prst="roundRect">
            <a:avLst>
              <a:gd name="adj" fmla="val 6000"/>
            </a:avLst>
          </a:prstGeom>
          <a:solidFill>
            <a:srgbClr val="F2F5FA"/>
          </a:solidFill>
          <a:ln>
            <a:noFill/>
          </a:ln>
        </p:spPr>
        <p:txBody>
          <a:bodyPr rtlCol="0" anchor="ctr"/>
          <a:lstStyle/>
          <a:p/>
        </p:txBody>
      </p:sp>
      <p:sp>
        <p:nvSpPr>
          <p:cNvPr id="28" name="TextBox 27"/>
          <p:cNvSpPr txBox="1"/>
          <p:nvPr/>
        </p:nvSpPr>
        <p:spPr>
          <a:xfrm>
            <a:off x="11512296"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③ 소견서 초안 + 자연어 검색</a:t>
            </a:r>
          </a:p>
        </p:txBody>
      </p:sp>
      <p:sp>
        <p:nvSpPr>
          <p:cNvPr id="29" name="TextBox 28"/>
          <p:cNvSpPr txBox="1"/>
          <p:nvPr/>
        </p:nvSpPr>
        <p:spPr>
          <a:xfrm>
            <a:off x="11512296" y="3611880"/>
            <a:ext cx="2564892" cy="941831"/>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확정된 판정 결과(이미지·개인정보 제외)를 LLM이 보고서 문체로 작성 → 판독원 수정·승인 → PDF. 기록에서는 ‘3번 블록 지난달 기공 불합격’처럼 말로 검색하고 요약 — LLM이 없어도 규칙 파서·템플릿으로 동작</a:t>
            </a:r>
          </a:p>
        </p:txBody>
      </p:sp>
      <p:sp>
        <p:nvSpPr>
          <p:cNvPr id="30" name="Rounded Rectangle 29"/>
          <p:cNvSpPr/>
          <p:nvPr/>
        </p:nvSpPr>
        <p:spPr>
          <a:xfrm>
            <a:off x="14461236" y="3218688"/>
            <a:ext cx="2894076" cy="1399031"/>
          </a:xfrm>
          <a:prstGeom prst="roundRect">
            <a:avLst>
              <a:gd name="adj" fmla="val 6000"/>
            </a:avLst>
          </a:prstGeom>
          <a:solidFill>
            <a:srgbClr val="F2F5FA"/>
          </a:solidFill>
          <a:ln>
            <a:noFill/>
          </a:ln>
        </p:spPr>
        <p:txBody>
          <a:bodyPr rtlCol="0" anchor="ctr"/>
          <a:lstStyle/>
          <a:p/>
        </p:txBody>
      </p:sp>
      <p:sp>
        <p:nvSpPr>
          <p:cNvPr id="31" name="TextBox 30"/>
          <p:cNvSpPr txBox="1"/>
          <p:nvPr/>
        </p:nvSpPr>
        <p:spPr>
          <a:xfrm>
            <a:off x="14625828"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④ 검색 기록 + 데이터 축적</a:t>
            </a:r>
          </a:p>
        </p:txBody>
      </p:sp>
      <p:sp>
        <p:nvSpPr>
          <p:cNvPr id="32" name="TextBox 31"/>
          <p:cNvSpPr txBox="1"/>
          <p:nvPr/>
        </p:nvSpPr>
        <p:spPr>
          <a:xfrm>
            <a:off x="14625828" y="3611880"/>
            <a:ext cx="2564892" cy="941831"/>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승인 기록 DB·조건 검색·CSV. 채택하거나 직접 추가한 결함 박스는 학습용 라벨로 내보내고, 기각은 오탐 신호로 집계만 — 재학습은 별도 프로젝트, 데이터는 반출 없이 조직 소유</a:t>
            </a:r>
          </a:p>
        </p:txBody>
      </p:sp>
      <p:sp>
        <p:nvSpPr>
          <p:cNvPr id="33" name="Rounded Rectangle 32"/>
          <p:cNvSpPr/>
          <p:nvPr/>
        </p:nvSpPr>
        <p:spPr>
          <a:xfrm>
            <a:off x="4800600" y="5074920"/>
            <a:ext cx="7452360" cy="4178807"/>
          </a:xfrm>
          <a:prstGeom prst="roundRect">
            <a:avLst>
              <a:gd name="adj" fmla="val 3500"/>
            </a:avLst>
          </a:prstGeom>
          <a:solidFill>
            <a:srgbClr val="FFFFFF"/>
          </a:solidFill>
          <a:ln w="9525">
            <a:solidFill>
              <a:srgbClr val="D9E0EC"/>
            </a:solidFill>
          </a:ln>
        </p:spPr>
        <p:txBody>
          <a:bodyPr rtlCol="0" anchor="ctr"/>
          <a:lstStyle/>
          <a:p/>
        </p:txBody>
      </p:sp>
      <p:sp>
        <p:nvSpPr>
          <p:cNvPr id="34" name="Oval 33"/>
          <p:cNvSpPr/>
          <p:nvPr/>
        </p:nvSpPr>
        <p:spPr>
          <a:xfrm>
            <a:off x="5120640" y="5431536"/>
            <a:ext cx="146304" cy="146304"/>
          </a:xfrm>
          <a:prstGeom prst="ellipse">
            <a:avLst/>
          </a:prstGeom>
          <a:solidFill>
            <a:srgbClr val="4FD0F5"/>
          </a:solidFill>
          <a:ln>
            <a:noFill/>
          </a:ln>
        </p:spPr>
        <p:txBody>
          <a:bodyPr rtlCol="0" anchor="ctr"/>
          <a:lstStyle/>
          <a:p>
            <a:pPr algn="ctr"/>
          </a:p>
        </p:txBody>
      </p:sp>
      <p:sp>
        <p:nvSpPr>
          <p:cNvPr id="35" name="TextBox 34"/>
          <p:cNvSpPr txBox="1"/>
          <p:nvPr/>
        </p:nvSpPr>
        <p:spPr>
          <a:xfrm>
            <a:off x="5367527" y="5330952"/>
            <a:ext cx="656539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적용 AI 기술</a:t>
            </a:r>
          </a:p>
        </p:txBody>
      </p:sp>
      <p:sp>
        <p:nvSpPr>
          <p:cNvPr id="36" name="Rounded Rectangle 35"/>
          <p:cNvSpPr/>
          <p:nvPr/>
        </p:nvSpPr>
        <p:spPr>
          <a:xfrm>
            <a:off x="5120640" y="5824728"/>
            <a:ext cx="3305556" cy="1444752"/>
          </a:xfrm>
          <a:prstGeom prst="roundRect">
            <a:avLst>
              <a:gd name="adj" fmla="val 6000"/>
            </a:avLst>
          </a:prstGeom>
          <a:solidFill>
            <a:srgbClr val="F2F5FA"/>
          </a:solidFill>
          <a:ln>
            <a:noFill/>
          </a:ln>
        </p:spPr>
        <p:txBody>
          <a:bodyPr rtlCol="0" anchor="ctr"/>
          <a:lstStyle/>
          <a:p/>
        </p:txBody>
      </p:sp>
      <p:sp>
        <p:nvSpPr>
          <p:cNvPr id="37" name="TextBox 36"/>
          <p:cNvSpPr txBox="1"/>
          <p:nvPr/>
        </p:nvSpPr>
        <p:spPr>
          <a:xfrm>
            <a:off x="5276088" y="5925312"/>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결함 후보 탐지</a:t>
            </a:r>
          </a:p>
        </p:txBody>
      </p:sp>
      <p:sp>
        <p:nvSpPr>
          <p:cNvPr id="38" name="TextBox 37"/>
          <p:cNvSpPr txBox="1"/>
          <p:nvPr/>
        </p:nvSpPr>
        <p:spPr>
          <a:xfrm>
            <a:off x="5276088" y="6208776"/>
            <a:ext cx="2994660" cy="987552"/>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Ultralytics YOLO(</a:t>
            </a:r>
            <a:r>
              <a:rPr sz="950" b="1" i="0">
                <a:solidFill>
                  <a:srgbClr val="1F2A44"/>
                </a:solidFill>
                <a:latin typeface="Pretendard"/>
                <a:ea typeface="Pretendard"/>
                <a:cs typeface="Pretendard"/>
              </a:rPr>
              <a:t>YOLO26s</a:t>
            </a:r>
            <a:r>
              <a:rPr sz="950" b="0" i="0">
                <a:solidFill>
                  <a:srgbClr val="1F2A44"/>
                </a:solidFill>
                <a:latin typeface="Pretendard"/>
                <a:ea typeface="Pretendard"/>
                <a:cs typeface="Pretendard"/>
              </a:rPr>
              <a:t> 권장, 2026.01 공개[1]; YOLOv8/11 가중치도 같은 방식) + CLAHE(대비 향상)로 AI Hub·RIAWELC 학습 예정. </a:t>
            </a:r>
            <a:r>
              <a:rPr sz="950" b="1" i="0">
                <a:solidFill>
                  <a:srgbClr val="1F2A44"/>
                </a:solidFill>
                <a:latin typeface="Pretendard"/>
                <a:ea typeface="Pretendard"/>
                <a:cs typeface="Pretendard"/>
              </a:rPr>
              <a:t>지금 프로토타입은 학습 모델이 아닌 OpenCV 규칙 기반 폴백 탐지기</a:t>
            </a:r>
            <a:r>
              <a:rPr sz="950" b="0" i="0">
                <a:solidFill>
                  <a:srgbClr val="1F2A44"/>
                </a:solidFill>
                <a:latin typeface="Pretendard"/>
                <a:ea typeface="Pretendard"/>
                <a:cs typeface="Pretendard"/>
              </a:rPr>
              <a:t>: 합성 필름 결함 14개 중 14개 검출, 장당 오탐 3.8건(임계 0.5). 가중치 파일을 두면 자동 전환. AGPL-3.0(사내 배포 시 Enterprise 라이선스)</a:t>
            </a:r>
          </a:p>
        </p:txBody>
      </p:sp>
      <p:sp>
        <p:nvSpPr>
          <p:cNvPr id="39" name="Rounded Rectangle 38"/>
          <p:cNvSpPr/>
          <p:nvPr/>
        </p:nvSpPr>
        <p:spPr>
          <a:xfrm>
            <a:off x="8627364" y="5824728"/>
            <a:ext cx="3305556" cy="1444752"/>
          </a:xfrm>
          <a:prstGeom prst="roundRect">
            <a:avLst>
              <a:gd name="adj" fmla="val 6000"/>
            </a:avLst>
          </a:prstGeom>
          <a:solidFill>
            <a:srgbClr val="F2F5FA"/>
          </a:solidFill>
          <a:ln>
            <a:noFill/>
          </a:ln>
        </p:spPr>
        <p:txBody>
          <a:bodyPr rtlCol="0" anchor="ctr"/>
          <a:lstStyle/>
          <a:p/>
        </p:txBody>
      </p:sp>
      <p:sp>
        <p:nvSpPr>
          <p:cNvPr id="40" name="TextBox 39"/>
          <p:cNvSpPr txBox="1"/>
          <p:nvPr/>
        </p:nvSpPr>
        <p:spPr>
          <a:xfrm>
            <a:off x="8782812" y="5925312"/>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소견서·검색 LLM(로컬 우선)</a:t>
            </a:r>
          </a:p>
        </p:txBody>
      </p:sp>
      <p:sp>
        <p:nvSpPr>
          <p:cNvPr id="41" name="TextBox 40"/>
          <p:cNvSpPr txBox="1"/>
          <p:nvPr/>
        </p:nvSpPr>
        <p:spPr>
          <a:xfrm>
            <a:off x="8782812" y="6208776"/>
            <a:ext cx="2994660" cy="987552"/>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기본은 </a:t>
            </a:r>
            <a:r>
              <a:rPr sz="950" b="1" i="0">
                <a:solidFill>
                  <a:srgbClr val="1F2A44"/>
                </a:solidFill>
                <a:latin typeface="Pretendard"/>
                <a:ea typeface="Pretendard"/>
                <a:cs typeface="Pretendard"/>
              </a:rPr>
              <a:t>사내 PC의 로컬 LLM</a:t>
            </a:r>
            <a:r>
              <a:rPr sz="950" b="0" i="0">
                <a:solidFill>
                  <a:srgbClr val="1F2A44"/>
                </a:solidFill>
                <a:latin typeface="Pretendard"/>
                <a:ea typeface="Pretendard"/>
                <a:cs typeface="Pretendard"/>
              </a:rPr>
              <a:t>(Ollama·vLLM — EXAONE 3.5 기본값·4.x, HyperCLOVA X SEED 등 한국어 모델[4][5]) 또는 오프라인 템플릿. 클라우드(Claude Sonnet 5 → Gemini; 코드 기본값 gemini-2.0-flash는 본선 전 교체)는 </a:t>
            </a:r>
            <a:r>
              <a:rPr sz="950" b="1" i="0">
                <a:solidFill>
                  <a:srgbClr val="1F2A44"/>
                </a:solidFill>
                <a:latin typeface="Pretendard"/>
                <a:ea typeface="Pretendard"/>
                <a:cs typeface="Pretendard"/>
              </a:rPr>
              <a:t>명시 허용 시에만</a:t>
            </a:r>
            <a:r>
              <a:rPr sz="950" b="0" i="0">
                <a:solidFill>
                  <a:srgbClr val="1F2A44"/>
                </a:solidFill>
                <a:latin typeface="Pretendard"/>
                <a:ea typeface="Pretendard"/>
                <a:cs typeface="Pretendard"/>
              </a:rPr>
              <a:t>. 이미지·실명·파일 경로는 어떤 경우에도 보내지 않는다(전송 내용 미리보기 제공)</a:t>
            </a:r>
          </a:p>
        </p:txBody>
      </p:sp>
      <p:sp>
        <p:nvSpPr>
          <p:cNvPr id="42" name="Rounded Rectangle 41"/>
          <p:cNvSpPr/>
          <p:nvPr/>
        </p:nvSpPr>
        <p:spPr>
          <a:xfrm>
            <a:off x="5120640" y="7415783"/>
            <a:ext cx="3305556" cy="1133856"/>
          </a:xfrm>
          <a:prstGeom prst="roundRect">
            <a:avLst>
              <a:gd name="adj" fmla="val 6000"/>
            </a:avLst>
          </a:prstGeom>
          <a:solidFill>
            <a:srgbClr val="F2F5FA"/>
          </a:solidFill>
          <a:ln>
            <a:noFill/>
          </a:ln>
        </p:spPr>
        <p:txBody>
          <a:bodyPr rtlCol="0" anchor="ctr"/>
          <a:lstStyle/>
          <a:p/>
        </p:txBody>
      </p:sp>
      <p:sp>
        <p:nvSpPr>
          <p:cNvPr id="43" name="TextBox 42"/>
          <p:cNvSpPr txBox="1"/>
          <p:nvPr/>
        </p:nvSpPr>
        <p:spPr>
          <a:xfrm>
            <a:off x="5276088" y="7516367"/>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합부 판정(일부러 AI 미사용)</a:t>
            </a:r>
          </a:p>
        </p:txBody>
      </p:sp>
      <p:sp>
        <p:nvSpPr>
          <p:cNvPr id="44" name="TextBox 43"/>
          <p:cNvSpPr txBox="1"/>
          <p:nvPr/>
        </p:nvSpPr>
        <p:spPr>
          <a:xfrm>
            <a:off x="5276088" y="7799831"/>
            <a:ext cx="2994660" cy="676656"/>
          </a:xfrm>
          <a:prstGeom prst="rect">
            <a:avLst/>
          </a:prstGeom>
          <a:noFill/>
        </p:spPr>
        <p:txBody>
          <a:bodyPr wrap="square" anchor="t" lIns="0" rIns="0" tIns="0" bIns="0">
            <a:spAutoFit/>
          </a:bodyPr>
          <a:lstStyle/>
          <a:p>
            <a:pPr algn="l">
              <a:lnSpc>
                <a:spcPct val="108000"/>
              </a:lnSpc>
            </a:pPr>
            <a:r>
              <a:rPr sz="950" b="0" i="0">
                <a:solidFill>
                  <a:srgbClr val="1F2A44"/>
                </a:solidFill>
                <a:latin typeface="Pretendard"/>
                <a:ea typeface="Pretendard"/>
                <a:cs typeface="Pretendard"/>
              </a:rPr>
              <a:t>규칙 엔진 — ISO 10675-1·5817 구조(품질등급 B·C·D ↔ 허용 레벨 1·2·3, 100mm 평가 길이, 기공 면적률)를 본뜬 기준표 JSON 2종(2021/2023판·2016/2014판 구조, 데모 수치)을 화면에서 선택. 실제 수치는 선급 지침·멘토링으로 확정 후 JSON만 교체</a:t>
            </a:r>
          </a:p>
        </p:txBody>
      </p:sp>
      <p:sp>
        <p:nvSpPr>
          <p:cNvPr id="45" name="Rounded Rectangle 44"/>
          <p:cNvSpPr/>
          <p:nvPr/>
        </p:nvSpPr>
        <p:spPr>
          <a:xfrm>
            <a:off x="8627364" y="7415783"/>
            <a:ext cx="3305556" cy="1133856"/>
          </a:xfrm>
          <a:prstGeom prst="roundRect">
            <a:avLst>
              <a:gd name="adj" fmla="val 6000"/>
            </a:avLst>
          </a:prstGeom>
          <a:solidFill>
            <a:srgbClr val="F2F5FA"/>
          </a:solidFill>
          <a:ln>
            <a:noFill/>
          </a:ln>
        </p:spPr>
        <p:txBody>
          <a:bodyPr rtlCol="0" anchor="ctr"/>
          <a:lstStyle/>
          <a:p/>
        </p:txBody>
      </p:sp>
      <p:sp>
        <p:nvSpPr>
          <p:cNvPr id="46" name="TextBox 45"/>
          <p:cNvSpPr txBox="1"/>
          <p:nvPr/>
        </p:nvSpPr>
        <p:spPr>
          <a:xfrm>
            <a:off x="8782812" y="7516367"/>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개발 도구</a:t>
            </a:r>
          </a:p>
        </p:txBody>
      </p:sp>
      <p:sp>
        <p:nvSpPr>
          <p:cNvPr id="47" name="TextBox 46"/>
          <p:cNvSpPr txBox="1"/>
          <p:nvPr/>
        </p:nvSpPr>
        <p:spPr>
          <a:xfrm>
            <a:off x="8782812" y="7799831"/>
            <a:ext cx="2994660" cy="676656"/>
          </a:xfrm>
          <a:prstGeom prst="rect">
            <a:avLst/>
          </a:prstGeom>
          <a:noFill/>
        </p:spPr>
        <p:txBody>
          <a:bodyPr wrap="square" anchor="t" lIns="0" rIns="0" tIns="0" bIns="0">
            <a:spAutoFit/>
          </a:bodyPr>
          <a:lstStyle/>
          <a:p>
            <a:pPr algn="l">
              <a:lnSpc>
                <a:spcPct val="108000"/>
              </a:lnSpc>
            </a:pPr>
            <a:r>
              <a:rPr sz="950" b="1" i="0">
                <a:solidFill>
                  <a:srgbClr val="1F2A44"/>
                </a:solidFill>
                <a:latin typeface="Pretendard"/>
                <a:ea typeface="Pretendard"/>
                <a:cs typeface="Pretendard"/>
              </a:rPr>
              <a:t>Claude Code</a:t>
            </a:r>
            <a:r>
              <a:rPr sz="950" b="0" i="0">
                <a:solidFill>
                  <a:srgbClr val="1F2A44"/>
                </a:solidFill>
                <a:latin typeface="Pretendard"/>
                <a:ea typeface="Pretendard"/>
                <a:cs typeface="Pretendard"/>
              </a:rPr>
              <a:t>로 설계·구현·적대적 코드 리뷰(자동 테스트 235건). 본선에서는 해커톤 지원 항목인 Claude Max 플랜(공고 기준)으로 고도화</a:t>
            </a:r>
          </a:p>
        </p:txBody>
      </p:sp>
      <p:sp>
        <p:nvSpPr>
          <p:cNvPr id="48" name="Rounded Rectangle 47"/>
          <p:cNvSpPr/>
          <p:nvPr/>
        </p:nvSpPr>
        <p:spPr>
          <a:xfrm>
            <a:off x="5120640" y="8695944"/>
            <a:ext cx="6812280" cy="512064"/>
          </a:xfrm>
          <a:prstGeom prst="roundRect">
            <a:avLst>
              <a:gd name="adj" fmla="val 6000"/>
            </a:avLst>
          </a:prstGeom>
          <a:solidFill>
            <a:srgbClr val="F2F5FA"/>
          </a:solidFill>
          <a:ln>
            <a:noFill/>
          </a:ln>
        </p:spPr>
        <p:txBody>
          <a:bodyPr rtlCol="0" anchor="ctr"/>
          <a:lstStyle/>
          <a:p/>
        </p:txBody>
      </p:sp>
      <p:sp>
        <p:nvSpPr>
          <p:cNvPr id="49" name="TextBox 48"/>
          <p:cNvSpPr txBox="1"/>
          <p:nvPr/>
        </p:nvSpPr>
        <p:spPr>
          <a:xfrm>
            <a:off x="5276088" y="8787384"/>
            <a:ext cx="6501384" cy="374904"/>
          </a:xfrm>
          <a:prstGeom prst="rect">
            <a:avLst/>
          </a:prstGeom>
          <a:noFill/>
        </p:spPr>
        <p:txBody>
          <a:bodyPr wrap="square" anchor="ctr" lIns="0" rIns="0" tIns="0" bIns="0">
            <a:spAutoFit/>
          </a:bodyPr>
          <a:lstStyle/>
          <a:p>
            <a:pPr algn="l">
              <a:lnSpc>
                <a:spcPct val="112000"/>
              </a:lnSpc>
            </a:pPr>
            <a:r>
              <a:rPr sz="1000" b="1" i="0">
                <a:solidFill>
                  <a:srgbClr val="1F2A44"/>
                </a:solidFill>
                <a:latin typeface="Pretendard"/>
                <a:ea typeface="Pretendard"/>
                <a:cs typeface="Pretendard"/>
              </a:rPr>
              <a:t>기술 스택</a:t>
            </a:r>
            <a:r>
              <a:rPr sz="1000" b="0" i="0">
                <a:solidFill>
                  <a:srgbClr val="1F2A44"/>
                </a:solidFill>
                <a:latin typeface="Pretendard"/>
                <a:ea typeface="Pretendard"/>
                <a:cs typeface="Pretendard"/>
              </a:rPr>
              <a:t>  Python 3.11 · Streamlit 1.63[2] · OpenCV · SQLite · reportlab(PDF) · 합성 필름 생성기 · Docker · 더블클릭 실행</a:t>
            </a:r>
          </a:p>
        </p:txBody>
      </p:sp>
      <p:sp>
        <p:nvSpPr>
          <p:cNvPr id="50" name="Rounded Rectangle 49"/>
          <p:cNvSpPr/>
          <p:nvPr/>
        </p:nvSpPr>
        <p:spPr>
          <a:xfrm>
            <a:off x="12527280" y="5074920"/>
            <a:ext cx="5148071" cy="4178807"/>
          </a:xfrm>
          <a:prstGeom prst="roundRect">
            <a:avLst>
              <a:gd name="adj" fmla="val 3500"/>
            </a:avLst>
          </a:prstGeom>
          <a:solidFill>
            <a:srgbClr val="FFFFFF"/>
          </a:solidFill>
          <a:ln w="9525">
            <a:solidFill>
              <a:srgbClr val="D9E0EC"/>
            </a:solidFill>
          </a:ln>
        </p:spPr>
        <p:txBody>
          <a:bodyPr rtlCol="0" anchor="ctr"/>
          <a:lstStyle/>
          <a:p/>
        </p:txBody>
      </p:sp>
      <p:sp>
        <p:nvSpPr>
          <p:cNvPr id="51" name="Oval 50"/>
          <p:cNvSpPr/>
          <p:nvPr/>
        </p:nvSpPr>
        <p:spPr>
          <a:xfrm>
            <a:off x="12847320" y="5431536"/>
            <a:ext cx="146304" cy="146304"/>
          </a:xfrm>
          <a:prstGeom prst="ellipse">
            <a:avLst/>
          </a:prstGeom>
          <a:solidFill>
            <a:srgbClr val="4FD0F5"/>
          </a:solidFill>
          <a:ln>
            <a:noFill/>
          </a:ln>
        </p:spPr>
        <p:txBody>
          <a:bodyPr rtlCol="0" anchor="ctr"/>
          <a:lstStyle/>
          <a:p>
            <a:pPr algn="ctr"/>
          </a:p>
        </p:txBody>
      </p:sp>
      <p:sp>
        <p:nvSpPr>
          <p:cNvPr id="52" name="TextBox 51"/>
          <p:cNvSpPr txBox="1"/>
          <p:nvPr/>
        </p:nvSpPr>
        <p:spPr>
          <a:xfrm>
            <a:off x="13094208" y="5330952"/>
            <a:ext cx="426110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차별점</a:t>
            </a:r>
          </a:p>
        </p:txBody>
      </p:sp>
      <p:sp>
        <p:nvSpPr>
          <p:cNvPr id="53" name="TextBox 52"/>
          <p:cNvSpPr txBox="1"/>
          <p:nvPr/>
        </p:nvSpPr>
        <p:spPr>
          <a:xfrm>
            <a:off x="12847320" y="5824728"/>
            <a:ext cx="4507991" cy="3264407"/>
          </a:xfrm>
          <a:prstGeom prst="rect">
            <a:avLst/>
          </a:prstGeom>
          <a:noFill/>
        </p:spPr>
        <p:txBody>
          <a:bodyPr wrap="square" anchor="t" lIns="0" rIns="0" tIns="0" bIns="0">
            <a:spAutoFit/>
          </a:bodyPr>
          <a:lstStyle/>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결함 찾기(탐지) 하나만으로는 새롭지 않다</a:t>
            </a:r>
            <a:r>
              <a:rPr sz="1050" b="0" i="0">
                <a:solidFill>
                  <a:srgbClr val="1F2A44"/>
                </a:solidFill>
                <a:latin typeface="Pretendard"/>
                <a:ea typeface="Pretendard"/>
                <a:cs typeface="Pretendard"/>
              </a:rPr>
              <a:t> — D-Vision(자사 적용), 코드비전 RT AI 판독 플랫폼(2024.10 전시)[6], Trueflaw FlawML(핀란드; Meyer Turku 조선소·DEKRA와 협업 2022)[7], DNV×GSI 공동개발(2019)[8] 등 → 새로움은 판독원의 하루 전체(2차 눈+판정+소견서+기록)를 </a:t>
            </a:r>
            <a:r>
              <a:rPr sz="1050" b="1" i="0">
                <a:solidFill>
                  <a:srgbClr val="1F2A44"/>
                </a:solidFill>
                <a:latin typeface="Pretendard"/>
                <a:ea typeface="Pretendard"/>
                <a:cs typeface="Pretendard"/>
              </a:rPr>
              <a:t>하나로 잇는 통합</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한화오션 디지털 RT(2020~2021)와의 관계</a:t>
            </a:r>
            <a:r>
              <a:rPr sz="1050" b="0" i="0">
                <a:solidFill>
                  <a:srgbClr val="1F2A44"/>
                </a:solidFill>
                <a:latin typeface="Pretendard"/>
                <a:ea typeface="Pretendard"/>
                <a:cs typeface="Pretendard"/>
              </a:rPr>
              <a:t>: 그쪽은 촬영 장비와 선급 승인 체계의 디지털화. 본 안은 그 다음 단계(판독·판정·문서·이력)이고 </a:t>
            </a:r>
            <a:r>
              <a:rPr sz="1050" b="1" i="0">
                <a:solidFill>
                  <a:srgbClr val="1F2A44"/>
                </a:solidFill>
                <a:latin typeface="Pretendard"/>
                <a:ea typeface="Pretendard"/>
                <a:cs typeface="Pretendard"/>
              </a:rPr>
              <a:t>필름 스캔과 디지털 사진 모두 입력</a:t>
            </a:r>
            <a:r>
              <a:rPr sz="1050" b="0" i="0">
                <a:solidFill>
                  <a:srgbClr val="1F2A44"/>
                </a:solidFill>
                <a:latin typeface="Pretendard"/>
                <a:ea typeface="Pretendard"/>
                <a:cs typeface="Pretendard"/>
              </a:rPr>
              <a:t> — 대체가 아닌 보완</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AI는 판정하지 않는다</a:t>
            </a:r>
            <a:r>
              <a:rPr sz="1050" b="0" i="0">
                <a:solidFill>
                  <a:srgbClr val="1F2A44"/>
                </a:solidFill>
                <a:latin typeface="Pretendard"/>
                <a:ea typeface="Pretendard"/>
                <a:cs typeface="Pretendard"/>
              </a:rPr>
              <a:t> — DNV도 2019년 ‘AI는 검출, 사람은 최종 승인’으로 역할을 나눴고[8], AI 판독을 선급이 규칙으로 승인한 공개 사례는 2026.09 기준 확인되지 않는다. 본 안은 판정을 규칙 엔진(조항 번호 자동 기재)에, 글쓰기·검색을 LLM에 맡긴다 → </a:t>
            </a:r>
            <a:r>
              <a:rPr sz="1050" b="1" i="0">
                <a:solidFill>
                  <a:srgbClr val="1F2A44"/>
                </a:solidFill>
                <a:latin typeface="Pretendard"/>
                <a:ea typeface="Pretendard"/>
                <a:cs typeface="Pretendard"/>
              </a:rPr>
              <a:t>선급 승인이 필요 없는 영역에서 바로 도입 가능</a:t>
            </a:r>
          </a:p>
          <a:p>
            <a:pPr marL="153352" indent="-153352">
              <a:lnSpc>
                <a:spcPct val="114000"/>
              </a:lnSpc>
              <a:spcAft>
                <a:spcPts val="400"/>
              </a:spcAft>
              <a:buClr>
                <a:srgbClr val="4FD0F5"/>
              </a:buClr>
              <a:buFont typeface="Arial"/>
              <a:buChar char="•"/>
            </a:pPr>
            <a:r>
              <a:rPr sz="1050" b="0" i="0">
                <a:solidFill>
                  <a:srgbClr val="1F2A44"/>
                </a:solidFill>
                <a:latin typeface="Pretendard"/>
                <a:ea typeface="Pretendard"/>
                <a:cs typeface="Pretendard"/>
              </a:rPr>
              <a:t>픽셀→mm 환산은 </a:t>
            </a:r>
            <a:r>
              <a:rPr sz="1050" b="1" i="0">
                <a:solidFill>
                  <a:srgbClr val="1F2A44"/>
                </a:solidFill>
                <a:latin typeface="Pretendard"/>
                <a:ea typeface="Pretendard"/>
                <a:cs typeface="Pretendard"/>
              </a:rPr>
              <a:t>판독원의 클릭 두 번</a:t>
            </a:r>
            <a:r>
              <a:rPr sz="1050" b="0" i="0">
                <a:solidFill>
                  <a:srgbClr val="1F2A44"/>
                </a:solidFill>
                <a:latin typeface="Pretendard"/>
                <a:ea typeface="Pretendard"/>
                <a:cs typeface="Pretendard"/>
              </a:rPr>
              <a:t>으로 확정 — AI가 추정하지 않는다</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보안 기본값이 로컬</a:t>
            </a:r>
            <a:r>
              <a:rPr sz="1050" b="0" i="0">
                <a:solidFill>
                  <a:srgbClr val="1F2A44"/>
                </a:solidFill>
                <a:latin typeface="Pretendard"/>
                <a:ea typeface="Pretendard"/>
                <a:cs typeface="Pretendard"/>
              </a:rPr>
              <a:t> — 조선·방산 현장의 반출 금지를 전제로 로컬 LLM/템플릿이 기본, 클라우드는 옵트인. 국산 모델: EXAONE 4.5(2026.04, 상용은 별도 계약)[4], HyperCLOVA X SEED Think 32B(2025.12, 조건부 상용 허용)[5]</a:t>
            </a:r>
          </a:p>
        </p:txBody>
      </p:sp>
      <p:sp>
        <p:nvSpPr>
          <p:cNvPr id="54" name="TextBox 53"/>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참고  [1] Ultralytics 8.4.0 릴리스·PyPI(2026.01.14, AGPL-3.0)  ·  [2] Streamlit 1.63.0 PyPI(2026.09.01)  ·  [3] Anthropic 모델 문서 · Ollama/vLLM API 문서  ·  [4] LG AI연구원 EXAONE 4.5 README(2026.04.09)  ·  [5] NAVER HyperCLOVA X SEED Think 보도자료(2025.12.26)†  ·  [6] 헬로티 2024.10†  ·  [7] Trueflaw LinkedIn 2022.02 · Pexraytech 협업 2024.12†  ·  [8] DNV GL×GSI 보도자료(2019.12)†  ·  탐지 수치는 합성 필름 자체 측정  ·  † 검색 요약 기준</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11126"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03</a:t>
            </a:r>
            <a:endParaRPr lang="en-US" sz="4950" dirty="0"/>
          </a:p>
        </p:txBody>
      </p:sp>
      <p:sp>
        <p:nvSpPr>
          <p:cNvPr id="4" name="Shape 2"/>
          <p:cNvSpPr/>
          <p:nvPr/>
        </p:nvSpPr>
        <p:spPr>
          <a:xfrm>
            <a:off x="1635026"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55629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구현 계획</a:t>
            </a:r>
            <a:endParaRPr lang="en-US" sz="3450" dirty="0"/>
          </a:p>
        </p:txBody>
      </p:sp>
      <p:sp>
        <p:nvSpPr>
          <p:cNvPr id="6" name="Shape 4"/>
          <p:cNvSpPr/>
          <p:nvPr/>
        </p:nvSpPr>
        <p:spPr>
          <a:xfrm>
            <a:off x="571500" y="23867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65345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주요 기능(MVP)</a:t>
            </a:r>
            <a:endParaRPr lang="en-US" sz="2025" dirty="0"/>
          </a:p>
        </p:txBody>
      </p:sp>
      <p:sp>
        <p:nvSpPr>
          <p:cNvPr id="8" name="Text 6"/>
          <p:cNvSpPr/>
          <p:nvPr/>
        </p:nvSpPr>
        <p:spPr>
          <a:xfrm>
            <a:off x="571500" y="3024932"/>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본선까지 반드시 동작하도록 구현할 핵심 기능 중심으로 기재</a:t>
            </a:r>
            <a:endParaRPr lang="en-US" sz="1800" dirty="0"/>
          </a:p>
        </p:txBody>
      </p:sp>
      <p:sp>
        <p:nvSpPr>
          <p:cNvPr id="9" name="Text 7"/>
          <p:cNvSpPr/>
          <p:nvPr/>
        </p:nvSpPr>
        <p:spPr>
          <a:xfrm>
            <a:off x="571500" y="392028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개발 범위</a:t>
            </a:r>
            <a:endParaRPr lang="en-US" sz="2025" dirty="0"/>
          </a:p>
        </p:txBody>
      </p:sp>
      <p:sp>
        <p:nvSpPr>
          <p:cNvPr id="10" name="Text 8"/>
          <p:cNvSpPr/>
          <p:nvPr/>
        </p:nvSpPr>
        <p:spPr>
          <a:xfrm>
            <a:off x="571500" y="4291757"/>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본선까지 구현할 범위와 제외할 범위를 구분하여 기재</a:t>
            </a:r>
            <a:endParaRPr lang="en-US" sz="1800" dirty="0"/>
          </a:p>
        </p:txBody>
      </p:sp>
      <p:sp>
        <p:nvSpPr>
          <p:cNvPr id="11" name="Text 9"/>
          <p:cNvSpPr/>
          <p:nvPr/>
        </p:nvSpPr>
        <p:spPr>
          <a:xfrm>
            <a:off x="571500" y="51871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팀원별 역할 분담</a:t>
            </a:r>
            <a:endParaRPr lang="en-US" sz="2025" dirty="0"/>
          </a:p>
        </p:txBody>
      </p:sp>
      <p:sp>
        <p:nvSpPr>
          <p:cNvPr id="12" name="Text 10"/>
          <p:cNvSpPr/>
          <p:nvPr/>
        </p:nvSpPr>
        <p:spPr>
          <a:xfrm>
            <a:off x="571500" y="5558582"/>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기획 / 개발 / 데이터 / 디자인 등 담당 영역과 보유 기술 스택</a:t>
            </a:r>
            <a:endParaRPr lang="en-US" sz="1800" dirty="0"/>
          </a:p>
        </p:txBody>
      </p:sp>
      <p:sp>
        <p:nvSpPr>
          <p:cNvPr id="13" name="Text 11"/>
          <p:cNvSpPr/>
          <p:nvPr/>
        </p:nvSpPr>
        <p:spPr>
          <a:xfrm>
            <a:off x="571500" y="645393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시연 시나리오</a:t>
            </a:r>
            <a:endParaRPr lang="en-US" sz="2025" dirty="0"/>
          </a:p>
        </p:txBody>
      </p:sp>
      <p:sp>
        <p:nvSpPr>
          <p:cNvPr id="14" name="Text 12"/>
          <p:cNvSpPr/>
          <p:nvPr/>
        </p:nvSpPr>
        <p:spPr>
          <a:xfrm>
            <a:off x="571500" y="6825407"/>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 발표에서 실제로 시연할 동작 흐름</a:t>
            </a:r>
            <a:endParaRPr lang="en-US" sz="1800" dirty="0"/>
          </a:p>
        </p:txBody>
      </p:sp>
      <p:sp>
        <p:nvSpPr>
          <p:cNvPr id="15" name="Shape 13"/>
          <p:cNvSpPr/>
          <p:nvPr/>
        </p:nvSpPr>
        <p:spPr>
          <a:xfrm>
            <a:off x="4800600" y="1057275"/>
            <a:ext cx="12877800" cy="19050"/>
          </a:xfrm>
          <a:prstGeom prst="rect">
            <a:avLst/>
          </a:prstGeom>
          <a:solidFill>
            <a:srgbClr val="0B2A6B"/>
          </a:solidFill>
          <a:ln/>
        </p:spPr>
        <p:txBody>
          <a:bodyPr/>
          <a:lstStyle/>
          <a:p>
            <a:endParaRPr lang="ko-KR" altLang="en-US"/>
          </a:p>
        </p:txBody>
      </p:sp>
      <p:sp>
        <p:nvSpPr>
          <p:cNvPr id="16" name="Text 14"/>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7" name="Text 15"/>
          <p:cNvSpPr/>
          <p:nvPr/>
        </p:nvSpPr>
        <p:spPr>
          <a:xfrm>
            <a:off x="15119449" y="571500"/>
            <a:ext cx="2814846"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04</a:t>
            </a:r>
            <a:endParaRPr lang="en-US" sz="1950" dirty="0"/>
          </a:p>
        </p:txBody>
      </p:sp>
      <p:sp>
        <p:nvSpPr>
          <p:cNvPr id="18" name="Rounded Rectangle 17"/>
          <p:cNvSpPr/>
          <p:nvPr/>
        </p:nvSpPr>
        <p:spPr>
          <a:xfrm>
            <a:off x="4800600" y="1371600"/>
            <a:ext cx="7818120" cy="2971800"/>
          </a:xfrm>
          <a:prstGeom prst="roundRect">
            <a:avLst>
              <a:gd name="adj" fmla="val 3500"/>
            </a:avLst>
          </a:prstGeom>
          <a:solidFill>
            <a:srgbClr val="FFFFFF"/>
          </a:solidFill>
          <a:ln w="9525">
            <a:solidFill>
              <a:srgbClr val="D9E0EC"/>
            </a:solidFill>
          </a:ln>
        </p:spPr>
        <p:txBody>
          <a:bodyPr rtlCol="0" anchor="ctr"/>
          <a:lstStyle/>
          <a:p/>
        </p:txBody>
      </p:sp>
      <p:sp>
        <p:nvSpPr>
          <p:cNvPr id="19" name="Oval 18"/>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20" name="TextBox 19"/>
          <p:cNvSpPr txBox="1"/>
          <p:nvPr/>
        </p:nvSpPr>
        <p:spPr>
          <a:xfrm>
            <a:off x="5367527" y="1645920"/>
            <a:ext cx="693115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주요 기능(MVP)</a:t>
            </a:r>
          </a:p>
        </p:txBody>
      </p:sp>
      <p:sp>
        <p:nvSpPr>
          <p:cNvPr id="21" name="Rounded Rectangle 20"/>
          <p:cNvSpPr/>
          <p:nvPr/>
        </p:nvSpPr>
        <p:spPr>
          <a:xfrm>
            <a:off x="5120640" y="2148840"/>
            <a:ext cx="3451860" cy="347472"/>
          </a:xfrm>
          <a:prstGeom prst="roundRect">
            <a:avLst>
              <a:gd name="adj" fmla="val 50000"/>
            </a:avLst>
          </a:prstGeom>
          <a:solidFill>
            <a:srgbClr val="4FD0F5"/>
          </a:solidFill>
          <a:ln>
            <a:noFill/>
          </a:ln>
        </p:spPr>
        <p:txBody>
          <a:bodyPr rtlCol="0" anchor="ctr" lIns="73152" rIns="73152" tIns="0" bIns="0"/>
          <a:lstStyle/>
          <a:p>
            <a:pPr algn="ctr"/>
            <a:r>
              <a:rPr sz="1150" b="1" i="0">
                <a:solidFill>
                  <a:srgbClr val="0B2A6B"/>
                </a:solidFill>
                <a:latin typeface="Pretendard"/>
                <a:ea typeface="Pretendard"/>
                <a:cs typeface="Pretendard"/>
              </a:rPr>
              <a:t>현재 동작 프로토타입(2026.09 기준)</a:t>
            </a:r>
          </a:p>
        </p:txBody>
      </p:sp>
      <p:sp>
        <p:nvSpPr>
          <p:cNvPr id="22" name="TextBox 21"/>
          <p:cNvSpPr txBox="1"/>
          <p:nvPr/>
        </p:nvSpPr>
        <p:spPr>
          <a:xfrm>
            <a:off x="5120640" y="2606040"/>
            <a:ext cx="3451860" cy="1600200"/>
          </a:xfrm>
          <a:prstGeom prst="rect">
            <a:avLst/>
          </a:prstGeom>
          <a:noFill/>
        </p:spPr>
        <p:txBody>
          <a:bodyPr wrap="square" anchor="t" lIns="0" rIns="0" tIns="0" bIns="0">
            <a:spAutoFit/>
          </a:bodyPr>
          <a:lstStyle/>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내 PC에서 도는 웹앱 — 4대 기능 전 구간 동작(탐지→측정→판정→소견서→PDF→기록)</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자동 테스트 235건 통과 · 합성 필름으로 전 과정 자동 검증</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판정식 3종 · 기준표 판본 선택(적용 판본을 판정표·PDF·기록에 기재) · 선급 보고 항목 25개 입력 필드(n/25 커버리지 표시·PDF에 W33 원문 병기·초안에 촬영 조건 반영) · 로컬 LLM 우선 · 자연어 검색</a:t>
            </a:r>
          </a:p>
        </p:txBody>
      </p:sp>
      <p:sp>
        <p:nvSpPr>
          <p:cNvPr id="23" name="Rounded Rectangle 22"/>
          <p:cNvSpPr/>
          <p:nvPr/>
        </p:nvSpPr>
        <p:spPr>
          <a:xfrm>
            <a:off x="8846820" y="2148840"/>
            <a:ext cx="3451860" cy="347472"/>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본선까지 반드시 동작시킬 것(대체 경로 포함)</a:t>
            </a:r>
          </a:p>
        </p:txBody>
      </p:sp>
      <p:sp>
        <p:nvSpPr>
          <p:cNvPr id="24" name="TextBox 23"/>
          <p:cNvSpPr txBox="1"/>
          <p:nvPr/>
        </p:nvSpPr>
        <p:spPr>
          <a:xfrm>
            <a:off x="8846820" y="2606040"/>
            <a:ext cx="3451860" cy="1600200"/>
          </a:xfrm>
          <a:prstGeom prst="rect">
            <a:avLst/>
          </a:prstGeom>
          <a:noFill/>
        </p:spPr>
        <p:txBody>
          <a:bodyPr wrap="square" anchor="t" lIns="0" rIns="0" tIns="0" bIns="0">
            <a:spAutoFit/>
          </a:bodyPr>
          <a:lstStyle/>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YOLO26s 학습 가중치 탑재 — 대체: RIAWELC 사전학습 + GDXray W0001·W0002 검증 → 그래도 불가 시 폴백 탐지기로 시연</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기준표 실제 수치 확정(선급 지침·멘토링) — 대체: 공개 규격 구조의 데모 수치 유지, 조항 번호로 구분</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현직 판독원의 보고서 양식 검증 — 대체: IACS UR W33 §8 필수 항목으로 자체 검증</a:t>
            </a:r>
          </a:p>
        </p:txBody>
      </p:sp>
      <p:sp>
        <p:nvSpPr>
          <p:cNvPr id="25" name="Rounded Rectangle 24"/>
          <p:cNvSpPr/>
          <p:nvPr/>
        </p:nvSpPr>
        <p:spPr>
          <a:xfrm>
            <a:off x="12893040" y="1371600"/>
            <a:ext cx="4782311" cy="2971800"/>
          </a:xfrm>
          <a:prstGeom prst="roundRect">
            <a:avLst>
              <a:gd name="adj" fmla="val 3500"/>
            </a:avLst>
          </a:prstGeom>
          <a:solidFill>
            <a:srgbClr val="FFFFFF"/>
          </a:solidFill>
          <a:ln w="9525">
            <a:solidFill>
              <a:srgbClr val="D9E0EC"/>
            </a:solidFill>
          </a:ln>
        </p:spPr>
        <p:txBody>
          <a:bodyPr rtlCol="0" anchor="ctr"/>
          <a:lstStyle/>
          <a:p/>
        </p:txBody>
      </p:sp>
      <p:sp>
        <p:nvSpPr>
          <p:cNvPr id="26" name="Oval 25"/>
          <p:cNvSpPr/>
          <p:nvPr/>
        </p:nvSpPr>
        <p:spPr>
          <a:xfrm>
            <a:off x="13213080" y="1746504"/>
            <a:ext cx="146304" cy="146304"/>
          </a:xfrm>
          <a:prstGeom prst="ellipse">
            <a:avLst/>
          </a:prstGeom>
          <a:solidFill>
            <a:srgbClr val="4FD0F5"/>
          </a:solidFill>
          <a:ln>
            <a:noFill/>
          </a:ln>
        </p:spPr>
        <p:txBody>
          <a:bodyPr rtlCol="0" anchor="ctr"/>
          <a:lstStyle/>
          <a:p>
            <a:pPr algn="ctr"/>
          </a:p>
        </p:txBody>
      </p:sp>
      <p:sp>
        <p:nvSpPr>
          <p:cNvPr id="27" name="TextBox 26"/>
          <p:cNvSpPr txBox="1"/>
          <p:nvPr/>
        </p:nvSpPr>
        <p:spPr>
          <a:xfrm>
            <a:off x="13459968" y="1645920"/>
            <a:ext cx="389534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개발 범위</a:t>
            </a:r>
          </a:p>
        </p:txBody>
      </p:sp>
      <p:sp>
        <p:nvSpPr>
          <p:cNvPr id="28" name="Rounded Rectangle 27"/>
          <p:cNvSpPr/>
          <p:nvPr/>
        </p:nvSpPr>
        <p:spPr>
          <a:xfrm>
            <a:off x="13213080" y="2148840"/>
            <a:ext cx="1234440" cy="310896"/>
          </a:xfrm>
          <a:prstGeom prst="roundRect">
            <a:avLst>
              <a:gd name="adj" fmla="val 50000"/>
            </a:avLst>
          </a:prstGeom>
          <a:solidFill>
            <a:srgbClr val="E3F6FD"/>
          </a:solidFill>
          <a:ln>
            <a:noFill/>
          </a:ln>
        </p:spPr>
        <p:txBody>
          <a:bodyPr rtlCol="0" anchor="ctr" lIns="73152" rIns="73152" tIns="0" bIns="0"/>
          <a:lstStyle/>
          <a:p>
            <a:pPr algn="ctr"/>
            <a:r>
              <a:rPr sz="1150" b="1" i="0">
                <a:solidFill>
                  <a:srgbClr val="0B2A6B"/>
                </a:solidFill>
                <a:latin typeface="Pretendard"/>
                <a:ea typeface="Pretendard"/>
                <a:cs typeface="Pretendard"/>
              </a:rPr>
              <a:t>포함</a:t>
            </a:r>
          </a:p>
        </p:txBody>
      </p:sp>
      <p:sp>
        <p:nvSpPr>
          <p:cNvPr id="29" name="TextBox 28"/>
          <p:cNvSpPr txBox="1"/>
          <p:nvPr/>
        </p:nvSpPr>
        <p:spPr>
          <a:xfrm>
            <a:off x="13213080" y="2560320"/>
            <a:ext cx="1956815" cy="1645920"/>
          </a:xfrm>
          <a:prstGeom prst="rect">
            <a:avLst/>
          </a:prstGeom>
          <a:noFill/>
        </p:spPr>
        <p:txBody>
          <a:bodyPr wrap="square" anchor="t" lIns="0" rIns="0" tIns="0" bIns="0">
            <a:spAutoFit/>
          </a:bodyPr>
          <a:lstStyle/>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4대 기능(2차 눈·2클릭 자+규칙 판정·소견서·기록) + 자연어 검색</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YOLO 학습 + GDXray 교차 검증 수치(검출률·장당 오탐) 공개</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오프라인 시연 모드(템플릿·캐시), PDF·CSV·JSON 백업</a:t>
            </a:r>
          </a:p>
        </p:txBody>
      </p:sp>
      <p:sp>
        <p:nvSpPr>
          <p:cNvPr id="30" name="Rounded Rectangle 29"/>
          <p:cNvSpPr/>
          <p:nvPr/>
        </p:nvSpPr>
        <p:spPr>
          <a:xfrm>
            <a:off x="15398496" y="2148840"/>
            <a:ext cx="1234440" cy="310896"/>
          </a:xfrm>
          <a:prstGeom prst="roundRect">
            <a:avLst>
              <a:gd name="adj" fmla="val 50000"/>
            </a:avLst>
          </a:prstGeom>
          <a:solidFill>
            <a:srgbClr val="E8EDF7"/>
          </a:solidFill>
          <a:ln>
            <a:noFill/>
          </a:ln>
        </p:spPr>
        <p:txBody>
          <a:bodyPr rtlCol="0" anchor="ctr" lIns="73152" rIns="73152" tIns="0" bIns="0"/>
          <a:lstStyle/>
          <a:p>
            <a:pPr algn="ctr"/>
            <a:r>
              <a:rPr sz="1150" b="1" i="0">
                <a:solidFill>
                  <a:srgbClr val="5B6B8C"/>
                </a:solidFill>
                <a:latin typeface="Pretendard"/>
                <a:ea typeface="Pretendard"/>
                <a:cs typeface="Pretendard"/>
              </a:rPr>
              <a:t>제외 (로드맵)</a:t>
            </a:r>
          </a:p>
        </p:txBody>
      </p:sp>
      <p:sp>
        <p:nvSpPr>
          <p:cNvPr id="31" name="TextBox 30"/>
          <p:cNvSpPr txBox="1"/>
          <p:nvPr/>
        </p:nvSpPr>
        <p:spPr>
          <a:xfrm>
            <a:off x="15398496" y="2560320"/>
            <a:ext cx="1956815" cy="1645920"/>
          </a:xfrm>
          <a:prstGeom prst="rect">
            <a:avLst/>
          </a:prstGeom>
          <a:noFill/>
        </p:spPr>
        <p:txBody>
          <a:bodyPr wrap="square" anchor="t" lIns="0" rIns="0" tIns="0" bIns="0">
            <a:spAutoFit/>
          </a:bodyPr>
          <a:lstStyle/>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취부 예방 모듈, 폰·ArUco 촬영 측정, AR 고글</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위험도 샘플링 추천(검사 지점은 선급·선주·품질부서 권한)</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재학습 파이프라인·초음파(UT) 판독·야드 파일럿 → 로드맵</a:t>
            </a:r>
          </a:p>
        </p:txBody>
      </p:sp>
      <p:sp>
        <p:nvSpPr>
          <p:cNvPr id="32" name="Rounded Rectangle 31"/>
          <p:cNvSpPr/>
          <p:nvPr/>
        </p:nvSpPr>
        <p:spPr>
          <a:xfrm>
            <a:off x="4800600" y="4572000"/>
            <a:ext cx="7818120" cy="1508760"/>
          </a:xfrm>
          <a:prstGeom prst="roundRect">
            <a:avLst>
              <a:gd name="adj" fmla="val 3500"/>
            </a:avLst>
          </a:prstGeom>
          <a:solidFill>
            <a:srgbClr val="FFFFFF"/>
          </a:solidFill>
          <a:ln w="9525">
            <a:solidFill>
              <a:srgbClr val="D9E0EC"/>
            </a:solidFill>
          </a:ln>
        </p:spPr>
        <p:txBody>
          <a:bodyPr rtlCol="0" anchor="ctr"/>
          <a:lstStyle/>
          <a:p/>
        </p:txBody>
      </p:sp>
      <p:sp>
        <p:nvSpPr>
          <p:cNvPr id="33" name="Oval 32"/>
          <p:cNvSpPr/>
          <p:nvPr/>
        </p:nvSpPr>
        <p:spPr>
          <a:xfrm>
            <a:off x="5120640" y="4855464"/>
            <a:ext cx="146304" cy="146304"/>
          </a:xfrm>
          <a:prstGeom prst="ellipse">
            <a:avLst/>
          </a:prstGeom>
          <a:solidFill>
            <a:srgbClr val="4FD0F5"/>
          </a:solidFill>
          <a:ln>
            <a:noFill/>
          </a:ln>
        </p:spPr>
        <p:txBody>
          <a:bodyPr rtlCol="0" anchor="ctr"/>
          <a:lstStyle/>
          <a:p>
            <a:pPr algn="ctr"/>
          </a:p>
        </p:txBody>
      </p:sp>
      <p:sp>
        <p:nvSpPr>
          <p:cNvPr id="34" name="TextBox 33"/>
          <p:cNvSpPr txBox="1"/>
          <p:nvPr/>
        </p:nvSpPr>
        <p:spPr>
          <a:xfrm>
            <a:off x="5367527" y="4754880"/>
            <a:ext cx="6931152" cy="384048"/>
          </a:xfrm>
          <a:prstGeom prst="rect">
            <a:avLst/>
          </a:prstGeom>
          <a:noFill/>
        </p:spPr>
        <p:txBody>
          <a:bodyPr wrap="square" anchor="t" lIns="0" rIns="0" tIns="0" bIns="0">
            <a:spAutoFit/>
          </a:bodyPr>
          <a:lstStyle/>
          <a:p>
            <a:pPr algn="l">
              <a:lnSpc>
                <a:spcPct val="112000"/>
              </a:lnSpc>
            </a:pPr>
            <a:r>
              <a:rPr sz="1700" b="1" i="0">
                <a:solidFill>
                  <a:srgbClr val="0B2A6B"/>
                </a:solidFill>
                <a:latin typeface="Pretendard"/>
                <a:ea typeface="Pretendard"/>
                <a:cs typeface="Pretendard"/>
              </a:rPr>
              <a:t>팀원별 역할 분담</a:t>
            </a:r>
          </a:p>
        </p:txBody>
      </p:sp>
      <p:sp>
        <p:nvSpPr>
          <p:cNvPr id="35" name="TextBox 34"/>
          <p:cNvSpPr txBox="1"/>
          <p:nvPr/>
        </p:nvSpPr>
        <p:spPr>
          <a:xfrm>
            <a:off x="5120640" y="5138928"/>
            <a:ext cx="7178040" cy="868680"/>
          </a:xfrm>
          <a:prstGeom prst="rect">
            <a:avLst/>
          </a:prstGeom>
          <a:noFill/>
        </p:spPr>
        <p:txBody>
          <a:bodyPr wrap="square" anchor="t" lIns="0" rIns="0" tIns="0" bIns="0">
            <a:spAutoFit/>
          </a:bodyPr>
          <a:lstStyle/>
          <a:p>
            <a:pPr marL="167957" indent="-167957">
              <a:lnSpc>
                <a:spcPct val="114000"/>
              </a:lnSpc>
              <a:spcAft>
                <a:spcPts val="200"/>
              </a:spcAft>
              <a:buClr>
                <a:srgbClr val="4FD0F5"/>
              </a:buClr>
              <a:buFont typeface="Arial"/>
              <a:buChar char="•"/>
            </a:pPr>
            <a:r>
              <a:rPr sz="1150" b="1" i="0">
                <a:solidFill>
                  <a:srgbClr val="1F2A44"/>
                </a:solidFill>
                <a:latin typeface="Pretendard"/>
                <a:ea typeface="Pretendard"/>
                <a:cs typeface="Pretendard"/>
              </a:rPr>
              <a:t>1인 참가</a:t>
            </a:r>
            <a:r>
              <a:rPr sz="1150" b="0" i="0">
                <a:solidFill>
                  <a:srgbClr val="1F2A44"/>
                </a:solidFill>
                <a:latin typeface="Pretendard"/>
                <a:ea typeface="Pretendard"/>
                <a:cs typeface="Pretendard"/>
              </a:rPr>
              <a:t> — 기획·개발·데이터·디자인 전담</a:t>
            </a:r>
          </a:p>
          <a:p>
            <a:pPr marL="167957" indent="-167957">
              <a:lnSpc>
                <a:spcPct val="114000"/>
              </a:lnSpc>
              <a:spcAft>
                <a:spcPts val="200"/>
              </a:spcAft>
              <a:buClr>
                <a:srgbClr val="4FD0F5"/>
              </a:buClr>
              <a:buFont typeface="Arial"/>
              <a:buChar char="•"/>
            </a:pPr>
            <a:r>
              <a:rPr sz="1150" b="0" i="0">
                <a:solidFill>
                  <a:srgbClr val="1F2A44"/>
                </a:solidFill>
                <a:latin typeface="Pretendard"/>
                <a:ea typeface="Pretendard"/>
                <a:cs typeface="Pretendard"/>
              </a:rPr>
              <a:t>보유 경험: YOLO 결함 탐지(랩실)·LLM 파이프라인 프로토타입 / 적용 스택: Python·Streamlit·OpenCV·SQLite</a:t>
            </a:r>
          </a:p>
          <a:p>
            <a:pPr marL="167957" indent="-167957">
              <a:lnSpc>
                <a:spcPct val="114000"/>
              </a:lnSpc>
              <a:spcAft>
                <a:spcPts val="200"/>
              </a:spcAft>
              <a:buClr>
                <a:srgbClr val="4FD0F5"/>
              </a:buClr>
              <a:buFont typeface="Arial"/>
              <a:buChar char="•"/>
            </a:pPr>
            <a:r>
              <a:rPr sz="1150" b="0" i="0">
                <a:solidFill>
                  <a:srgbClr val="1F2A44"/>
                </a:solidFill>
                <a:latin typeface="Pretendard"/>
                <a:ea typeface="Pretendard"/>
                <a:cs typeface="Pretendard"/>
              </a:rPr>
              <a:t>외부 자원(본선 진출 시): 도메인 멘토링 2회(기준 원문·보고서 양식), 기술 멘토링 2회(모델 성능·UX·리허설), 현직자 오픈카톡</a:t>
            </a:r>
          </a:p>
        </p:txBody>
      </p:sp>
      <p:sp>
        <p:nvSpPr>
          <p:cNvPr id="36" name="Rounded Rectangle 35"/>
          <p:cNvSpPr/>
          <p:nvPr/>
        </p:nvSpPr>
        <p:spPr>
          <a:xfrm>
            <a:off x="4800600" y="6309360"/>
            <a:ext cx="7818120" cy="2944367"/>
          </a:xfrm>
          <a:prstGeom prst="roundRect">
            <a:avLst>
              <a:gd name="adj" fmla="val 3500"/>
            </a:avLst>
          </a:prstGeom>
          <a:solidFill>
            <a:srgbClr val="FFFFFF"/>
          </a:solidFill>
          <a:ln w="9525">
            <a:solidFill>
              <a:srgbClr val="D9E0EC"/>
            </a:solidFill>
          </a:ln>
        </p:spPr>
        <p:txBody>
          <a:bodyPr rtlCol="0" anchor="ctr"/>
          <a:lstStyle/>
          <a:p/>
        </p:txBody>
      </p:sp>
      <p:sp>
        <p:nvSpPr>
          <p:cNvPr id="37" name="Oval 36"/>
          <p:cNvSpPr/>
          <p:nvPr/>
        </p:nvSpPr>
        <p:spPr>
          <a:xfrm>
            <a:off x="5120640" y="6638544"/>
            <a:ext cx="146304" cy="146304"/>
          </a:xfrm>
          <a:prstGeom prst="ellipse">
            <a:avLst/>
          </a:prstGeom>
          <a:solidFill>
            <a:srgbClr val="4FD0F5"/>
          </a:solidFill>
          <a:ln>
            <a:noFill/>
          </a:ln>
        </p:spPr>
        <p:txBody>
          <a:bodyPr rtlCol="0" anchor="ctr"/>
          <a:lstStyle/>
          <a:p>
            <a:pPr algn="ctr"/>
          </a:p>
        </p:txBody>
      </p:sp>
      <p:sp>
        <p:nvSpPr>
          <p:cNvPr id="38" name="TextBox 37"/>
          <p:cNvSpPr txBox="1"/>
          <p:nvPr/>
        </p:nvSpPr>
        <p:spPr>
          <a:xfrm>
            <a:off x="5367527" y="6537960"/>
            <a:ext cx="6931152" cy="384048"/>
          </a:xfrm>
          <a:prstGeom prst="rect">
            <a:avLst/>
          </a:prstGeom>
          <a:noFill/>
        </p:spPr>
        <p:txBody>
          <a:bodyPr wrap="square" anchor="t" lIns="0" rIns="0" tIns="0" bIns="0">
            <a:spAutoFit/>
          </a:bodyPr>
          <a:lstStyle/>
          <a:p>
            <a:pPr algn="l">
              <a:lnSpc>
                <a:spcPct val="112000"/>
              </a:lnSpc>
            </a:pPr>
            <a:r>
              <a:rPr sz="1800" b="1" i="0">
                <a:solidFill>
                  <a:srgbClr val="0B2A6B"/>
                </a:solidFill>
                <a:latin typeface="Pretendard"/>
                <a:ea typeface="Pretendard"/>
                <a:cs typeface="Pretendard"/>
              </a:rPr>
              <a:t>시연 시나리오</a:t>
            </a:r>
          </a:p>
        </p:txBody>
      </p:sp>
      <p:sp>
        <p:nvSpPr>
          <p:cNvPr id="39" name="Rounded Rectangle 38"/>
          <p:cNvSpPr/>
          <p:nvPr/>
        </p:nvSpPr>
        <p:spPr>
          <a:xfrm>
            <a:off x="5120640" y="6931152"/>
            <a:ext cx="1657350" cy="731520"/>
          </a:xfrm>
          <a:prstGeom prst="roundRect">
            <a:avLst>
              <a:gd name="adj" fmla="val 8000"/>
            </a:avLst>
          </a:prstGeom>
          <a:solidFill>
            <a:srgbClr val="F2F5FA"/>
          </a:solidFill>
          <a:ln>
            <a:noFill/>
          </a:ln>
        </p:spPr>
        <p:txBody>
          <a:bodyPr rtlCol="0" anchor="ctr"/>
          <a:lstStyle/>
          <a:p/>
        </p:txBody>
      </p:sp>
      <p:sp>
        <p:nvSpPr>
          <p:cNvPr id="40" name="Rounded Rectangle 39"/>
          <p:cNvSpPr/>
          <p:nvPr/>
        </p:nvSpPr>
        <p:spPr>
          <a:xfrm>
            <a:off x="523036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1</a:t>
            </a:r>
          </a:p>
        </p:txBody>
      </p:sp>
      <p:sp>
        <p:nvSpPr>
          <p:cNvPr id="41" name="TextBox 40"/>
          <p:cNvSpPr txBox="1"/>
          <p:nvPr/>
        </p:nvSpPr>
        <p:spPr>
          <a:xfrm>
            <a:off x="5623559"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사진 열기(스캔 필름) · 대비 향상</a:t>
            </a:r>
          </a:p>
        </p:txBody>
      </p:sp>
      <p:sp>
        <p:nvSpPr>
          <p:cNvPr id="42" name="Rounded Rectangle 41"/>
          <p:cNvSpPr/>
          <p:nvPr/>
        </p:nvSpPr>
        <p:spPr>
          <a:xfrm>
            <a:off x="6960870" y="6931152"/>
            <a:ext cx="1657350" cy="731520"/>
          </a:xfrm>
          <a:prstGeom prst="roundRect">
            <a:avLst>
              <a:gd name="adj" fmla="val 8000"/>
            </a:avLst>
          </a:prstGeom>
          <a:solidFill>
            <a:srgbClr val="F2F5FA"/>
          </a:solidFill>
          <a:ln>
            <a:noFill/>
          </a:ln>
        </p:spPr>
        <p:txBody>
          <a:bodyPr rtlCol="0" anchor="ctr"/>
          <a:lstStyle/>
          <a:p/>
        </p:txBody>
      </p:sp>
      <p:sp>
        <p:nvSpPr>
          <p:cNvPr id="43" name="Rounded Rectangle 42"/>
          <p:cNvSpPr/>
          <p:nvPr/>
        </p:nvSpPr>
        <p:spPr>
          <a:xfrm>
            <a:off x="707059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2</a:t>
            </a:r>
          </a:p>
        </p:txBody>
      </p:sp>
      <p:sp>
        <p:nvSpPr>
          <p:cNvPr id="44" name="TextBox 43"/>
          <p:cNvSpPr txBox="1"/>
          <p:nvPr/>
        </p:nvSpPr>
        <p:spPr>
          <a:xfrm>
            <a:off x="746379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AI 후보 표시 → 종류 확정·채택 / 오탐 기각</a:t>
            </a:r>
          </a:p>
        </p:txBody>
      </p:sp>
      <p:sp>
        <p:nvSpPr>
          <p:cNvPr id="45" name="Rounded Rectangle 44"/>
          <p:cNvSpPr/>
          <p:nvPr/>
        </p:nvSpPr>
        <p:spPr>
          <a:xfrm>
            <a:off x="8801100" y="6931152"/>
            <a:ext cx="1657350" cy="731520"/>
          </a:xfrm>
          <a:prstGeom prst="roundRect">
            <a:avLst>
              <a:gd name="adj" fmla="val 8000"/>
            </a:avLst>
          </a:prstGeom>
          <a:solidFill>
            <a:srgbClr val="F2F5FA"/>
          </a:solidFill>
          <a:ln>
            <a:noFill/>
          </a:ln>
        </p:spPr>
        <p:txBody>
          <a:bodyPr rtlCol="0" anchor="ctr"/>
          <a:lstStyle/>
          <a:p/>
        </p:txBody>
      </p:sp>
      <p:sp>
        <p:nvSpPr>
          <p:cNvPr id="46" name="Rounded Rectangle 45"/>
          <p:cNvSpPr/>
          <p:nvPr/>
        </p:nvSpPr>
        <p:spPr>
          <a:xfrm>
            <a:off x="891082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3</a:t>
            </a:r>
          </a:p>
        </p:txBody>
      </p:sp>
      <p:sp>
        <p:nvSpPr>
          <p:cNvPr id="47" name="TextBox 46"/>
          <p:cNvSpPr txBox="1"/>
          <p:nvPr/>
        </p:nvSpPr>
        <p:spPr>
          <a:xfrm>
            <a:off x="930402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납마커 양 끝 2클릭 → mm/픽셀 확정</a:t>
            </a:r>
          </a:p>
        </p:txBody>
      </p:sp>
      <p:sp>
        <p:nvSpPr>
          <p:cNvPr id="48" name="Rounded Rectangle 47"/>
          <p:cNvSpPr/>
          <p:nvPr/>
        </p:nvSpPr>
        <p:spPr>
          <a:xfrm>
            <a:off x="10641330" y="6931152"/>
            <a:ext cx="1657350" cy="731520"/>
          </a:xfrm>
          <a:prstGeom prst="roundRect">
            <a:avLst>
              <a:gd name="adj" fmla="val 8000"/>
            </a:avLst>
          </a:prstGeom>
          <a:solidFill>
            <a:srgbClr val="F2F5FA"/>
          </a:solidFill>
          <a:ln>
            <a:noFill/>
          </a:ln>
        </p:spPr>
        <p:txBody>
          <a:bodyPr rtlCol="0" anchor="ctr"/>
          <a:lstStyle/>
          <a:p/>
        </p:txBody>
      </p:sp>
      <p:sp>
        <p:nvSpPr>
          <p:cNvPr id="49" name="Rounded Rectangle 48"/>
          <p:cNvSpPr/>
          <p:nvPr/>
        </p:nvSpPr>
        <p:spPr>
          <a:xfrm>
            <a:off x="10751057"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4</a:t>
            </a:r>
          </a:p>
        </p:txBody>
      </p:sp>
      <p:sp>
        <p:nvSpPr>
          <p:cNvPr id="50" name="TextBox 49"/>
          <p:cNvSpPr txBox="1"/>
          <p:nvPr/>
        </p:nvSpPr>
        <p:spPr>
          <a:xfrm>
            <a:off x="1114425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결함 양 끝 2클릭 → 크기 확정</a:t>
            </a:r>
          </a:p>
        </p:txBody>
      </p:sp>
      <p:sp>
        <p:nvSpPr>
          <p:cNvPr id="51" name="Rounded Rectangle 50"/>
          <p:cNvSpPr/>
          <p:nvPr/>
        </p:nvSpPr>
        <p:spPr>
          <a:xfrm>
            <a:off x="5120640" y="7772400"/>
            <a:ext cx="1657350" cy="731520"/>
          </a:xfrm>
          <a:prstGeom prst="roundRect">
            <a:avLst>
              <a:gd name="adj" fmla="val 8000"/>
            </a:avLst>
          </a:prstGeom>
          <a:solidFill>
            <a:srgbClr val="F2F5FA"/>
          </a:solidFill>
          <a:ln>
            <a:noFill/>
          </a:ln>
        </p:spPr>
        <p:txBody>
          <a:bodyPr rtlCol="0" anchor="ctr"/>
          <a:lstStyle/>
          <a:p/>
        </p:txBody>
      </p:sp>
      <p:sp>
        <p:nvSpPr>
          <p:cNvPr id="52" name="Rounded Rectangle 51"/>
          <p:cNvSpPr/>
          <p:nvPr/>
        </p:nvSpPr>
        <p:spPr>
          <a:xfrm>
            <a:off x="523036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5</a:t>
            </a:r>
          </a:p>
        </p:txBody>
      </p:sp>
      <p:sp>
        <p:nvSpPr>
          <p:cNvPr id="53" name="TextBox 52"/>
          <p:cNvSpPr txBox="1"/>
          <p:nvPr/>
        </p:nvSpPr>
        <p:spPr>
          <a:xfrm>
            <a:off x="5623559"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판정 실행 → 단일·누적·면적률 + 근거 조항</a:t>
            </a:r>
          </a:p>
        </p:txBody>
      </p:sp>
      <p:sp>
        <p:nvSpPr>
          <p:cNvPr id="54" name="Rounded Rectangle 53"/>
          <p:cNvSpPr/>
          <p:nvPr/>
        </p:nvSpPr>
        <p:spPr>
          <a:xfrm>
            <a:off x="6960870" y="7772400"/>
            <a:ext cx="1657350" cy="731520"/>
          </a:xfrm>
          <a:prstGeom prst="roundRect">
            <a:avLst>
              <a:gd name="adj" fmla="val 8000"/>
            </a:avLst>
          </a:prstGeom>
          <a:solidFill>
            <a:srgbClr val="F2F5FA"/>
          </a:solidFill>
          <a:ln>
            <a:noFill/>
          </a:ln>
        </p:spPr>
        <p:txBody>
          <a:bodyPr rtlCol="0" anchor="ctr"/>
          <a:lstStyle/>
          <a:p/>
        </p:txBody>
      </p:sp>
      <p:sp>
        <p:nvSpPr>
          <p:cNvPr id="55" name="Rounded Rectangle 54"/>
          <p:cNvSpPr/>
          <p:nvPr/>
        </p:nvSpPr>
        <p:spPr>
          <a:xfrm>
            <a:off x="707059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6</a:t>
            </a:r>
          </a:p>
        </p:txBody>
      </p:sp>
      <p:sp>
        <p:nvSpPr>
          <p:cNvPr id="56" name="TextBox 55"/>
          <p:cNvSpPr txBox="1"/>
          <p:nvPr/>
        </p:nvSpPr>
        <p:spPr>
          <a:xfrm>
            <a:off x="746379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소견서 초안 → 편집 → 승인 · PDF</a:t>
            </a:r>
          </a:p>
        </p:txBody>
      </p:sp>
      <p:sp>
        <p:nvSpPr>
          <p:cNvPr id="57" name="Rounded Rectangle 56"/>
          <p:cNvSpPr/>
          <p:nvPr/>
        </p:nvSpPr>
        <p:spPr>
          <a:xfrm>
            <a:off x="8801100" y="7772400"/>
            <a:ext cx="1657350" cy="731520"/>
          </a:xfrm>
          <a:prstGeom prst="roundRect">
            <a:avLst>
              <a:gd name="adj" fmla="val 8000"/>
            </a:avLst>
          </a:prstGeom>
          <a:solidFill>
            <a:srgbClr val="F2F5FA"/>
          </a:solidFill>
          <a:ln>
            <a:noFill/>
          </a:ln>
        </p:spPr>
        <p:txBody>
          <a:bodyPr rtlCol="0" anchor="ctr"/>
          <a:lstStyle/>
          <a:p/>
        </p:txBody>
      </p:sp>
      <p:sp>
        <p:nvSpPr>
          <p:cNvPr id="58" name="Rounded Rectangle 57"/>
          <p:cNvSpPr/>
          <p:nvPr/>
        </p:nvSpPr>
        <p:spPr>
          <a:xfrm>
            <a:off x="891082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7</a:t>
            </a:r>
          </a:p>
        </p:txBody>
      </p:sp>
      <p:sp>
        <p:nvSpPr>
          <p:cNvPr id="59" name="TextBox 58"/>
          <p:cNvSpPr txBox="1"/>
          <p:nvPr/>
        </p:nvSpPr>
        <p:spPr>
          <a:xfrm>
            <a:off x="930402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말로 ‘3번 블록 기공 이력’ 검색·요약</a:t>
            </a:r>
          </a:p>
        </p:txBody>
      </p:sp>
      <p:sp>
        <p:nvSpPr>
          <p:cNvPr id="60" name="Rounded Rectangle 59"/>
          <p:cNvSpPr/>
          <p:nvPr/>
        </p:nvSpPr>
        <p:spPr>
          <a:xfrm>
            <a:off x="10641330" y="7772400"/>
            <a:ext cx="1657350" cy="731520"/>
          </a:xfrm>
          <a:prstGeom prst="roundRect">
            <a:avLst>
              <a:gd name="adj" fmla="val 8000"/>
            </a:avLst>
          </a:prstGeom>
          <a:solidFill>
            <a:srgbClr val="F2F5FA"/>
          </a:solidFill>
          <a:ln>
            <a:noFill/>
          </a:ln>
        </p:spPr>
        <p:txBody>
          <a:bodyPr rtlCol="0" anchor="ctr"/>
          <a:lstStyle/>
          <a:p/>
        </p:txBody>
      </p:sp>
      <p:sp>
        <p:nvSpPr>
          <p:cNvPr id="61" name="Rounded Rectangle 60"/>
          <p:cNvSpPr/>
          <p:nvPr/>
        </p:nvSpPr>
        <p:spPr>
          <a:xfrm>
            <a:off x="10751057"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8</a:t>
            </a:r>
          </a:p>
        </p:txBody>
      </p:sp>
      <p:sp>
        <p:nvSpPr>
          <p:cNvPr id="62" name="TextBox 61"/>
          <p:cNvSpPr txBox="1"/>
          <p:nvPr/>
        </p:nvSpPr>
        <p:spPr>
          <a:xfrm>
            <a:off x="1114425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채택률·미탐 지표 확인 · 학습 라벨 내보내기</a:t>
            </a:r>
          </a:p>
        </p:txBody>
      </p:sp>
      <p:sp>
        <p:nvSpPr>
          <p:cNvPr id="63" name="TextBox 62"/>
          <p:cNvSpPr txBox="1"/>
          <p:nvPr/>
        </p:nvSpPr>
        <p:spPr>
          <a:xfrm>
            <a:off x="5120640" y="8796528"/>
            <a:ext cx="7178040" cy="411480"/>
          </a:xfrm>
          <a:prstGeom prst="rect">
            <a:avLst/>
          </a:prstGeom>
          <a:noFill/>
        </p:spPr>
        <p:txBody>
          <a:bodyPr wrap="square" anchor="t" lIns="0" rIns="0" tIns="0" bIns="0">
            <a:spAutoFit/>
          </a:bodyPr>
          <a:lstStyle/>
          <a:p>
            <a:pPr algn="l">
              <a:lnSpc>
                <a:spcPct val="108000"/>
              </a:lnSpc>
            </a:pPr>
            <a:r>
              <a:rPr sz="950" b="0" i="0">
                <a:solidFill>
                  <a:srgbClr val="5B6B8C"/>
                </a:solidFill>
                <a:latin typeface="Pretendard"/>
                <a:ea typeface="Pretendard"/>
                <a:cs typeface="Pretendard"/>
              </a:rPr>
              <a:t>균열 포함 불합격 1건 + 무결함 합격 1건을 합성 RT 필름으로 시연(실제 필름은 현장 보안 통제로 기간 내 확보 곤란). 화면의 후보 박스는 OpenCV 폴백 탐지기 출력(탐지 임계 0.5는 내부값, 화면 슬라이더는 표시 필터)</a:t>
            </a:r>
          </a:p>
        </p:txBody>
      </p:sp>
      <p:sp>
        <p:nvSpPr>
          <p:cNvPr id="64" name="Rounded Rectangle 63"/>
          <p:cNvSpPr/>
          <p:nvPr/>
        </p:nvSpPr>
        <p:spPr>
          <a:xfrm>
            <a:off x="12893040" y="4572000"/>
            <a:ext cx="4782311" cy="4681727"/>
          </a:xfrm>
          <a:prstGeom prst="roundRect">
            <a:avLst>
              <a:gd name="adj" fmla="val 3500"/>
            </a:avLst>
          </a:prstGeom>
          <a:solidFill>
            <a:srgbClr val="FFFFFF"/>
          </a:solidFill>
          <a:ln w="9525">
            <a:solidFill>
              <a:srgbClr val="D9E0EC"/>
            </a:solidFill>
          </a:ln>
        </p:spPr>
        <p:txBody>
          <a:bodyPr rtlCol="0" anchor="ctr"/>
          <a:lstStyle/>
          <a:p/>
        </p:txBody>
      </p:sp>
      <p:sp>
        <p:nvSpPr>
          <p:cNvPr id="65" name="TextBox 64"/>
          <p:cNvSpPr txBox="1"/>
          <p:nvPr/>
        </p:nvSpPr>
        <p:spPr>
          <a:xfrm>
            <a:off x="13213080" y="4800600"/>
            <a:ext cx="4142231" cy="292608"/>
          </a:xfrm>
          <a:prstGeom prst="rect">
            <a:avLst/>
          </a:prstGeom>
          <a:noFill/>
        </p:spPr>
        <p:txBody>
          <a:bodyPr wrap="square" anchor="t" lIns="0" rIns="0" tIns="0" bIns="0">
            <a:spAutoFit/>
          </a:bodyPr>
          <a:lstStyle/>
          <a:p>
            <a:pPr algn="l">
              <a:lnSpc>
                <a:spcPct val="112000"/>
              </a:lnSpc>
            </a:pPr>
            <a:r>
              <a:rPr sz="1400" b="1" i="0">
                <a:solidFill>
                  <a:srgbClr val="0B2A6B"/>
                </a:solidFill>
                <a:latin typeface="Pretendard"/>
                <a:ea typeface="Pretendard"/>
                <a:cs typeface="Pretendard"/>
              </a:rPr>
              <a:t>동작 프로토타입 화면</a:t>
            </a:r>
          </a:p>
        </p:txBody>
      </p:sp>
      <p:pic>
        <p:nvPicPr>
          <p:cNvPr id="66" name="Picture 65" descr="app_shot.png"/>
          <p:cNvPicPr>
            <a:picLocks noChangeAspect="1"/>
          </p:cNvPicPr>
          <p:nvPr/>
        </p:nvPicPr>
        <p:blipFill>
          <a:blip r:embed="rId3"/>
          <a:stretch>
            <a:fillRect/>
          </a:stretch>
        </p:blipFill>
        <p:spPr>
          <a:xfrm>
            <a:off x="13213080" y="5193792"/>
            <a:ext cx="4142231" cy="2816717"/>
          </a:xfrm>
          <a:prstGeom prst="rect">
            <a:avLst/>
          </a:prstGeom>
          <a:ln w="9525">
            <a:solidFill>
              <a:srgbClr val="D9E0EC"/>
            </a:solidFill>
          </a:ln>
        </p:spPr>
      </p:pic>
      <p:sp>
        <p:nvSpPr>
          <p:cNvPr id="67" name="TextBox 66"/>
          <p:cNvSpPr txBox="1"/>
          <p:nvPr/>
        </p:nvSpPr>
        <p:spPr>
          <a:xfrm>
            <a:off x="13213080" y="8686800"/>
            <a:ext cx="4142231" cy="457200"/>
          </a:xfrm>
          <a:prstGeom prst="rect">
            <a:avLst/>
          </a:prstGeom>
          <a:noFill/>
        </p:spPr>
        <p:txBody>
          <a:bodyPr wrap="square" anchor="t" lIns="0" rIns="0" tIns="0" bIns="0">
            <a:spAutoFit/>
          </a:bodyPr>
          <a:lstStyle/>
          <a:p>
            <a:pPr algn="l">
              <a:lnSpc>
                <a:spcPct val="112000"/>
              </a:lnSpc>
            </a:pPr>
            <a:r>
              <a:rPr sz="1050" b="0" i="0">
                <a:solidFill>
                  <a:srgbClr val="5B6B8C"/>
                </a:solidFill>
                <a:latin typeface="Pretendard"/>
                <a:ea typeface="Pretendard"/>
                <a:cs typeface="Pretendard"/>
              </a:rPr>
              <a:t>합성 RT 필름 · AI 후보 오버레이(주황) · 클릭 도구 · 스케일 확정 — Streamlit 앱 실제 화면</a:t>
            </a:r>
          </a:p>
        </p:txBody>
      </p:sp>
      <p:sp>
        <p:nvSpPr>
          <p:cNvPr id="68" name="TextBox 67"/>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참고  [1] rt-workbench 저장소(2026.09 — 자동 테스트 tests/ · E2E scripts/demo_e2e.py · 탐지 측정 scripts/eval_detector.py)  ·  [2] IACS UR W33 Rev.1/Corr.1(2021) §8.2·8.5  ·  화면은 앱 실제 캡처(합성 필름)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24669"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04</a:t>
            </a:r>
            <a:endParaRPr lang="en-US" sz="4950" dirty="0"/>
          </a:p>
        </p:txBody>
      </p:sp>
      <p:sp>
        <p:nvSpPr>
          <p:cNvPr id="4" name="Shape 2"/>
          <p:cNvSpPr/>
          <p:nvPr/>
        </p:nvSpPr>
        <p:spPr>
          <a:xfrm>
            <a:off x="1648569"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296412" cy="1089422"/>
          </a:xfrm>
          <a:prstGeom prst="rect">
            <a:avLst/>
          </a:prstGeom>
          <a:noFill/>
          <a:ln/>
        </p:spPr>
        <p:txBody>
          <a:bodyPr wrap="square" lIns="25400" tIns="25400" rIns="25400" bIns="25400" rtlCol="0" anchor="t">
            <a:normAutofit lnSpcReduction="10000"/>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필요 </a:t>
            </a:r>
            <a:r>
              <a:rPr lang="en-US" sz="3450" b="1" kern="0" spc="-69" dirty="0" err="1">
                <a:solidFill>
                  <a:srgbClr val="FFFFFF"/>
                </a:solidFill>
                <a:latin typeface="Pretendard" pitchFamily="34" charset="0"/>
                <a:ea typeface="Pretendard" pitchFamily="34" charset="-122"/>
                <a:cs typeface="Pretendard" pitchFamily="34" charset="-120"/>
              </a:rPr>
              <a:t>데이터</a:t>
            </a:r>
            <a:r>
              <a:rPr lang="en-US" sz="3450" b="1" kern="0" spc="-69" dirty="0">
                <a:solidFill>
                  <a:srgbClr val="FFFFFF"/>
                </a:solidFill>
                <a:latin typeface="Pretendard" pitchFamily="34" charset="0"/>
                <a:ea typeface="Pretendard" pitchFamily="34" charset="-122"/>
                <a:cs typeface="Pretendard" pitchFamily="34" charset="-120"/>
              </a:rPr>
              <a:t> 및</a:t>
            </a:r>
          </a:p>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확보</a:t>
            </a:r>
            <a:r>
              <a:rPr lang="en-US" sz="3450" b="1" kern="0" spc="-69" dirty="0">
                <a:solidFill>
                  <a:srgbClr val="FFFFFF"/>
                </a:solidFill>
                <a:latin typeface="Pretendard" pitchFamily="34" charset="0"/>
                <a:ea typeface="Pretendard" pitchFamily="34" charset="-122"/>
                <a:cs typeface="Pretendard" pitchFamily="34" charset="-120"/>
              </a:rPr>
              <a:t> 방안</a:t>
            </a:r>
            <a:endParaRPr lang="en-US" sz="3450" dirty="0"/>
          </a:p>
        </p:txBody>
      </p:sp>
      <p:sp>
        <p:nvSpPr>
          <p:cNvPr id="6" name="Shape 4"/>
          <p:cNvSpPr/>
          <p:nvPr/>
        </p:nvSpPr>
        <p:spPr>
          <a:xfrm>
            <a:off x="571500" y="3026718"/>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331246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활용 예정 데이터</a:t>
            </a:r>
            <a:endParaRPr lang="en-US" sz="2025" dirty="0"/>
          </a:p>
        </p:txBody>
      </p:sp>
      <p:sp>
        <p:nvSpPr>
          <p:cNvPr id="8" name="Text 6"/>
          <p:cNvSpPr/>
          <p:nvPr/>
        </p:nvSpPr>
        <p:spPr>
          <a:xfrm>
            <a:off x="571500" y="370299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데이터 유형·형태·규모(예: 설비 센서 로그, 도면 이미지, 텍스트 문서 등)</a:t>
            </a:r>
            <a:endParaRPr lang="en-US" sz="1800" dirty="0"/>
          </a:p>
        </p:txBody>
      </p:sp>
      <p:sp>
        <p:nvSpPr>
          <p:cNvPr id="9" name="Text 7"/>
          <p:cNvSpPr/>
          <p:nvPr/>
        </p:nvSpPr>
        <p:spPr>
          <a:xfrm>
            <a:off x="571500" y="4613523"/>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확보 방법</a:t>
            </a:r>
            <a:endParaRPr lang="en-US" sz="2025" dirty="0"/>
          </a:p>
        </p:txBody>
      </p:sp>
      <p:sp>
        <p:nvSpPr>
          <p:cNvPr id="10" name="Text 8"/>
          <p:cNvSpPr/>
          <p:nvPr/>
        </p:nvSpPr>
        <p:spPr>
          <a:xfrm>
            <a:off x="571500" y="5004048"/>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공개 데이터 / 직접 수집 / 합성 데이터 생성 / 크롤링 등 구체적 경로</a:t>
            </a:r>
            <a:endParaRPr lang="en-US" sz="1800" dirty="0"/>
          </a:p>
        </p:txBody>
      </p:sp>
      <p:sp>
        <p:nvSpPr>
          <p:cNvPr id="11" name="Text 9"/>
          <p:cNvSpPr/>
          <p:nvPr/>
        </p:nvSpPr>
        <p:spPr>
          <a:xfrm>
            <a:off x="571500" y="5914579"/>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대체 방안</a:t>
            </a:r>
            <a:endParaRPr lang="en-US" sz="2025" dirty="0"/>
          </a:p>
        </p:txBody>
      </p:sp>
      <p:sp>
        <p:nvSpPr>
          <p:cNvPr id="12" name="Text 10"/>
          <p:cNvSpPr/>
          <p:nvPr/>
        </p:nvSpPr>
        <p:spPr>
          <a:xfrm>
            <a:off x="571500" y="6305104"/>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데이터 확보가 어려울 경우의 대안 또는 축소 실행안</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6444" y="571500"/>
            <a:ext cx="2807151"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05</a:t>
            </a:r>
            <a:endParaRPr lang="en-US" sz="1950" dirty="0"/>
          </a:p>
        </p:txBody>
      </p:sp>
      <p:sp>
        <p:nvSpPr>
          <p:cNvPr id="16" name="Oval 15"/>
          <p:cNvSpPr/>
          <p:nvPr/>
        </p:nvSpPr>
        <p:spPr>
          <a:xfrm>
            <a:off x="4800600" y="1472184"/>
            <a:ext cx="146304" cy="146304"/>
          </a:xfrm>
          <a:prstGeom prst="ellipse">
            <a:avLst/>
          </a:prstGeom>
          <a:solidFill>
            <a:srgbClr val="4FD0F5"/>
          </a:solidFill>
          <a:ln>
            <a:noFill/>
          </a:ln>
        </p:spPr>
        <p:txBody>
          <a:bodyPr rtlCol="0" anchor="ctr"/>
          <a:lstStyle/>
          <a:p>
            <a:pPr algn="ctr"/>
          </a:p>
        </p:txBody>
      </p:sp>
      <p:sp>
        <p:nvSpPr>
          <p:cNvPr id="17" name="TextBox 16"/>
          <p:cNvSpPr txBox="1"/>
          <p:nvPr/>
        </p:nvSpPr>
        <p:spPr>
          <a:xfrm>
            <a:off x="5047488" y="1371600"/>
            <a:ext cx="1262786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활용 예정 데이터</a:t>
            </a:r>
          </a:p>
        </p:txBody>
      </p:sp>
      <p:sp>
        <p:nvSpPr>
          <p:cNvPr id="18" name="Rounded Rectangle 17"/>
          <p:cNvSpPr/>
          <p:nvPr/>
        </p:nvSpPr>
        <p:spPr>
          <a:xfrm>
            <a:off x="4800600"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19" name="TextBox 18"/>
          <p:cNvSpPr txBox="1"/>
          <p:nvPr/>
        </p:nvSpPr>
        <p:spPr>
          <a:xfrm>
            <a:off x="5074920"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AI Hub 용접 AI 학습 데이터</a:t>
            </a:r>
          </a:p>
        </p:txBody>
      </p:sp>
      <p:sp>
        <p:nvSpPr>
          <p:cNvPr id="20" name="Rounded Rectangle 19"/>
          <p:cNvSpPr/>
          <p:nvPr/>
        </p:nvSpPr>
        <p:spPr>
          <a:xfrm>
            <a:off x="5074920"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AI Hub 71761 · NIA 2023</a:t>
            </a:r>
          </a:p>
        </p:txBody>
      </p:sp>
      <p:sp>
        <p:nvSpPr>
          <p:cNvPr id="21" name="TextBox 20"/>
          <p:cNvSpPr txBox="1"/>
          <p:nvPr/>
        </p:nvSpPr>
        <p:spPr>
          <a:xfrm>
            <a:off x="5074920"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「창원 지역 특화산업 고도화 및 디지털 전환 촉진을 위한 용접 AI 학습 데이터」 — 강재(RT·VT)·알루미늄(RT) 용접 사진 144,019장(RT 70,000장; 활용 신청 시 페이지에서 확인한 수치), 결함 영역 폴리곤 라벨(JSON), 공식 예시 모델 YOLOv5x-seg</a:t>
            </a:r>
          </a:p>
        </p:txBody>
      </p:sp>
      <p:sp>
        <p:nvSpPr>
          <p:cNvPr id="22" name="Rounded Rectangle 21"/>
          <p:cNvSpPr/>
          <p:nvPr/>
        </p:nvSpPr>
        <p:spPr>
          <a:xfrm>
            <a:off x="5074920"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주력 학습</a:t>
            </a:r>
          </a:p>
        </p:txBody>
      </p:sp>
      <p:sp>
        <p:nvSpPr>
          <p:cNvPr id="23" name="Rounded Rectangle 22"/>
          <p:cNvSpPr/>
          <p:nvPr/>
        </p:nvSpPr>
        <p:spPr>
          <a:xfrm>
            <a:off x="9183624"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24" name="TextBox 23"/>
          <p:cNvSpPr txBox="1"/>
          <p:nvPr/>
        </p:nvSpPr>
        <p:spPr>
          <a:xfrm>
            <a:off x="9457944"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RIAWELC</a:t>
            </a:r>
          </a:p>
        </p:txBody>
      </p:sp>
      <p:sp>
        <p:nvSpPr>
          <p:cNvPr id="25" name="Rounded Rectangle 24"/>
          <p:cNvSpPr/>
          <p:nvPr/>
        </p:nvSpPr>
        <p:spPr>
          <a:xfrm>
            <a:off x="9457944"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GitHub 공개 · Perri 외 2022</a:t>
            </a:r>
          </a:p>
        </p:txBody>
      </p:sp>
      <p:sp>
        <p:nvSpPr>
          <p:cNvPr id="26" name="TextBox 25"/>
          <p:cNvSpPr txBox="1"/>
          <p:nvPr/>
        </p:nvSpPr>
        <p:spPr>
          <a:xfrm>
            <a:off x="9457944"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224×224(공칭) 조각 사진 24,407장 · 4종 분류(균열 7,635 · 기공 6,320 · 용입부족 4,452 · 정상 6,000 — 종류 이름 대응은 문헌 기준, 원저자 확인 예정) — 결함 위치 박스 없음, 2000×8640 산업 원본에서 잘라낸 조각, 라이선스 파일 없음(논문 인용 의무)</a:t>
            </a:r>
          </a:p>
        </p:txBody>
      </p:sp>
      <p:sp>
        <p:nvSpPr>
          <p:cNvPr id="27" name="Rounded Rectangle 26"/>
          <p:cNvSpPr/>
          <p:nvPr/>
        </p:nvSpPr>
        <p:spPr>
          <a:xfrm>
            <a:off x="9457944"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사전학습·분류 검증</a:t>
            </a:r>
          </a:p>
        </p:txBody>
      </p:sp>
      <p:sp>
        <p:nvSpPr>
          <p:cNvPr id="28" name="Rounded Rectangle 27"/>
          <p:cNvSpPr/>
          <p:nvPr/>
        </p:nvSpPr>
        <p:spPr>
          <a:xfrm>
            <a:off x="13566648"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29" name="TextBox 28"/>
          <p:cNvSpPr txBox="1"/>
          <p:nvPr/>
        </p:nvSpPr>
        <p:spPr>
          <a:xfrm>
            <a:off x="13840968"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GDXray Welds</a:t>
            </a:r>
          </a:p>
        </p:txBody>
      </p:sp>
      <p:sp>
        <p:nvSpPr>
          <p:cNvPr id="30" name="Rounded Rectangle 29"/>
          <p:cNvSpPr/>
          <p:nvPr/>
        </p:nvSpPr>
        <p:spPr>
          <a:xfrm>
            <a:off x="13840968"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Mery 외 2015 · BAM 제공</a:t>
            </a:r>
          </a:p>
        </p:txBody>
      </p:sp>
      <p:sp>
        <p:nvSpPr>
          <p:cNvPr id="31" name="TextBox 30"/>
          <p:cNvSpPr txBox="1"/>
          <p:nvPr/>
        </p:nvSpPr>
        <p:spPr>
          <a:xfrm>
            <a:off x="13840968"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3시리즈 88장 — W0001 10장 + W0002 정답 마스크(결함 641개 박스·이진 GT), W0003 BAM 라운드로빈 필름 68장(논문 표 기준, 본문은 67장; ISO 17636-1 A급 촬영, ISO 14096-2 DB급 스캔) · 연구·교육 목적만</a:t>
            </a:r>
          </a:p>
        </p:txBody>
      </p:sp>
      <p:sp>
        <p:nvSpPr>
          <p:cNvPr id="32" name="Rounded Rectangle 31"/>
          <p:cNvSpPr/>
          <p:nvPr/>
        </p:nvSpPr>
        <p:spPr>
          <a:xfrm>
            <a:off x="13840968"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탐지 교차 검증</a:t>
            </a:r>
          </a:p>
        </p:txBody>
      </p:sp>
      <p:sp>
        <p:nvSpPr>
          <p:cNvPr id="33" name="TextBox 32"/>
          <p:cNvSpPr txBox="1"/>
          <p:nvPr/>
        </p:nvSpPr>
        <p:spPr>
          <a:xfrm>
            <a:off x="4800600" y="4572000"/>
            <a:ext cx="12874752" cy="566928"/>
          </a:xfrm>
          <a:prstGeom prst="rect">
            <a:avLst/>
          </a:prstGeom>
          <a:noFill/>
        </p:spPr>
        <p:txBody>
          <a:bodyPr wrap="square" anchor="t" lIns="0" rIns="0" tIns="0" bIns="0">
            <a:spAutoFit/>
          </a:bodyPr>
          <a:lstStyle/>
          <a:p>
            <a:pPr algn="l">
              <a:lnSpc>
                <a:spcPct val="108000"/>
              </a:lnSpc>
            </a:pPr>
            <a:r>
              <a:rPr sz="1050" b="0" i="0">
                <a:solidFill>
                  <a:srgbClr val="5B6B8C"/>
                </a:solidFill>
                <a:latin typeface="Pretendard"/>
                <a:ea typeface="Pretendard"/>
                <a:cs typeface="Pretendard"/>
              </a:rPr>
              <a:t>3종 모두 실존 확인(수치는 논문·README·신청 확인 기준). AI Hub 폴리곤 라벨은 YOLO 박스로 변환, RIAWELC는 위치 정보가 없어 분류 사전학습에만 사용. AI Hub는 내국인 활용 신청·승인 필요·국외 반출 금지·NIA 출처 표기 의무, GDXray는 상업 이용 금지, RIAWELC는 공개 분할에 학습·테스트 중복이 있어 자체 재분할</a:t>
            </a:r>
          </a:p>
        </p:txBody>
      </p:sp>
      <p:sp>
        <p:nvSpPr>
          <p:cNvPr id="34" name="Rounded Rectangle 33"/>
          <p:cNvSpPr/>
          <p:nvPr/>
        </p:nvSpPr>
        <p:spPr>
          <a:xfrm>
            <a:off x="4800600" y="5212080"/>
            <a:ext cx="6400800" cy="4041647"/>
          </a:xfrm>
          <a:prstGeom prst="roundRect">
            <a:avLst>
              <a:gd name="adj" fmla="val 3500"/>
            </a:avLst>
          </a:prstGeom>
          <a:solidFill>
            <a:srgbClr val="FFFFFF"/>
          </a:solidFill>
          <a:ln w="9525">
            <a:solidFill>
              <a:srgbClr val="D9E0EC"/>
            </a:solidFill>
          </a:ln>
        </p:spPr>
        <p:txBody>
          <a:bodyPr rtlCol="0" anchor="ctr"/>
          <a:lstStyle/>
          <a:p/>
        </p:txBody>
      </p:sp>
      <p:sp>
        <p:nvSpPr>
          <p:cNvPr id="35" name="Oval 34"/>
          <p:cNvSpPr/>
          <p:nvPr/>
        </p:nvSpPr>
        <p:spPr>
          <a:xfrm>
            <a:off x="5120640" y="5586984"/>
            <a:ext cx="146304" cy="146304"/>
          </a:xfrm>
          <a:prstGeom prst="ellipse">
            <a:avLst/>
          </a:prstGeom>
          <a:solidFill>
            <a:srgbClr val="4FD0F5"/>
          </a:solidFill>
          <a:ln>
            <a:noFill/>
          </a:ln>
        </p:spPr>
        <p:txBody>
          <a:bodyPr rtlCol="0" anchor="ctr"/>
          <a:lstStyle/>
          <a:p>
            <a:pPr algn="ctr"/>
          </a:p>
        </p:txBody>
      </p:sp>
      <p:sp>
        <p:nvSpPr>
          <p:cNvPr id="36" name="TextBox 35"/>
          <p:cNvSpPr txBox="1"/>
          <p:nvPr/>
        </p:nvSpPr>
        <p:spPr>
          <a:xfrm>
            <a:off x="5367527" y="5486400"/>
            <a:ext cx="5513831"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확보 방법</a:t>
            </a:r>
          </a:p>
        </p:txBody>
      </p:sp>
      <p:sp>
        <p:nvSpPr>
          <p:cNvPr id="37" name="TextBox 36"/>
          <p:cNvSpPr txBox="1"/>
          <p:nvPr/>
        </p:nvSpPr>
        <p:spPr>
          <a:xfrm>
            <a:off x="5120640" y="6080760"/>
            <a:ext cx="5760720" cy="3035807"/>
          </a:xfrm>
          <a:prstGeom prst="rect">
            <a:avLst/>
          </a:prstGeom>
          <a:noFill/>
        </p:spPr>
        <p:txBody>
          <a:bodyPr wrap="square" anchor="t" lIns="0" rIns="0" tIns="0" bIns="0">
            <a:spAutoFit/>
          </a:bodyPr>
          <a:lstStyle/>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공개 데이터</a:t>
            </a:r>
            <a:r>
              <a:rPr sz="1250" b="0" i="0">
                <a:solidFill>
                  <a:srgbClr val="1F2A44"/>
                </a:solidFill>
                <a:latin typeface="Pretendard"/>
                <a:ea typeface="Pretendard"/>
                <a:cs typeface="Pretendard"/>
              </a:rPr>
              <a:t>: AI Hub 활용 신청(내국인·승인 수일) — 일부 검색 결과는 이 데이터셋을 국방데이터로 분류해 군 담당자 별도 승인이 필요하다고 언급하므로 </a:t>
            </a:r>
            <a:r>
              <a:rPr sz="1250" b="1" i="0">
                <a:solidFill>
                  <a:srgbClr val="1F2A44"/>
                </a:solidFill>
                <a:latin typeface="Pretendard"/>
                <a:ea typeface="Pretendard"/>
                <a:cs typeface="Pretendard"/>
              </a:rPr>
              <a:t>신청 시 접근 가능 여부를 최우선 확인</a:t>
            </a:r>
            <a:r>
              <a:rPr sz="1250" b="0" i="0">
                <a:solidFill>
                  <a:srgbClr val="1F2A44"/>
                </a:solidFill>
                <a:latin typeface="Pretendard"/>
                <a:ea typeface="Pretendard"/>
                <a:cs typeface="Pretendard"/>
              </a:rPr>
              <a:t>(불가 시 RIAWELC+GDXray+SWRD로 전환). RIAWELC·GDXray는 직접 다운로드</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합성 데이터</a:t>
            </a:r>
            <a:r>
              <a:rPr sz="1250" b="0" i="0">
                <a:solidFill>
                  <a:srgbClr val="1F2A44"/>
                </a:solidFill>
                <a:latin typeface="Pretendard"/>
                <a:ea typeface="Pretendard"/>
                <a:cs typeface="Pretendard"/>
              </a:rPr>
              <a:t>: 개발·시연용 합성 RT 필름 생성기(IQI·납마커·결함 심기) — 프로토타입에 포함, 검출률·오탐 측정에 사용</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자체 축적</a:t>
            </a:r>
            <a:r>
              <a:rPr sz="1250" b="0" i="0">
                <a:solidFill>
                  <a:srgbClr val="1F2A44"/>
                </a:solidFill>
                <a:latin typeface="Pretendard"/>
                <a:ea typeface="Pretendard"/>
                <a:cs typeface="Pretendard"/>
              </a:rPr>
              <a:t>: 채택·직접 추가한 결함 박스가 학습 라벨로 내보내지는 구조 — 데이터는 검사업체·조선소 소유, 반출 없이 사내 보관</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필름 스캔 전제</a:t>
            </a:r>
            <a:r>
              <a:rPr sz="1250" b="0" i="0">
                <a:solidFill>
                  <a:srgbClr val="1F2A44"/>
                </a:solidFill>
                <a:latin typeface="Pretendard"/>
                <a:ea typeface="Pretendard"/>
                <a:cs typeface="Pretendard"/>
              </a:rPr>
              <a:t>: ISO 14096-2 등급(DS/DB/DA) 디지타이저는 3만 달러급 장비(VIDAR NDT PRO 리셀러 가격 기준[8]) → 조직 공용 장비 또는 국내 RT 필름 스캔 서비스로 확보</a:t>
            </a:r>
          </a:p>
        </p:txBody>
      </p:sp>
      <p:sp>
        <p:nvSpPr>
          <p:cNvPr id="38" name="Rounded Rectangle 37"/>
          <p:cNvSpPr/>
          <p:nvPr/>
        </p:nvSpPr>
        <p:spPr>
          <a:xfrm>
            <a:off x="11475720" y="5212080"/>
            <a:ext cx="6199631" cy="4041647"/>
          </a:xfrm>
          <a:prstGeom prst="roundRect">
            <a:avLst>
              <a:gd name="adj" fmla="val 3500"/>
            </a:avLst>
          </a:prstGeom>
          <a:solidFill>
            <a:srgbClr val="FFFFFF"/>
          </a:solidFill>
          <a:ln w="9525">
            <a:solidFill>
              <a:srgbClr val="D9E0EC"/>
            </a:solidFill>
          </a:ln>
        </p:spPr>
        <p:txBody>
          <a:bodyPr rtlCol="0" anchor="ctr"/>
          <a:lstStyle/>
          <a:p/>
        </p:txBody>
      </p:sp>
      <p:sp>
        <p:nvSpPr>
          <p:cNvPr id="39" name="Oval 38"/>
          <p:cNvSpPr/>
          <p:nvPr/>
        </p:nvSpPr>
        <p:spPr>
          <a:xfrm>
            <a:off x="11795760" y="5586984"/>
            <a:ext cx="146304" cy="146304"/>
          </a:xfrm>
          <a:prstGeom prst="ellipse">
            <a:avLst/>
          </a:prstGeom>
          <a:solidFill>
            <a:srgbClr val="4FD0F5"/>
          </a:solidFill>
          <a:ln>
            <a:noFill/>
          </a:ln>
        </p:spPr>
        <p:txBody>
          <a:bodyPr rtlCol="0" anchor="ctr"/>
          <a:lstStyle/>
          <a:p>
            <a:pPr algn="ctr"/>
          </a:p>
        </p:txBody>
      </p:sp>
      <p:sp>
        <p:nvSpPr>
          <p:cNvPr id="40" name="TextBox 39"/>
          <p:cNvSpPr txBox="1"/>
          <p:nvPr/>
        </p:nvSpPr>
        <p:spPr>
          <a:xfrm>
            <a:off x="12042648" y="5486400"/>
            <a:ext cx="531266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대체 방안</a:t>
            </a:r>
          </a:p>
        </p:txBody>
      </p:sp>
      <p:sp>
        <p:nvSpPr>
          <p:cNvPr id="41" name="TextBox 40"/>
          <p:cNvSpPr txBox="1"/>
          <p:nvPr/>
        </p:nvSpPr>
        <p:spPr>
          <a:xfrm>
            <a:off x="11795760" y="6080760"/>
            <a:ext cx="5559551" cy="3035807"/>
          </a:xfrm>
          <a:prstGeom prst="rect">
            <a:avLst/>
          </a:prstGeom>
          <a:noFill/>
        </p:spPr>
        <p:txBody>
          <a:bodyPr wrap="square" anchor="t" lIns="0" rIns="0" tIns="0" bIns="0">
            <a:spAutoFit/>
          </a:bodyPr>
          <a:lstStyle/>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AI Hub 승인 지연·제공 제한 시 </a:t>
            </a:r>
            <a:r>
              <a:rPr sz="1250" b="1" i="0">
                <a:solidFill>
                  <a:srgbClr val="1F2A44"/>
                </a:solidFill>
                <a:latin typeface="Pretendard"/>
                <a:ea typeface="Pretendard"/>
                <a:cs typeface="Pretendard"/>
              </a:rPr>
              <a:t>RIAWELC 사전학습 + GDXray W0001·W0002(결함 641개 박스+GT) 탐지 검증</a:t>
            </a:r>
            <a:r>
              <a:rPr sz="1250" b="0" i="0">
                <a:solidFill>
                  <a:srgbClr val="1F2A44"/>
                </a:solidFill>
                <a:latin typeface="Pretendard"/>
                <a:ea typeface="Pretendard"/>
                <a:cs typeface="Pretendard"/>
              </a:rPr>
              <a:t>으로 대체 — 분류→탐지 전이의 한계는 수치로 공개. 폴리곤 라벨 공개 데이터 SWRD(2025, 3,600장 이상)[7]도 후보(라이선스 확인 후)</a:t>
            </a:r>
          </a:p>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실제 조선소 필름은 보안 통제로 기간 내 확보 곤란 → 공개 데이터 + 합성 필름으로 시연하고 </a:t>
            </a:r>
            <a:r>
              <a:rPr sz="1250" b="1" i="0">
                <a:solidFill>
                  <a:srgbClr val="1F2A44"/>
                </a:solidFill>
                <a:latin typeface="Pretendard"/>
                <a:ea typeface="Pretendard"/>
                <a:cs typeface="Pretendard"/>
              </a:rPr>
              <a:t>야드 파일럿 필요를 명시</a:t>
            </a:r>
          </a:p>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성능 목표는 </a:t>
            </a:r>
            <a:r>
              <a:rPr sz="1250" b="1" i="0">
                <a:solidFill>
                  <a:srgbClr val="1F2A44"/>
                </a:solidFill>
                <a:latin typeface="Pretendard"/>
                <a:ea typeface="Pretendard"/>
                <a:cs typeface="Pretendard"/>
              </a:rPr>
              <a:t>검출률(재현율) 우선</a:t>
            </a:r>
            <a:r>
              <a:rPr sz="1250" b="0" i="0">
                <a:solidFill>
                  <a:srgbClr val="1F2A44"/>
                </a:solidFill>
                <a:latin typeface="Pretendard"/>
                <a:ea typeface="Pretendard"/>
                <a:cs typeface="Pretendard"/>
              </a:rPr>
              <a:t>: 채택 운영점에서 검출률 ≥ 95%·장당 오탐 ≤ 5건(AI Hub RT 테스트셋), mAP는 보조 지표. 문헌은 정제셋 mAP@0.5 약 93~97%[6][7], 강관 X-ray 세트는 99%[7]까지 보고하지만 데이터셋 간 제로샷 전이는 macro-F1 약 64%로 급락[4] → </a:t>
            </a:r>
            <a:r>
              <a:rPr sz="1250" b="1" i="0">
                <a:solidFill>
                  <a:srgbClr val="1F2A44"/>
                </a:solidFill>
                <a:latin typeface="Pretendard"/>
                <a:ea typeface="Pretendard"/>
                <a:cs typeface="Pretendard"/>
              </a:rPr>
              <a:t>한계까지 측정·공개</a:t>
            </a:r>
          </a:p>
        </p:txBody>
      </p:sp>
      <p:sp>
        <p:nvSpPr>
          <p:cNvPr id="42" name="TextBox 41"/>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참고  [1] Mery 외, J Nondestruct Eval 34:42(2015)  ·  [2] RIAWELC GitHub README · Totino·Spagnolo·Perri 2022/2023  ·  [3] AI Hub 71761 활용 신청 확인 자료·이용정책†  ·  [4] WeldVGG, Sensors 25(19):6183(2025)  ·  [5] Palma-Ramírez 외, Heliyon 2024 e30590(정확도 98.75/90.3/75.8%)  ·  [6] Lu 외, J Nondestruct Eval 44:91(2025, GDXray mAP@0.5 97.2%)  ·  [7] MGDR-YOLO, Sensors 2026 · DSF-YOLO, Sci Rep 2025 · SWRD, J Nondestruct Eval 2025  ·  [8] ISO 14096-2 · VIDAR NDT PRO 리셀러 가격†  ·  † 검색 요약 기준</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05619"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05</a:t>
            </a:r>
            <a:endParaRPr lang="en-US" sz="4950" dirty="0"/>
          </a:p>
        </p:txBody>
      </p:sp>
      <p:sp>
        <p:nvSpPr>
          <p:cNvPr id="4" name="Shape 2"/>
          <p:cNvSpPr/>
          <p:nvPr/>
        </p:nvSpPr>
        <p:spPr>
          <a:xfrm>
            <a:off x="1629519"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예상 효과</a:t>
            </a:r>
            <a:endParaRPr lang="en-US" sz="3450" dirty="0"/>
          </a:p>
        </p:txBody>
      </p:sp>
      <p:sp>
        <p:nvSpPr>
          <p:cNvPr id="6" name="Shape 4"/>
          <p:cNvSpPr/>
          <p:nvPr/>
        </p:nvSpPr>
        <p:spPr>
          <a:xfrm>
            <a:off x="571500" y="25010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7868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산업적 효과</a:t>
            </a:r>
            <a:endParaRPr lang="en-US" sz="2025" dirty="0"/>
          </a:p>
        </p:txBody>
      </p:sp>
      <p:sp>
        <p:nvSpPr>
          <p:cNvPr id="8" name="Text 6"/>
          <p:cNvSpPr/>
          <p:nvPr/>
        </p:nvSpPr>
        <p:spPr>
          <a:xfrm>
            <a:off x="571500" y="3177332"/>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조선산업 현장에 적용되었을 때 기대되는 효과</a:t>
            </a:r>
            <a:endParaRPr lang="en-US" sz="1800" dirty="0"/>
          </a:p>
        </p:txBody>
      </p:sp>
      <p:sp>
        <p:nvSpPr>
          <p:cNvPr id="9" name="Text 7"/>
          <p:cNvSpPr/>
          <p:nvPr/>
        </p:nvSpPr>
        <p:spPr>
          <a:xfrm>
            <a:off x="571500" y="408786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정량 지표</a:t>
            </a:r>
            <a:endParaRPr lang="en-US" sz="2025" dirty="0"/>
          </a:p>
        </p:txBody>
      </p:sp>
      <p:sp>
        <p:nvSpPr>
          <p:cNvPr id="10" name="Text 8"/>
          <p:cNvSpPr/>
          <p:nvPr/>
        </p:nvSpPr>
        <p:spPr>
          <a:xfrm>
            <a:off x="571500" y="4478387"/>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가능한 경우 수치(시간 절감, 오류율 감소 등)로 제시</a:t>
            </a:r>
            <a:endParaRPr lang="en-US" sz="1800" dirty="0"/>
          </a:p>
        </p:txBody>
      </p:sp>
      <p:sp>
        <p:nvSpPr>
          <p:cNvPr id="11" name="Text 9"/>
          <p:cNvSpPr/>
          <p:nvPr/>
        </p:nvSpPr>
        <p:spPr>
          <a:xfrm>
            <a:off x="571500" y="538891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확장 가능성</a:t>
            </a:r>
            <a:endParaRPr lang="en-US" sz="2025" dirty="0"/>
          </a:p>
        </p:txBody>
      </p:sp>
      <p:sp>
        <p:nvSpPr>
          <p:cNvPr id="12" name="Text 10"/>
          <p:cNvSpPr/>
          <p:nvPr/>
        </p:nvSpPr>
        <p:spPr>
          <a:xfrm>
            <a:off x="571500" y="577944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타 공정·타 산업으로의 확장 또는 고도화 방향</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2575" y="571500"/>
            <a:ext cx="2811408"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06</a:t>
            </a:r>
            <a:endParaRPr lang="en-US" sz="1950" dirty="0"/>
          </a:p>
        </p:txBody>
      </p:sp>
      <p:sp>
        <p:nvSpPr>
          <p:cNvPr id="16" name="Rounded Rectangle 15"/>
          <p:cNvSpPr/>
          <p:nvPr/>
        </p:nvSpPr>
        <p:spPr>
          <a:xfrm>
            <a:off x="4800600" y="1371600"/>
            <a:ext cx="6903720" cy="4160520"/>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45920"/>
            <a:ext cx="601675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산업적 효과</a:t>
            </a:r>
          </a:p>
        </p:txBody>
      </p:sp>
      <p:sp>
        <p:nvSpPr>
          <p:cNvPr id="19" name="TextBox 18"/>
          <p:cNvSpPr txBox="1"/>
          <p:nvPr/>
        </p:nvSpPr>
        <p:spPr>
          <a:xfrm>
            <a:off x="5120640" y="2240280"/>
            <a:ext cx="6263640" cy="3154679"/>
          </a:xfrm>
          <a:prstGeom prst="rect">
            <a:avLst/>
          </a:prstGeom>
          <a:noFill/>
        </p:spPr>
        <p:txBody>
          <a:bodyPr wrap="square" anchor="t" lIns="0" rIns="0" tIns="0" bIns="0">
            <a:spAutoFit/>
          </a:bodyPr>
          <a:lstStyle/>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판독원의 </a:t>
            </a:r>
            <a:r>
              <a:rPr sz="1320" b="1" i="0">
                <a:solidFill>
                  <a:srgbClr val="1F2A44"/>
                </a:solidFill>
                <a:latin typeface="Pretendard"/>
                <a:ea typeface="Pretendard"/>
                <a:cs typeface="Pretendard"/>
              </a:rPr>
              <a:t>문서·서류 검색 노동 제거</a:t>
            </a:r>
            <a:r>
              <a:rPr sz="1320" b="0" i="0">
                <a:solidFill>
                  <a:srgbClr val="1F2A44"/>
                </a:solidFill>
                <a:latin typeface="Pretendard"/>
                <a:ea typeface="Pretendard"/>
                <a:cs typeface="Pretendard"/>
              </a:rPr>
              <a:t> → 자격자가 판독에 집중. 인력이 줄어드는 국면[2][3]에서 1인당 처리량 향상 — 앱이 기록하는 소요시간과 수기 기준선으로 실측</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검사 기록의 </a:t>
            </a:r>
            <a:r>
              <a:rPr sz="1320" b="1" i="0">
                <a:solidFill>
                  <a:srgbClr val="1F2A44"/>
                </a:solidFill>
                <a:latin typeface="Pretendard"/>
                <a:ea typeface="Pretendard"/>
                <a:cs typeface="Pretendard"/>
              </a:rPr>
              <a:t>디지털 자산화</a:t>
            </a:r>
            <a:r>
              <a:rPr sz="1320" b="0" i="0">
                <a:solidFill>
                  <a:srgbClr val="1F2A44"/>
                </a:solidFill>
                <a:latin typeface="Pretendard"/>
                <a:ea typeface="Pretendard"/>
                <a:cs typeface="Pretendard"/>
              </a:rPr>
              <a:t>: 선급 규칙(IACS UR W33 §8)의 보고 항목(일반 13·RT 12)을 검사 컨텍스트 필드와 전용 입력 필드 25개로 모두 수용해 구조화 저장·PDF 기재(입력 커버리지 n/25 표시, W33 원문 항목명 병기). 조건 검색(블록·용접부·유형·합부·기간)과 CSV 반출은 요약 열 기준 → 선주·선급 요청 시 서류 수색을 조회로 대체</a:t>
            </a:r>
          </a:p>
          <a:p>
            <a:pPr marL="192785" indent="-192785">
              <a:lnSpc>
                <a:spcPct val="114000"/>
              </a:lnSpc>
              <a:spcAft>
                <a:spcPts val="900"/>
              </a:spcAft>
              <a:buClr>
                <a:srgbClr val="4FD0F5"/>
              </a:buClr>
              <a:buFont typeface="Arial"/>
              <a:buChar char="•"/>
            </a:pPr>
            <a:r>
              <a:rPr sz="1320" b="1" i="0">
                <a:solidFill>
                  <a:srgbClr val="1F2A44"/>
                </a:solidFill>
                <a:latin typeface="Pretendard"/>
                <a:ea typeface="Pretendard"/>
                <a:cs typeface="Pretendard"/>
              </a:rPr>
              <a:t>2028.01 시행 IACS 신규칙의 100mm 판독 단위를 이미 기본값으로 구현</a:t>
            </a:r>
            <a:r>
              <a:rPr sz="1320" b="0" i="0">
                <a:solidFill>
                  <a:srgbClr val="1F2A44"/>
                </a:solidFill>
                <a:latin typeface="Pretendard"/>
                <a:ea typeface="Pretendard"/>
                <a:cs typeface="Pretendard"/>
              </a:rPr>
              <a:t>[1] — 규칙이 바뀌기 전에 준비된 판정 엔진. 필름 스캔과 디지털 사진이 같은 파이프라인이라 과도기 양쪽에 적용</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도입 2경로: ① 검사업체의 생산성 도구 ② 조선소 품질부서의 보고서 표준화·기록 발주 — 어느 쪽도 클라우드 반출 없이 사내 설치</a:t>
            </a:r>
          </a:p>
        </p:txBody>
      </p:sp>
      <p:sp>
        <p:nvSpPr>
          <p:cNvPr id="20" name="Rounded Rectangle 19"/>
          <p:cNvSpPr/>
          <p:nvPr/>
        </p:nvSpPr>
        <p:spPr>
          <a:xfrm>
            <a:off x="11978640" y="1371600"/>
            <a:ext cx="5696711" cy="4160520"/>
          </a:xfrm>
          <a:prstGeom prst="roundRect">
            <a:avLst>
              <a:gd name="adj" fmla="val 3500"/>
            </a:avLst>
          </a:prstGeom>
          <a:solidFill>
            <a:srgbClr val="FFFFFF"/>
          </a:solidFill>
          <a:ln w="9525">
            <a:solidFill>
              <a:srgbClr val="D9E0EC"/>
            </a:solidFill>
          </a:ln>
        </p:spPr>
        <p:txBody>
          <a:bodyPr rtlCol="0" anchor="ctr"/>
          <a:lstStyle/>
          <a:p/>
        </p:txBody>
      </p:sp>
      <p:sp>
        <p:nvSpPr>
          <p:cNvPr id="21" name="Oval 20"/>
          <p:cNvSpPr/>
          <p:nvPr/>
        </p:nvSpPr>
        <p:spPr>
          <a:xfrm>
            <a:off x="12298680" y="1746504"/>
            <a:ext cx="146304" cy="146304"/>
          </a:xfrm>
          <a:prstGeom prst="ellipse">
            <a:avLst/>
          </a:prstGeom>
          <a:solidFill>
            <a:srgbClr val="4FD0F5"/>
          </a:solidFill>
          <a:ln>
            <a:noFill/>
          </a:ln>
        </p:spPr>
        <p:txBody>
          <a:bodyPr rtlCol="0" anchor="ctr"/>
          <a:lstStyle/>
          <a:p>
            <a:pPr algn="ctr"/>
          </a:p>
        </p:txBody>
      </p:sp>
      <p:sp>
        <p:nvSpPr>
          <p:cNvPr id="22" name="TextBox 21"/>
          <p:cNvSpPr txBox="1"/>
          <p:nvPr/>
        </p:nvSpPr>
        <p:spPr>
          <a:xfrm>
            <a:off x="12545568" y="1645920"/>
            <a:ext cx="480974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확장 가능성</a:t>
            </a:r>
          </a:p>
        </p:txBody>
      </p:sp>
      <p:sp>
        <p:nvSpPr>
          <p:cNvPr id="23" name="TextBox 22"/>
          <p:cNvSpPr txBox="1"/>
          <p:nvPr/>
        </p:nvSpPr>
        <p:spPr>
          <a:xfrm>
            <a:off x="12298680" y="2240280"/>
            <a:ext cx="5056631" cy="3154679"/>
          </a:xfrm>
          <a:prstGeom prst="rect">
            <a:avLst/>
          </a:prstGeom>
          <a:noFill/>
        </p:spPr>
        <p:txBody>
          <a:bodyPr wrap="square" anchor="t" lIns="0" rIns="0" tIns="0" bIns="0">
            <a:spAutoFit/>
          </a:bodyPr>
          <a:lstStyle/>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기준표는 데이터(JSON) — </a:t>
            </a:r>
            <a:r>
              <a:rPr sz="1320" b="1" i="0">
                <a:solidFill>
                  <a:srgbClr val="1F2A44"/>
                </a:solidFill>
                <a:latin typeface="Pretendard"/>
                <a:ea typeface="Pretendard"/>
                <a:cs typeface="Pretendard"/>
              </a:rPr>
              <a:t>판정식 3종 구조 안에서는 수치 교체만으로 전환</a:t>
            </a:r>
            <a:r>
              <a:rPr sz="1320" b="0" i="0">
                <a:solidFill>
                  <a:srgbClr val="1F2A44"/>
                </a:solidFill>
                <a:latin typeface="Pretendard"/>
                <a:ea typeface="Pretendard"/>
                <a:cs typeface="Pretendard"/>
              </a:rPr>
              <a:t>(규칙 엔진 코드 무변경), 규격 판본별 JSON을 화면에서 선택</a:t>
            </a:r>
          </a:p>
          <a:p>
            <a:pPr marL="192785" indent="-192785">
              <a:lnSpc>
                <a:spcPct val="114000"/>
              </a:lnSpc>
              <a:spcAft>
                <a:spcPts val="900"/>
              </a:spcAft>
              <a:buClr>
                <a:srgbClr val="4FD0F5"/>
              </a:buClr>
              <a:buFont typeface="Arial"/>
              <a:buChar char="•"/>
            </a:pPr>
            <a:r>
              <a:rPr sz="1320" b="1" i="0">
                <a:solidFill>
                  <a:srgbClr val="1F2A44"/>
                </a:solidFill>
                <a:latin typeface="Pretendard"/>
                <a:ea typeface="Pretendard"/>
                <a:cs typeface="Pretendard"/>
              </a:rPr>
              <a:t>디지털 RT 사진</a:t>
            </a:r>
            <a:r>
              <a:rPr sz="1320" b="0" i="0">
                <a:solidFill>
                  <a:srgbClr val="1F2A44"/>
                </a:solidFill>
                <a:latin typeface="Pretendard"/>
                <a:ea typeface="Pretendard"/>
                <a:cs typeface="Pretendard"/>
              </a:rPr>
              <a:t>은 같은 파이프라인으로 즉시 적용 — IACS UR W34 적용 선박(2021.07 이후 계약)의 검사 흐름에 편입. KR도 2026.06 AI 기반 디지털 선급 협력에 착수[4]. 초음파(UT) 판독은 신호 기반이라 범위 밖</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발전 플랜트 배관·튜브 등 </a:t>
            </a:r>
            <a:r>
              <a:rPr sz="1320" b="1" i="0">
                <a:solidFill>
                  <a:srgbClr val="1F2A44"/>
                </a:solidFill>
                <a:latin typeface="Pretendard"/>
                <a:ea typeface="Pretendard"/>
                <a:cs typeface="Pretendard"/>
              </a:rPr>
              <a:t>RT 판독 직군 공통</a:t>
            </a:r>
            <a:r>
              <a:rPr sz="1320" b="0" i="0">
                <a:solidFill>
                  <a:srgbClr val="1F2A44"/>
                </a:solidFill>
                <a:latin typeface="Pretendard"/>
                <a:ea typeface="Pretendard"/>
                <a:cs typeface="Pretendard"/>
              </a:rPr>
              <a:t> 문제(두산에너빌리티 사례) → 타 산업 전개</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로드맵: 야드 파일럿, 재학습 파이프라인(라벨 검수 큐 포함), DNV-RP-0671(2023)[5] 등 AI 보증 프레임워크 기준의 검증 문서화, 설치형 패키징</a:t>
            </a:r>
          </a:p>
        </p:txBody>
      </p:sp>
      <p:sp>
        <p:nvSpPr>
          <p:cNvPr id="24" name="Oval 23"/>
          <p:cNvSpPr/>
          <p:nvPr/>
        </p:nvSpPr>
        <p:spPr>
          <a:xfrm>
            <a:off x="4800600" y="5952744"/>
            <a:ext cx="146304" cy="146304"/>
          </a:xfrm>
          <a:prstGeom prst="ellipse">
            <a:avLst/>
          </a:prstGeom>
          <a:solidFill>
            <a:srgbClr val="4FD0F5"/>
          </a:solidFill>
          <a:ln>
            <a:noFill/>
          </a:ln>
        </p:spPr>
        <p:txBody>
          <a:bodyPr rtlCol="0" anchor="ctr"/>
          <a:lstStyle/>
          <a:p>
            <a:pPr algn="ctr"/>
          </a:p>
        </p:txBody>
      </p:sp>
      <p:sp>
        <p:nvSpPr>
          <p:cNvPr id="25" name="TextBox 24"/>
          <p:cNvSpPr txBox="1"/>
          <p:nvPr/>
        </p:nvSpPr>
        <p:spPr>
          <a:xfrm>
            <a:off x="5047488" y="5852159"/>
            <a:ext cx="1262786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정량 지표 — 효과(측정 설계)와 검증(현재 수치)을 구분</a:t>
            </a:r>
          </a:p>
        </p:txBody>
      </p:sp>
      <p:sp>
        <p:nvSpPr>
          <p:cNvPr id="26" name="Rounded Rectangle 25"/>
          <p:cNvSpPr/>
          <p:nvPr/>
        </p:nvSpPr>
        <p:spPr>
          <a:xfrm>
            <a:off x="4800600" y="6355079"/>
            <a:ext cx="3026664" cy="2212848"/>
          </a:xfrm>
          <a:prstGeom prst="roundRect">
            <a:avLst>
              <a:gd name="adj" fmla="val 3500"/>
            </a:avLst>
          </a:prstGeom>
          <a:solidFill>
            <a:srgbClr val="FFFFFF"/>
          </a:solidFill>
          <a:ln w="9525">
            <a:solidFill>
              <a:srgbClr val="D9E0EC"/>
            </a:solidFill>
          </a:ln>
        </p:spPr>
        <p:txBody>
          <a:bodyPr rtlCol="0" anchor="ctr"/>
          <a:lstStyle/>
          <a:p/>
        </p:txBody>
      </p:sp>
      <p:sp>
        <p:nvSpPr>
          <p:cNvPr id="27" name="TextBox 26"/>
          <p:cNvSpPr txBox="1"/>
          <p:nvPr/>
        </p:nvSpPr>
        <p:spPr>
          <a:xfrm>
            <a:off x="5074920" y="66111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효과① 보고서 작성 시간</a:t>
            </a:r>
          </a:p>
        </p:txBody>
      </p:sp>
      <p:sp>
        <p:nvSpPr>
          <p:cNvPr id="28" name="TextBox 27"/>
          <p:cNvSpPr txBox="1"/>
          <p:nvPr/>
        </p:nvSpPr>
        <p:spPr>
          <a:xfrm>
            <a:off x="5074920" y="69585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실측 설계</a:t>
            </a:r>
          </a:p>
        </p:txBody>
      </p:sp>
      <p:sp>
        <p:nvSpPr>
          <p:cNvPr id="29" name="TextBox 28"/>
          <p:cNvSpPr txBox="1"/>
          <p:nvPr/>
        </p:nvSpPr>
        <p:spPr>
          <a:xfrm>
            <a:off x="5074920" y="7616951"/>
            <a:ext cx="2478024" cy="841247"/>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앱이 사진 열기→승인 소요시간을 자동 기록(구현 완료). 수기 기준선은 현직 판독원 확인 후 비교 — 미확정 수치는 기재하지 않음</a:t>
            </a:r>
          </a:p>
        </p:txBody>
      </p:sp>
      <p:sp>
        <p:nvSpPr>
          <p:cNvPr id="30" name="Rounded Rectangle 29"/>
          <p:cNvSpPr/>
          <p:nvPr/>
        </p:nvSpPr>
        <p:spPr>
          <a:xfrm>
            <a:off x="8083296" y="6355079"/>
            <a:ext cx="3026664" cy="2212848"/>
          </a:xfrm>
          <a:prstGeom prst="roundRect">
            <a:avLst>
              <a:gd name="adj" fmla="val 3500"/>
            </a:avLst>
          </a:prstGeom>
          <a:solidFill>
            <a:srgbClr val="FFFFFF"/>
          </a:solidFill>
          <a:ln w="9525">
            <a:solidFill>
              <a:srgbClr val="D9E0EC"/>
            </a:solidFill>
          </a:ln>
        </p:spPr>
        <p:txBody>
          <a:bodyPr rtlCol="0" anchor="ctr"/>
          <a:lstStyle/>
          <a:p/>
        </p:txBody>
      </p:sp>
      <p:sp>
        <p:nvSpPr>
          <p:cNvPr id="31" name="TextBox 30"/>
          <p:cNvSpPr txBox="1"/>
          <p:nvPr/>
        </p:nvSpPr>
        <p:spPr>
          <a:xfrm>
            <a:off x="8357616" y="66111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효과② 이력 검색 시간</a:t>
            </a:r>
          </a:p>
        </p:txBody>
      </p:sp>
      <p:sp>
        <p:nvSpPr>
          <p:cNvPr id="32" name="TextBox 31"/>
          <p:cNvSpPr txBox="1"/>
          <p:nvPr/>
        </p:nvSpPr>
        <p:spPr>
          <a:xfrm>
            <a:off x="8357616" y="69585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수색 → 조회</a:t>
            </a:r>
          </a:p>
        </p:txBody>
      </p:sp>
      <p:sp>
        <p:nvSpPr>
          <p:cNvPr id="33" name="TextBox 32"/>
          <p:cNvSpPr txBox="1"/>
          <p:nvPr/>
        </p:nvSpPr>
        <p:spPr>
          <a:xfrm>
            <a:off x="8357616" y="7616951"/>
            <a:ext cx="2478024" cy="841247"/>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블록·용접부·종류·합부·기간 조건 검색 + 말로 검색·요약. 목표: 과거 이력 조회를 서류 수색에서 화면 조회로 — 시연에서 실측</a:t>
            </a:r>
          </a:p>
        </p:txBody>
      </p:sp>
      <p:sp>
        <p:nvSpPr>
          <p:cNvPr id="34" name="Rounded Rectangle 33"/>
          <p:cNvSpPr/>
          <p:nvPr/>
        </p:nvSpPr>
        <p:spPr>
          <a:xfrm>
            <a:off x="11365992" y="6355079"/>
            <a:ext cx="3026664" cy="2212848"/>
          </a:xfrm>
          <a:prstGeom prst="roundRect">
            <a:avLst>
              <a:gd name="adj" fmla="val 3500"/>
            </a:avLst>
          </a:prstGeom>
          <a:solidFill>
            <a:srgbClr val="FFFFFF"/>
          </a:solidFill>
          <a:ln w="9525">
            <a:solidFill>
              <a:srgbClr val="D9E0EC"/>
            </a:solidFill>
          </a:ln>
        </p:spPr>
        <p:txBody>
          <a:bodyPr rtlCol="0" anchor="ctr"/>
          <a:lstStyle/>
          <a:p/>
        </p:txBody>
      </p:sp>
      <p:sp>
        <p:nvSpPr>
          <p:cNvPr id="35" name="TextBox 34"/>
          <p:cNvSpPr txBox="1"/>
          <p:nvPr/>
        </p:nvSpPr>
        <p:spPr>
          <a:xfrm>
            <a:off x="11640312" y="66111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검증① 2차 눈 성능</a:t>
            </a:r>
          </a:p>
        </p:txBody>
      </p:sp>
      <p:sp>
        <p:nvSpPr>
          <p:cNvPr id="36" name="TextBox 35"/>
          <p:cNvSpPr txBox="1"/>
          <p:nvPr/>
        </p:nvSpPr>
        <p:spPr>
          <a:xfrm>
            <a:off x="11640312" y="69585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검출률 ≥ 95%</a:t>
            </a:r>
          </a:p>
        </p:txBody>
      </p:sp>
      <p:sp>
        <p:nvSpPr>
          <p:cNvPr id="37" name="TextBox 36"/>
          <p:cNvSpPr txBox="1"/>
          <p:nvPr/>
        </p:nvSpPr>
        <p:spPr>
          <a:xfrm>
            <a:off x="11640312" y="7616951"/>
            <a:ext cx="2478024" cy="841247"/>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채택 운영점의 검출률·장당 오탐을 함께 공개(AI Hub RT 테스트셋 + GDXray 교차). 현재 폴백 탐지기: 합성 필름 14/14, 장당 오탐 3.8</a:t>
            </a:r>
          </a:p>
        </p:txBody>
      </p:sp>
      <p:sp>
        <p:nvSpPr>
          <p:cNvPr id="38" name="Rounded Rectangle 37"/>
          <p:cNvSpPr/>
          <p:nvPr/>
        </p:nvSpPr>
        <p:spPr>
          <a:xfrm>
            <a:off x="14648688" y="6355079"/>
            <a:ext cx="3026664" cy="2212848"/>
          </a:xfrm>
          <a:prstGeom prst="roundRect">
            <a:avLst>
              <a:gd name="adj" fmla="val 3500"/>
            </a:avLst>
          </a:prstGeom>
          <a:solidFill>
            <a:srgbClr val="FFFFFF"/>
          </a:solidFill>
          <a:ln w="9525">
            <a:solidFill>
              <a:srgbClr val="D9E0EC"/>
            </a:solidFill>
          </a:ln>
        </p:spPr>
        <p:txBody>
          <a:bodyPr rtlCol="0" anchor="ctr"/>
          <a:lstStyle/>
          <a:p/>
        </p:txBody>
      </p:sp>
      <p:sp>
        <p:nvSpPr>
          <p:cNvPr id="39" name="TextBox 38"/>
          <p:cNvSpPr txBox="1"/>
          <p:nvPr/>
        </p:nvSpPr>
        <p:spPr>
          <a:xfrm>
            <a:off x="14923008" y="66111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검증② 프로토타입 품질</a:t>
            </a:r>
          </a:p>
        </p:txBody>
      </p:sp>
      <p:sp>
        <p:nvSpPr>
          <p:cNvPr id="40" name="TextBox 39"/>
          <p:cNvSpPr txBox="1"/>
          <p:nvPr/>
        </p:nvSpPr>
        <p:spPr>
          <a:xfrm>
            <a:off x="14923008" y="69585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테스트 235건</a:t>
            </a:r>
          </a:p>
        </p:txBody>
      </p:sp>
      <p:sp>
        <p:nvSpPr>
          <p:cNvPr id="41" name="TextBox 40"/>
          <p:cNvSpPr txBox="1"/>
          <p:nvPr/>
        </p:nvSpPr>
        <p:spPr>
          <a:xfrm>
            <a:off x="14923008" y="7616951"/>
            <a:ext cx="2478024" cy="841247"/>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자동 테스트 235건 · 합성 필름 전 과정 자동 검증 · 판정 3종·PDF·DB·라벨 내보내기 회귀 테스트. 운영 시 채택률·직접 추가(미탐) 건수 자동 집계</a:t>
            </a:r>
          </a:p>
        </p:txBody>
      </p:sp>
      <p:sp>
        <p:nvSpPr>
          <p:cNvPr id="42" name="TextBox 41"/>
          <p:cNvSpPr txBox="1"/>
          <p:nvPr/>
        </p:nvSpPr>
        <p:spPr>
          <a:xfrm>
            <a:off x="4800600" y="8686800"/>
            <a:ext cx="12874752" cy="457200"/>
          </a:xfrm>
          <a:prstGeom prst="rect">
            <a:avLst/>
          </a:prstGeom>
          <a:noFill/>
        </p:spPr>
        <p:txBody>
          <a:bodyPr wrap="square" anchor="t" lIns="0" rIns="0" tIns="0" bIns="0">
            <a:spAutoFit/>
          </a:bodyPr>
          <a:lstStyle/>
          <a:p>
            <a:pPr algn="l">
              <a:lnSpc>
                <a:spcPct val="110000"/>
              </a:lnSpc>
            </a:pPr>
            <a:r>
              <a:rPr sz="1200" b="0" i="0">
                <a:solidFill>
                  <a:srgbClr val="5B6B8C"/>
                </a:solidFill>
                <a:latin typeface="Pretendard"/>
                <a:ea typeface="Pretendard"/>
                <a:cs typeface="Pretendard"/>
              </a:rPr>
              <a:t>판정 항목마다 허용 한계·근거 조항 번호와 </a:t>
            </a:r>
            <a:r>
              <a:rPr sz="1200" b="1" i="0">
                <a:solidFill>
                  <a:srgbClr val="5B6B8C"/>
                </a:solidFill>
                <a:latin typeface="Pretendard"/>
                <a:ea typeface="Pretendard"/>
                <a:cs typeface="Pretendard"/>
              </a:rPr>
              <a:t>적용 기준표 이름·판본</a:t>
            </a:r>
            <a:r>
              <a:rPr sz="1200" b="0" i="0">
                <a:solidFill>
                  <a:srgbClr val="5B6B8C"/>
                </a:solidFill>
                <a:latin typeface="Pretendard"/>
                <a:ea typeface="Pretendard"/>
                <a:cs typeface="Pretendard"/>
              </a:rPr>
              <a:t>이 판정표·PDF·기록에 자동 기재되고, 판본을 바꾸면 재판정이 강제된다 → 판정 근거 누락을 구조적으로 방지(현재는 데모 기준표, 선급 지침 확정 후 JSON 교체)</a:t>
            </a:r>
          </a:p>
        </p:txBody>
      </p:sp>
      <p:sp>
        <p:nvSpPr>
          <p:cNvPr id="43" name="TextBox 42"/>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참고  [1] IACS UR W33 Rev.2·W34 Rev.1(2026.07.15 승인, 2028.01.01 이후 건조계약분)  ·  [2] 두산에너빌리티 2026.03 전시 인터뷰(위키리크스한국)†  ·  [3] 가스신문 2025.09.18†  ·  [4] KR×Microsoft AI 협력 보도(2026.06)†  ·  [5] DNV-RP-0671(2023.09)  ·  효과 지표는 측정 설계이며 확정 수치 아님  ·  † 검색 요약 기준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327</Words>
  <Application>Microsoft Office PowerPoint</Application>
  <PresentationFormat>사용자 지정</PresentationFormat>
  <Paragraphs>77</Paragraphs>
  <Slides>6</Slides>
  <Notes>6</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6</vt:i4>
      </vt:variant>
    </vt:vector>
  </HeadingPairs>
  <TitlesOfParts>
    <vt:vector size="9" baseType="lpstr">
      <vt:lpstr>Pretendard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안 성민</cp:lastModifiedBy>
  <cp:revision>2</cp:revision>
  <dcterms:created xsi:type="dcterms:W3CDTF">2026-08-11T00:19:57Z</dcterms:created>
  <dcterms:modified xsi:type="dcterms:W3CDTF">2026-08-11T01:19:30Z</dcterms:modified>
</cp:coreProperties>
</file>