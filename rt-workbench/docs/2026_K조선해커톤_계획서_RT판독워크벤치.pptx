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240" userDrawn="1">
          <p15:clr>
            <a:srgbClr val="A4A3A4"/>
          </p15:clr>
        </p15:guide>
        <p15:guide id="2" pos="57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2" d="100"/>
          <a:sy n="72" d="100"/>
        </p:scale>
        <p:origin x="576" y="66"/>
      </p:cViewPr>
      <p:guideLst>
        <p:guide orient="horz" pos="3240"/>
        <p:guide pos="57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15829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 정보를 채워 제출합니다.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 인식 배경과 목표를 구체적으로.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아이디어 개요와 적용 기술, 차별점.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MVP 기능, 범위, 역할, 시연 시나리오.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데이터 유형, 확보 경로, 대체 방안.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산업적 효과와 정량 지표, 확장 가능성.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12489F">
                  <a:alpha val="100000"/>
                </a:srgbClr>
              </a:gs>
              <a:gs pos="42000">
                <a:srgbClr val="0B2A6B">
                  <a:alpha val="100000"/>
                </a:srgbClr>
              </a:gs>
              <a:gs pos="100000">
                <a:srgbClr val="061532">
                  <a:alpha val="100000"/>
                </a:srgbClr>
              </a:gs>
            </a:gsLst>
            <a:path path="circle">
              <a:fillToRect l="78000" t="18000" r="22000" b="82000"/>
            </a:path>
          </a:gra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143000" y="3167063"/>
            <a:ext cx="609600" cy="38100"/>
          </a:xfrm>
          <a:prstGeom prst="rect">
            <a:avLst/>
          </a:prstGeom>
          <a:solidFill>
            <a:srgbClr val="4FD0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962150" y="2995613"/>
            <a:ext cx="1163241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kern="0" spc="561" dirty="0">
                <a:solidFill>
                  <a:srgbClr val="7FD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1143000" y="3700463"/>
            <a:ext cx="17602200" cy="1466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227"/>
              </a:lnSpc>
              <a:buNone/>
            </a:pPr>
            <a:r>
              <a:rPr lang="en-US" sz="11250" b="1" kern="0" spc="-337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K-조선 해커톤</a:t>
            </a:r>
            <a:endParaRPr lang="en-US" sz="11250" dirty="0"/>
          </a:p>
        </p:txBody>
      </p:sp>
      <p:sp>
        <p:nvSpPr>
          <p:cNvPr id="6" name="Text 4"/>
          <p:cNvSpPr/>
          <p:nvPr/>
        </p:nvSpPr>
        <p:spPr>
          <a:xfrm>
            <a:off x="1143000" y="5453063"/>
            <a:ext cx="17602200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800" kern="0" spc="1440" dirty="0">
                <a:solidFill>
                  <a:srgbClr val="BCD8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 획 서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1143000" y="8115300"/>
            <a:ext cx="16002000" cy="19050"/>
          </a:xfrm>
          <a:prstGeom prst="rect">
            <a:avLst/>
          </a:prstGeom>
          <a:solidFill>
            <a:srgbClr val="7FDCFF">
              <a:alpha val="4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1143000" y="8553450"/>
            <a:ext cx="52387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312" dirty="0">
                <a:solidFill>
                  <a:srgbClr val="4FD0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팀명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143000" y="8982075"/>
            <a:ext cx="5238750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000" dirty="0">
                <a:solidFill>
                  <a:srgbClr val="FFFFFF">
                    <a:alpha val="5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[팀명 기재]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6477000" y="8553450"/>
            <a:ext cx="9525" cy="876300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7058025" y="8553450"/>
            <a:ext cx="459962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312" dirty="0">
                <a:solidFill>
                  <a:srgbClr val="4FD0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팀장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7058025" y="8982075"/>
            <a:ext cx="4599623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000" dirty="0">
                <a:solidFill>
                  <a:srgbClr val="FFFFFF">
                    <a:alpha val="5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[팀장 성명 기재]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11811000" y="8553450"/>
            <a:ext cx="9525" cy="876300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2392025" y="8553450"/>
            <a:ext cx="522827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312" dirty="0">
                <a:solidFill>
                  <a:srgbClr val="4FD0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팀원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2392025" y="8982075"/>
            <a:ext cx="5029200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000" dirty="0">
                <a:solidFill>
                  <a:srgbClr val="FFFFFF">
                    <a:alpha val="5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 참가</a:t>
            </a:r>
            <a:endParaRPr lang="en-US" sz="3000" dirty="0"/>
          </a:p>
        </p:txBody>
      </p:sp>
      <p:sp>
        <p:nvSpPr>
          <p:cNvPr id="16" name="TextBox 15"/>
          <p:cNvSpPr txBox="1"/>
          <p:nvPr/>
        </p:nvSpPr>
        <p:spPr>
          <a:xfrm>
            <a:off x="1143000" y="6510528"/>
            <a:ext cx="16002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RT 판독 워크벤치 — “판독은 자격자가, 서류는 AI가.”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7150608"/>
            <a:ext cx="1600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 i="0">
                <a:solidFill>
                  <a:srgbClr val="7FDCFF"/>
                </a:solidFill>
                <a:latin typeface="Pretendard"/>
                <a:ea typeface="Pretendard"/>
                <a:cs typeface="Pretendard"/>
              </a:rPr>
              <a:t>생산 분야 · 용접부 RT(방사선투과검사) 사진을 판독하는 사람의 판정·소견서·기록 업무를 돕는, 내 PC에서 도는 소프트웨어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91000" cy="10287000"/>
          </a:xfrm>
          <a:prstGeom prst="rect">
            <a:avLst/>
          </a:prstGeom>
          <a:solidFill>
            <a:srgbClr val="0B2A6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71500" y="685800"/>
            <a:ext cx="805607" cy="6037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7143"/>
              </a:lnSpc>
              <a:buNone/>
            </a:pPr>
            <a:r>
              <a:rPr lang="en-US" sz="4950" b="1" dirty="0">
                <a:solidFill>
                  <a:srgbClr val="4FD0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4950" dirty="0"/>
          </a:p>
        </p:txBody>
      </p:sp>
      <p:sp>
        <p:nvSpPr>
          <p:cNvPr id="4" name="Shape 2"/>
          <p:cNvSpPr/>
          <p:nvPr/>
        </p:nvSpPr>
        <p:spPr>
          <a:xfrm>
            <a:off x="1529507" y="1028700"/>
            <a:ext cx="533400" cy="28575"/>
          </a:xfrm>
          <a:prstGeom prst="rect">
            <a:avLst/>
          </a:prstGeom>
          <a:solidFill>
            <a:srgbClr val="7FDCFF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71500" y="1613446"/>
            <a:ext cx="3520440" cy="563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2222"/>
              </a:lnSpc>
              <a:buNone/>
            </a:pPr>
            <a:r>
              <a:rPr lang="en-US" sz="3450" b="1" kern="0" spc="-69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배경 및 목적</a:t>
            </a:r>
            <a:endParaRPr lang="en-US" sz="3450" dirty="0"/>
          </a:p>
        </p:txBody>
      </p:sp>
      <p:sp>
        <p:nvSpPr>
          <p:cNvPr id="6" name="Shape 4"/>
          <p:cNvSpPr/>
          <p:nvPr/>
        </p:nvSpPr>
        <p:spPr>
          <a:xfrm>
            <a:off x="571500" y="2501057"/>
            <a:ext cx="3200400" cy="19050"/>
          </a:xfrm>
          <a:prstGeom prst="rect">
            <a:avLst/>
          </a:prstGeom>
          <a:solidFill>
            <a:srgbClr val="7FDCFF">
              <a:alpha val="3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71500" y="2786807"/>
            <a:ext cx="35204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7FD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인식 배경</a:t>
            </a:r>
            <a:endParaRPr lang="en-US" sz="2025" dirty="0"/>
          </a:p>
        </p:txBody>
      </p:sp>
      <p:sp>
        <p:nvSpPr>
          <p:cNvPr id="8" name="Text 6"/>
          <p:cNvSpPr/>
          <p:nvPr/>
        </p:nvSpPr>
        <p:spPr>
          <a:xfrm>
            <a:off x="571500" y="3177332"/>
            <a:ext cx="3296412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>
                    <a:alpha val="72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조선산업 현장에서 발견한 문제·불편함과 그 근거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71500" y="4087862"/>
            <a:ext cx="35204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7FD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해결하고자 하는 목표</a:t>
            </a:r>
            <a:endParaRPr lang="en-US" sz="2025" dirty="0"/>
          </a:p>
        </p:txBody>
      </p:sp>
      <p:sp>
        <p:nvSpPr>
          <p:cNvPr id="10" name="Text 8"/>
          <p:cNvSpPr/>
          <p:nvPr/>
        </p:nvSpPr>
        <p:spPr>
          <a:xfrm>
            <a:off x="571500" y="4478387"/>
            <a:ext cx="3296412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>
                    <a:alpha val="72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프로젝트로 달성하려는 상태를 구체적으로 기술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71500" y="5388918"/>
            <a:ext cx="35204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7FD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해당 AX 분야</a:t>
            </a:r>
            <a:endParaRPr lang="en-US" sz="2025" dirty="0"/>
          </a:p>
        </p:txBody>
      </p:sp>
      <p:sp>
        <p:nvSpPr>
          <p:cNvPr id="12" name="Text 10"/>
          <p:cNvSpPr/>
          <p:nvPr/>
        </p:nvSpPr>
        <p:spPr>
          <a:xfrm>
            <a:off x="571500" y="5779443"/>
            <a:ext cx="3296412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>
                    <a:alpha val="72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영업 / 설계 / 구매 / 생산 / 품질 / 안전 / 선박 중 선택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800600" y="1057275"/>
            <a:ext cx="12877800" cy="19050"/>
          </a:xfrm>
          <a:prstGeom prst="rect">
            <a:avLst/>
          </a:prstGeom>
          <a:solidFill>
            <a:srgbClr val="0B2A6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800600" y="571500"/>
            <a:ext cx="85204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351" dirty="0">
                <a:solidFill>
                  <a:srgbClr val="0B2A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작성란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5130165" y="571500"/>
            <a:ext cx="280305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8B9A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K-조선 해커톤 · 02</a:t>
            </a:r>
            <a:endParaRPr lang="en-US" sz="1950" dirty="0"/>
          </a:p>
        </p:txBody>
      </p:sp>
      <p:sp>
        <p:nvSpPr>
          <p:cNvPr id="16" name="Rounded Rectangle 15"/>
          <p:cNvSpPr/>
          <p:nvPr/>
        </p:nvSpPr>
        <p:spPr>
          <a:xfrm>
            <a:off x="4800600" y="1371600"/>
            <a:ext cx="7315200" cy="7882127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0EC"/>
            </a:solidFill>
          </a:ln>
        </p:spPr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120640" y="1746504"/>
            <a:ext cx="146304" cy="146304"/>
          </a:xfrm>
          <a:prstGeom prst="ellipse">
            <a:avLst/>
          </a:prstGeom>
          <a:solidFill>
            <a:srgbClr val="4FD0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7527" y="1645920"/>
            <a:ext cx="642823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문제 인식 배경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2240280"/>
            <a:ext cx="6675120" cy="67848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4" indent="-186944">
              <a:lnSpc>
                <a:spcPct val="114000"/>
              </a:lnSpc>
              <a:spcAft>
                <a:spcPts val="700"/>
              </a:spcAft>
              <a:buClr>
                <a:srgbClr val="4FD0F5"/>
              </a:buClr>
              <a:buFont typeface="Arial"/>
              <a:buChar char="•"/>
            </a:pPr>
            <a:r>
              <a:rPr sz="128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RT(방사선투과검사)는 용접부를 X선으로 찍어 속에 숨은 결함을 찾는 검사다. 국내 조선소는 2021년 기준 대부분 </a:t>
            </a:r>
            <a:r>
              <a:rPr sz="128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필름</a:t>
            </a:r>
            <a:r>
              <a:rPr sz="128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으로 찍는다[1][2]</a:t>
            </a:r>
          </a:p>
          <a:p>
            <a:pPr marL="186944" indent="-186944">
              <a:lnSpc>
                <a:spcPct val="114000"/>
              </a:lnSpc>
              <a:spcAft>
                <a:spcPts val="700"/>
              </a:spcAft>
              <a:buClr>
                <a:srgbClr val="4FD0F5"/>
              </a:buClr>
              <a:buFont typeface="Arial"/>
              <a:buChar char="•"/>
            </a:pPr>
            <a:r>
              <a:rPr sz="128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한화오션(당시 대우조선해양)이 2021.07 필름 없는 디지털 RT를 개발하고 5대 선급(배의 안전 기준을 정하고 검사하는 기관: ABS·BV·DNV·KR·LR)과 승인 체계 개발 협약을 맺었지만[2], 그 뒤 얼마나 바뀌었는지는 공개 자료로 확인되지 않는다 → </a:t>
            </a:r>
            <a:r>
              <a:rPr sz="128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필름과 디지털이 함께 쓰이는 과도기</a:t>
            </a:r>
            <a:r>
              <a:rPr sz="128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로 본다</a:t>
            </a:r>
          </a:p>
          <a:p>
            <a:pPr marL="186944" indent="-186944">
              <a:lnSpc>
                <a:spcPct val="114000"/>
              </a:lnSpc>
              <a:spcAft>
                <a:spcPts val="700"/>
              </a:spcAft>
              <a:buClr>
                <a:srgbClr val="4FD0F5"/>
              </a:buClr>
              <a:buFont typeface="Arial"/>
              <a:buChar char="•"/>
            </a:pPr>
            <a:r>
              <a:rPr sz="128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선급의 국제 협회 IACS는 2021.07.01 이후 건조계약 선박부터 디지털 RT를 규칙에 넣었다[3]. 2026.07.15 승인한 개정 규칙(2028.01.01 이후 건조계약 선박)은 </a:t>
            </a:r>
            <a:r>
              <a:rPr sz="128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사진 전체를 100mm 구간 단위로 판독</a:t>
            </a:r>
            <a:r>
              <a:rPr sz="128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하도록 지침으로 명시했다[5] — 찍는 방법이 바뀌어도 </a:t>
            </a:r>
            <a:r>
              <a:rPr sz="128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판독·판정·기록은 사람의 일</a:t>
            </a:r>
          </a:p>
          <a:p>
            <a:pPr marL="186944" indent="-186944">
              <a:lnSpc>
                <a:spcPct val="114000"/>
              </a:lnSpc>
              <a:spcAft>
                <a:spcPts val="700"/>
              </a:spcAft>
              <a:buClr>
                <a:srgbClr val="4FD0F5"/>
              </a:buClr>
              <a:buFont typeface="Arial"/>
              <a:buChar char="•"/>
            </a:pPr>
            <a:r>
              <a:rPr sz="128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판독원(RT 사진을 판독할 자격을 가진 검사자)의 하루: 결함을 찾고 → 크기를 재서 기준과 대조하고 → 합격·불합격을 정하고 → </a:t>
            </a:r>
            <a:r>
              <a:rPr sz="128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보고서를 손으로 쓴다</a:t>
            </a:r>
            <a:r>
              <a:rPr sz="128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(선급 규칙 필수 항목 25개[4]) → 보관 → 선주·선급이 물으면 </a:t>
            </a:r>
            <a:r>
              <a:rPr sz="128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서류 더미를 뒤진다</a:t>
            </a:r>
          </a:p>
          <a:p>
            <a:pPr marL="186944" indent="-186944">
              <a:lnSpc>
                <a:spcPct val="114000"/>
              </a:lnSpc>
              <a:spcAft>
                <a:spcPts val="700"/>
              </a:spcAft>
              <a:buClr>
                <a:srgbClr val="4FD0F5"/>
              </a:buClr>
              <a:buFont typeface="Arial"/>
              <a:buChar char="•"/>
            </a:pPr>
            <a:r>
              <a:rPr sz="128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불합격이 나오면 같은 용접선의 다른 구간을 더 찍어 다시 판독해야 한다[4] — 불합격 1건이 촬영·판독·보고서로 다시 이어진다</a:t>
            </a:r>
          </a:p>
          <a:p>
            <a:pPr marL="186944" indent="-186944">
              <a:lnSpc>
                <a:spcPct val="114000"/>
              </a:lnSpc>
              <a:spcAft>
                <a:spcPts val="700"/>
              </a:spcAft>
              <a:buClr>
                <a:srgbClr val="4FD0F5"/>
              </a:buClr>
              <a:buFont typeface="Arial"/>
              <a:buChar char="•"/>
            </a:pPr>
            <a:r>
              <a:rPr sz="128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조선 3사(HD현대중공업·삼성중공업·한화오션)의 2024~2026 AI 발표는 용접 ‘작업’과 카메라 검사에 몰려 있다[6][7]. </a:t>
            </a:r>
            <a:r>
              <a:rPr sz="128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판독 이후 단계(판정 근거·보고서·기록)에 대한 투자 사례는 찾지 못했다</a:t>
            </a:r>
            <a:r>
              <a:rPr sz="128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(2026.09 검색 기준)</a:t>
            </a:r>
          </a:p>
          <a:p>
            <a:pPr marL="186944" indent="-186944">
              <a:lnSpc>
                <a:spcPct val="114000"/>
              </a:lnSpc>
              <a:spcAft>
                <a:spcPts val="700"/>
              </a:spcAft>
              <a:buClr>
                <a:srgbClr val="4FD0F5"/>
              </a:buClr>
              <a:buFont typeface="Arial"/>
              <a:buChar char="•"/>
            </a:pPr>
            <a:r>
              <a:rPr sz="128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두산에너빌리티 D-Vision(RT 사진 AI 판독)은 2019년 말 자사 시범, 2024.03 출시, 2024.11 에너지공단 협약으로 이어졌다[8] — </a:t>
            </a:r>
            <a:r>
              <a:rPr sz="128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자사 적용·외부 확산 시도 단계</a:t>
            </a:r>
            <a:r>
              <a:rPr sz="128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이며 외부 유료 고객은 공개 확인되지 않는다. 문제는 실재하나 지불 의사는 미검증</a:t>
            </a:r>
          </a:p>
          <a:p>
            <a:pPr marL="186944" indent="-186944">
              <a:lnSpc>
                <a:spcPct val="114000"/>
              </a:lnSpc>
              <a:spcAft>
                <a:spcPts val="700"/>
              </a:spcAft>
              <a:buClr>
                <a:srgbClr val="4FD0F5"/>
              </a:buClr>
              <a:buFont typeface="Arial"/>
              <a:buChar char="•"/>
            </a:pPr>
            <a:r>
              <a:rPr sz="128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판독 인력은 고령화로 줄고 있고[8], 최저가 입찰로 숙련자 확보가 어렵다[9]. 국내 비파괴검사(부수지 않고 속을 검사하는 방법의 총칭) 물량의 </a:t>
            </a:r>
            <a:r>
              <a:rPr sz="128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약 80%가 방사선 방식 용접부 검사</a:t>
            </a:r>
            <a:r>
              <a:rPr sz="128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[10] → 부담이 RT에 집중된다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2390120" y="1371600"/>
            <a:ext cx="5285231" cy="7882127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0EC"/>
            </a:solidFill>
          </a:ln>
        </p:spPr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12710160" y="1746504"/>
            <a:ext cx="146304" cy="146304"/>
          </a:xfrm>
          <a:prstGeom prst="ellipse">
            <a:avLst/>
          </a:prstGeom>
          <a:solidFill>
            <a:srgbClr val="4FD0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957048" y="1645920"/>
            <a:ext cx="439826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해결하고자 하는 목표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710160" y="2240280"/>
            <a:ext cx="4645151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85" indent="-192785">
              <a:lnSpc>
                <a:spcPct val="114000"/>
              </a:lnSpc>
              <a:spcAft>
                <a:spcPts val="700"/>
              </a:spcAft>
              <a:buClr>
                <a:srgbClr val="4FD0F5"/>
              </a:buClr>
              <a:buFont typeface="Arial"/>
              <a:buChar char="•"/>
            </a:pPr>
            <a:r>
              <a:rPr sz="132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판독원의 하루에서 문서 작업과 서류 검색을 없앤다</a:t>
            </a:r>
            <a:r>
              <a:rPr sz="132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 — 합격·불합격은 자격자(국제 자격 ISO 9712의 Level 2 이상, 결과 해석·판정이 허용되는 등급[4])가 정하고, 서류는 AI가 만든다</a:t>
            </a:r>
          </a:p>
          <a:p>
            <a:pPr marL="192785" indent="-192785">
              <a:lnSpc>
                <a:spcPct val="114000"/>
              </a:lnSpc>
              <a:spcAft>
                <a:spcPts val="700"/>
              </a:spcAft>
              <a:buClr>
                <a:srgbClr val="4FD0F5"/>
              </a:buClr>
              <a:buFont typeface="Arial"/>
              <a:buChar char="•"/>
            </a:pPr>
            <a:r>
              <a:rPr sz="132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목표 화면: 사진 열기 → 사람이 놓칠 만한 곳을 AI가 표시 → 클릭 두 번으로 크기 측정 → 규칙 엔진(기준표의 허용치와 대조해 합격·불합격을 내는 프로그램, AI 아님)이 판정 → 소견서(판독 결과 보고서) 초안 → 승인·PDF → 검색 가능한 기록까지 </a:t>
            </a:r>
            <a:r>
              <a:rPr sz="132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한 화면에서 끝</a:t>
            </a:r>
          </a:p>
          <a:p>
            <a:pPr marL="192785" indent="-192785">
              <a:lnSpc>
                <a:spcPct val="114000"/>
              </a:lnSpc>
              <a:spcAft>
                <a:spcPts val="700"/>
              </a:spcAft>
              <a:buClr>
                <a:srgbClr val="4FD0F5"/>
              </a:buClr>
              <a:buFont typeface="Arial"/>
              <a:buChar char="•"/>
            </a:pPr>
            <a:r>
              <a:rPr sz="132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입력은 </a:t>
            </a:r>
            <a:r>
              <a:rPr sz="132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스캔한 필름 사진 또는 디지털 RT 사진</a:t>
            </a:r>
            <a:r>
              <a:rPr sz="132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 — 판독원에게 새 장비나 새 촬영 절차를 요구하지 않는다. 단, 필름을 스캔하는 장비(스캔 화질 규격 ISO 14096-2 등급의 디지타이저 또는 스캔 서비스)는 </a:t>
            </a:r>
            <a:r>
              <a:rPr sz="132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조직이 갖춰야 할 전제조건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710160" y="5166360"/>
            <a:ext cx="46451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8B9AB5"/>
                </a:solidFill>
                <a:latin typeface="Pretendard"/>
                <a:ea typeface="Pretendard"/>
                <a:cs typeface="Pretendard"/>
              </a:rPr>
              <a:t>3대 설계 원칙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710160" y="555040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B2A6B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13080" y="5513832"/>
            <a:ext cx="40965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AI는 판정하지 않는다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13080" y="5788152"/>
            <a:ext cx="40965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5B6B8C"/>
                </a:solidFill>
                <a:latin typeface="Pretendard"/>
                <a:ea typeface="Pretendard"/>
                <a:cs typeface="Pretendard"/>
              </a:rPr>
              <a:t>합격·불합격 = 규칙 엔진 + 판독원, LLM = 글쓰기·검색 보조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710160" y="6208776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B2A6B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13080" y="6172200"/>
            <a:ext cx="40965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기존 사진·기존 절차 위에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13080" y="6446520"/>
            <a:ext cx="40965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5B6B8C"/>
                </a:solidFill>
                <a:latin typeface="Pretendard"/>
                <a:ea typeface="Pretendard"/>
                <a:cs typeface="Pretendard"/>
              </a:rPr>
              <a:t>스캔 필름이든 디지털 사진이든 같은 처리 흐름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2710160" y="686714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B2A6B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13080" y="6830568"/>
            <a:ext cx="40965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탐지는 부품이다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13080" y="7104888"/>
            <a:ext cx="40965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5B6B8C"/>
                </a:solidFill>
                <a:latin typeface="Pretendard"/>
                <a:ea typeface="Pretendard"/>
                <a:cs typeface="Pretendard"/>
              </a:rPr>
              <a:t>새로움은 판독 업무 전체를 하나로 잇는 통합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2710160" y="7790688"/>
            <a:ext cx="4645151" cy="123444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2893040" y="7927848"/>
            <a:ext cx="2011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8B9AB5"/>
                </a:solidFill>
                <a:latin typeface="Pretendard"/>
                <a:ea typeface="Pretendard"/>
                <a:cs typeface="Pretendard"/>
              </a:rPr>
              <a:t>해당 AX 분야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893040" y="8293608"/>
            <a:ext cx="1188720" cy="502920"/>
          </a:xfrm>
          <a:prstGeom prst="roundRect">
            <a:avLst>
              <a:gd name="adj" fmla="val 50000"/>
            </a:avLst>
          </a:prstGeom>
          <a:solidFill>
            <a:srgbClr val="0B2A6B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생산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264640" y="8247888"/>
            <a:ext cx="290779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선체 블록(배를 나눠 만든 뒤 붙이는 큰 구조물) 용접부 RT 사진의 판독·판정·보고서·기록 관리 — 생산 공정 뒤쪽의 용접 품질 확인 업무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00600" y="9299448"/>
            <a:ext cx="128747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5B6B8C"/>
                </a:solidFill>
                <a:latin typeface="Pretendard"/>
                <a:ea typeface="Pretendard"/>
                <a:cs typeface="Pretendard"/>
              </a:rPr>
              <a:t>참고  [1] 황훈규 외, 한국정보통신학회논문지 25(2), 2021.02†  ·  [2] 데일리안·CCTV뉴스 2021.07.02†  ·  [3] IACS UR W34(2019.12; 2021.07.01 이후 건조계약분)  ·  [4] IACS UR W33 Rev.1/Corr.1(2021) §3.3·§8·§9.2  ·  [5] IACS UR W33 Rev.2·W34 Rev.1(2026.07.15 승인)  ·  [6] 뉴스핌 2026.06.04(한화오션×NC AI)†  ·  [7] 아시아투데이 2026.06(HD현대)†  ·  [8] 두산에너빌리티 통합보고서 2024·2026, 팍스경제TV 2024, 이투데이 2024.11.14, 위키리크스한국 2026.03†  ·  [9] 가스신문 2025.09.18†  ·  [10] 가스신문 기고 ‘비파괴검사 시장 현황’†  ·  † 검색 요약 기준(제출 전 원문 확인)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91000" cy="10287000"/>
          </a:xfrm>
          <a:prstGeom prst="rect">
            <a:avLst/>
          </a:prstGeom>
          <a:solidFill>
            <a:srgbClr val="0B2A6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71500" y="685800"/>
            <a:ext cx="893415" cy="6037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7143"/>
              </a:lnSpc>
              <a:buNone/>
            </a:pPr>
            <a:r>
              <a:rPr lang="en-US" sz="4950" b="1" dirty="0">
                <a:solidFill>
                  <a:srgbClr val="4FD0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4950" dirty="0"/>
          </a:p>
        </p:txBody>
      </p:sp>
      <p:sp>
        <p:nvSpPr>
          <p:cNvPr id="4" name="Shape 2"/>
          <p:cNvSpPr/>
          <p:nvPr/>
        </p:nvSpPr>
        <p:spPr>
          <a:xfrm>
            <a:off x="1617315" y="1028700"/>
            <a:ext cx="533400" cy="28575"/>
          </a:xfrm>
          <a:prstGeom prst="rect">
            <a:avLst/>
          </a:prstGeom>
          <a:solidFill>
            <a:srgbClr val="7FDCFF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71500" y="1613446"/>
            <a:ext cx="3296412" cy="10894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2222"/>
              </a:lnSpc>
              <a:buNone/>
            </a:pPr>
            <a:r>
              <a:rPr lang="en-US" sz="3450" b="1" kern="0" spc="-69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아이디어</a:t>
            </a:r>
            <a:r>
              <a:rPr lang="en-US" sz="3450" b="1" kern="0" spc="-69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및</a:t>
            </a:r>
          </a:p>
          <a:p>
            <a:pPr marL="0" indent="0" algn="l">
              <a:lnSpc>
                <a:spcPct val="102222"/>
              </a:lnSpc>
              <a:buNone/>
            </a:pPr>
            <a:r>
              <a:rPr lang="en-US" sz="3450" b="1" kern="0" spc="-69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활용</a:t>
            </a:r>
            <a:r>
              <a:rPr lang="en-US" sz="3450" b="1" kern="0" spc="-69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AI </a:t>
            </a:r>
            <a:r>
              <a:rPr lang="en-US" sz="3450" b="1" kern="0" spc="-69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기술</a:t>
            </a:r>
            <a:endParaRPr lang="en-US" sz="3450" dirty="0"/>
          </a:p>
        </p:txBody>
      </p:sp>
      <p:sp>
        <p:nvSpPr>
          <p:cNvPr id="6" name="Shape 4"/>
          <p:cNvSpPr/>
          <p:nvPr/>
        </p:nvSpPr>
        <p:spPr>
          <a:xfrm>
            <a:off x="571500" y="3026718"/>
            <a:ext cx="3200400" cy="19050"/>
          </a:xfrm>
          <a:prstGeom prst="rect">
            <a:avLst/>
          </a:prstGeom>
          <a:solidFill>
            <a:srgbClr val="7FDCFF">
              <a:alpha val="3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71500" y="3312468"/>
            <a:ext cx="35204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7FD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아이디어 개요</a:t>
            </a:r>
            <a:endParaRPr lang="en-US" sz="2025" dirty="0"/>
          </a:p>
        </p:txBody>
      </p:sp>
      <p:sp>
        <p:nvSpPr>
          <p:cNvPr id="8" name="Text 6"/>
          <p:cNvSpPr/>
          <p:nvPr/>
        </p:nvSpPr>
        <p:spPr>
          <a:xfrm>
            <a:off x="571500" y="3702993"/>
            <a:ext cx="3296412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>
                    <a:alpha val="72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 한 줄 정의, 주요 사용자, 핵심 동작 방식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71500" y="4613523"/>
            <a:ext cx="35204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7FD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 AI 기술</a:t>
            </a:r>
            <a:endParaRPr lang="en-US" sz="2025" dirty="0"/>
          </a:p>
        </p:txBody>
      </p:sp>
      <p:sp>
        <p:nvSpPr>
          <p:cNvPr id="10" name="Text 8"/>
          <p:cNvSpPr/>
          <p:nvPr/>
        </p:nvSpPr>
        <p:spPr>
          <a:xfrm>
            <a:off x="571500" y="5004048"/>
            <a:ext cx="3296412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>
                    <a:alpha val="72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활용 예정인 생성형 AI 툴·모델·기술 스택을 구체적으로 기재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71500" y="5914579"/>
            <a:ext cx="35204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7FD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차별점</a:t>
            </a:r>
            <a:endParaRPr lang="en-US" sz="2025" dirty="0"/>
          </a:p>
        </p:txBody>
      </p:sp>
      <p:sp>
        <p:nvSpPr>
          <p:cNvPr id="12" name="Text 10"/>
          <p:cNvSpPr/>
          <p:nvPr/>
        </p:nvSpPr>
        <p:spPr>
          <a:xfrm>
            <a:off x="571500" y="6305104"/>
            <a:ext cx="3296412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>
                    <a:alpha val="72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방식 또는 유사 서비스 대비 차별화 지점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800600" y="1057275"/>
            <a:ext cx="12877800" cy="19050"/>
          </a:xfrm>
          <a:prstGeom prst="rect">
            <a:avLst/>
          </a:prstGeom>
          <a:solidFill>
            <a:srgbClr val="0B2A6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800600" y="571500"/>
            <a:ext cx="85204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351" dirty="0">
                <a:solidFill>
                  <a:srgbClr val="0B2A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작성란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5122872" y="571500"/>
            <a:ext cx="281108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8B9A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K-조선 해커톤 · 03</a:t>
            </a:r>
            <a:endParaRPr lang="en-US" sz="1950" dirty="0"/>
          </a:p>
        </p:txBody>
      </p:sp>
      <p:sp>
        <p:nvSpPr>
          <p:cNvPr id="16" name="Rounded Rectangle 15"/>
          <p:cNvSpPr/>
          <p:nvPr/>
        </p:nvSpPr>
        <p:spPr>
          <a:xfrm>
            <a:off x="4800600" y="1371600"/>
            <a:ext cx="12874752" cy="3246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0EC"/>
            </a:solidFill>
          </a:ln>
        </p:spPr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120640" y="1728216"/>
            <a:ext cx="146304" cy="146304"/>
          </a:xfrm>
          <a:prstGeom prst="ellipse">
            <a:avLst/>
          </a:prstGeom>
          <a:solidFill>
            <a:srgbClr val="4FD0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7527" y="1627632"/>
            <a:ext cx="119877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아이디어 개요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2048256"/>
            <a:ext cx="122346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RT 판독 워크벤치</a:t>
            </a:r>
            <a:r>
              <a:rPr sz="13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 — 사진을 열면 사람이 놓칠 만한 곳을 AI가 표시한다. 판독원이 결함 종류를 확정하고 클릭 두 번으로 크기를 재면, 규칙 엔진이 100mm 구간 기준으로 합격·불합격을 낸다. 소견서·PDF·기록까지 한 화면에서 끝나는 </a:t>
            </a:r>
            <a:r>
              <a:rPr sz="130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내 PC에서 도는 웹앱</a:t>
            </a:r>
            <a:r>
              <a:rPr sz="13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(Streamlit: 브라우저로 표시, 같은 와이파이의 태블릿에서도 접속)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2907791"/>
            <a:ext cx="12234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5B6B8C"/>
                </a:solidFill>
                <a:latin typeface="Pretendard"/>
                <a:ea typeface="Pretendard"/>
                <a:cs typeface="Pretendard"/>
              </a:rPr>
              <a:t>사용자: RT 판독원(비파괴검사 자격자) 1인 — 검사업체 판독원 또는 조선소 품질 담당 · 판정·승인은 언제나 사람이 한다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20640" y="3218688"/>
            <a:ext cx="2894076" cy="1216151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285231" y="3328416"/>
            <a:ext cx="25648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① 2차 눈(Second Reader)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5231" y="3611880"/>
            <a:ext cx="2564892" cy="758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판독원이 먼저 보고, 사람이 놓칠 만한 후보를 AI가 표시한다. 미탐(놓침)을 줄이는 쪽으로 조정 — 오탐은 클릭 한 번으로 지우지만 놓친 결함은 배에 남는다. 결함 종류는 </a:t>
            </a:r>
            <a:r>
              <a:rPr sz="110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판독원이 확정한 뒤 채택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34171" y="3218688"/>
            <a:ext cx="2894076" cy="1216151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398763" y="3328416"/>
            <a:ext cx="25648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② 2클릭 자 + 규칙 판정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8763" y="3611880"/>
            <a:ext cx="2564892" cy="758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기준물(IQI·납마커: 화질·크기 확인용 표준 지시계) 양 끝을 두 번 클릭해 mm/픽셀을 정하고, 결함 양 끝을 두 번 클릭해 크기를 확정한다 → 규칙 엔진(앱 표기: 룰 엔진)이 </a:t>
            </a:r>
            <a:r>
              <a:rPr sz="110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단일 크기·누적 길이·기공 면적률(%)</a:t>
            </a:r>
            <a:r>
              <a:rPr sz="11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 3가지로 판정하고 근거 조항을 함께 제시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347704" y="3218688"/>
            <a:ext cx="2894076" cy="1216151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1512296" y="3328416"/>
            <a:ext cx="25648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③ 소견서 초안 + 자연어 검색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12296" y="3611880"/>
            <a:ext cx="2564892" cy="758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확정된 판정 결과(사진·개인정보 제외)를 LLM이 보고서 문체로 작성 → 판독원 수정·승인 → PDF. 기록에서는 ‘3번 블록 지난달 기공 불합격’처럼 말로 검색·요약 — LLM이 없어도 규칙 파서·템플릿으로 동작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461236" y="3218688"/>
            <a:ext cx="2894076" cy="1216151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4625828" y="3328416"/>
            <a:ext cx="25648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④ 검색 기록 + 데이터 축적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25828" y="3611880"/>
            <a:ext cx="2564892" cy="758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승인 기록 DB·조건 검색·CSV(앱 탭: 아카이브 검색·자기개선 루프). 채택·직접 추가한 결함 박스는 학습 라벨로 내보내고, 기각은 오탐 신호로 집계만 — 재학습은 별도 프로젝트, 데이터는 반출 없이 조직 소유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00600" y="4892040"/>
            <a:ext cx="7452360" cy="436168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0EC"/>
            </a:solidFill>
          </a:ln>
        </p:spPr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5120640" y="5248656"/>
            <a:ext cx="146304" cy="146304"/>
          </a:xfrm>
          <a:prstGeom prst="ellipse">
            <a:avLst/>
          </a:prstGeom>
          <a:solidFill>
            <a:srgbClr val="4FD0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67527" y="5148072"/>
            <a:ext cx="65653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적용 AI 기술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120640" y="5641848"/>
            <a:ext cx="3305556" cy="1591056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276088" y="5742432"/>
            <a:ext cx="29946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결함 후보 탐지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76088" y="6025896"/>
            <a:ext cx="29946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Ultralytics YOLO(</a:t>
            </a:r>
            <a:r>
              <a:rPr sz="110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YOLO26s</a:t>
            </a:r>
            <a:r>
              <a:rPr sz="11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 권장, 2026.01 공개[1]; v8·11 가중치 호환) + CLAHE(대비 향상)로 공개 데이터 학습 예정. </a:t>
            </a:r>
            <a:r>
              <a:rPr sz="110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지금은 학습 모델이 아닌 대체용(폴백) OpenCV 규칙 탐지기</a:t>
            </a:r>
            <a:r>
              <a:rPr sz="11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: 합성 필름 6장의 결함 14개 중 14개 탐지, 장당 오탐 3.8건(신뢰도 기준 0.5). 가중치 + ultralytics≥8.4 설치 시 자동 전환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27364" y="5641848"/>
            <a:ext cx="3305556" cy="1591056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782812" y="5742432"/>
            <a:ext cx="29946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소견서·검색 LLM(로컬 우선)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82812" y="6025896"/>
            <a:ext cx="29946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기본은 </a:t>
            </a:r>
            <a:r>
              <a:rPr sz="110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사내 PC의 로컬 LLM</a:t>
            </a:r>
            <a:r>
              <a:rPr sz="11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(Ollama·vLLM[3]) 또는 오프라인 템플릿. 한국어 모델: EXAONE(코드 기본값 3.5)[4]·HyperCLOVA X SEED[5]. 클라우드(Claude Sonnet 5 → Gemini)[3]는 </a:t>
            </a:r>
            <a:r>
              <a:rPr sz="110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명시 허용 시에만</a:t>
            </a:r>
            <a:r>
              <a:rPr sz="11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 쓴다. 사진·실명·파일 경로는 절대 보내지 않는다(소견서 전송 내용 미리보기 제공)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120640" y="7379208"/>
            <a:ext cx="3305556" cy="1243584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5276088" y="7479792"/>
            <a:ext cx="29946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합격·불합격 판정(일부러 AI 미사용)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76088" y="7763256"/>
            <a:ext cx="29946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규칙 엔진 — ISO 10675-1(RT 합격 기준)·ISO 5817(용접 품질 등급)의 틀(등급 B·C·D ↔ 허용 레벨 1·2·3, 100mm 구간, 기공 면적률)을 본뜬 기준표 JSON 2종(신판·구판 구조, 데모 수치)을 화면에서 선택. 실제 수치는 선급 지침 확정 후 교체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627364" y="7379208"/>
            <a:ext cx="3305556" cy="1243584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782812" y="7479792"/>
            <a:ext cx="29946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개발 도구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82812" y="7763256"/>
            <a:ext cx="29946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Claude Code</a:t>
            </a:r>
            <a:r>
              <a:rPr sz="11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로 설계·구현·적대적 코드 리뷰(자동 테스트 281건). 본선에서는 해커톤 지원 항목인 Claude Max 플랜(공고 기준)으로 고도화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120640" y="8769096"/>
            <a:ext cx="6812280" cy="402336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5276088" y="8860536"/>
            <a:ext cx="6501384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기술 스택</a:t>
            </a:r>
            <a:r>
              <a:rPr sz="10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  Python 3.11 · Streamlit 1.63[2] · OpenCV · SQLite · reportlab(PDF) · 합성 필름 생성기 · Docker · 더블클릭 실행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2527280" y="4892040"/>
            <a:ext cx="5148071" cy="436168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0EC"/>
            </a:solidFill>
          </a:ln>
        </p:spPr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12847320" y="5248656"/>
            <a:ext cx="146304" cy="146304"/>
          </a:xfrm>
          <a:prstGeom prst="ellipse">
            <a:avLst/>
          </a:prstGeom>
          <a:solidFill>
            <a:srgbClr val="4FD0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3094208" y="5148072"/>
            <a:ext cx="426110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차별점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847320" y="5641848"/>
            <a:ext cx="4507991" cy="34472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8970" indent="-148970">
              <a:lnSpc>
                <a:spcPct val="114000"/>
              </a:lnSpc>
              <a:spcAft>
                <a:spcPts val="300"/>
              </a:spcAft>
              <a:buClr>
                <a:srgbClr val="4FD0F5"/>
              </a:buClr>
              <a:buFont typeface="Arial"/>
              <a:buChar char="•"/>
            </a:pPr>
            <a:r>
              <a:rPr sz="1019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결함 찾기(탐지) 하나만으로는 새롭지 않다</a:t>
            </a:r>
            <a:r>
              <a:rPr sz="1019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 — D-Vision(자사 적용), 코드비전 RT AI 판독 플랫폼(2024.10 전시)[6], Trueflaw(핀란드; Meyer Turku 조선소·DEKRA와 협업 2022.02)[7], DNV×GSI(광저우조선) 공동개발(2019.12)[8] → 새로움은 판독원의 하루 전체를 </a:t>
            </a:r>
            <a:r>
              <a:rPr sz="1019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하나로 잇는 통합</a:t>
            </a:r>
          </a:p>
          <a:p>
            <a:pPr marL="148970" indent="-148970">
              <a:lnSpc>
                <a:spcPct val="114000"/>
              </a:lnSpc>
              <a:spcAft>
                <a:spcPts val="300"/>
              </a:spcAft>
              <a:buClr>
                <a:srgbClr val="4FD0F5"/>
              </a:buClr>
              <a:buFont typeface="Arial"/>
              <a:buChar char="•"/>
            </a:pPr>
            <a:r>
              <a:rPr sz="1019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한화오션(당시 대우조선해양) 디지털 RT(2020.11~2021.07)와의 관계</a:t>
            </a:r>
            <a:r>
              <a:rPr sz="1019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: 그 시스템은 필름 스캐너·AI 자동 판독·통합관리 플랫폼·선급 비대면 승인을 묶은 특정 조선소 사내 체계였다[2]. 본 안의 차이는 ① 검사업체·조선소가 공용으로 쓰는 설치형 ② 판정을 규칙 엔진+자격자에 두고 조항 번호·100mm 구간을 기록 ③ 소견서 LLM·자연어 검색</a:t>
            </a:r>
          </a:p>
          <a:p>
            <a:pPr marL="148970" indent="-148970">
              <a:lnSpc>
                <a:spcPct val="114000"/>
              </a:lnSpc>
              <a:spcAft>
                <a:spcPts val="300"/>
              </a:spcAft>
              <a:buClr>
                <a:srgbClr val="4FD0F5"/>
              </a:buClr>
              <a:buFont typeface="Arial"/>
              <a:buChar char="•"/>
            </a:pPr>
            <a:r>
              <a:rPr sz="1019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AI는 판정하지 않는다</a:t>
            </a:r>
            <a:r>
              <a:rPr sz="1019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 — DNV도 2019.12 ‘AI는 탐지, 사람은 최종 승인’으로 역할을 나눴고[8], AI 판독을 선급이 규칙으로 승인한 공개 사례는 2026.09 기준 확인되지 않는다</a:t>
            </a:r>
          </a:p>
          <a:p>
            <a:pPr marL="148970" indent="-148970">
              <a:lnSpc>
                <a:spcPct val="114000"/>
              </a:lnSpc>
              <a:spcAft>
                <a:spcPts val="300"/>
              </a:spcAft>
              <a:buClr>
                <a:srgbClr val="4FD0F5"/>
              </a:buClr>
              <a:buFont typeface="Arial"/>
              <a:buChar char="•"/>
            </a:pPr>
            <a:r>
              <a:rPr sz="1019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본 안은 판정을 규칙 엔진(조항 번호 자동 기재)에, 글쓰기·검색을 LLM에 맡긴다 → AI 판독에 대한 규칙 개정을 기다리지 않고, </a:t>
            </a:r>
            <a:r>
              <a:rPr sz="1019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자격자 판정·서면 절차·기록 관리 요건(UR W33 §3.2·§6.1.2·§8.5) 안에서 보조 도구로 도입 가능</a:t>
            </a:r>
            <a:r>
              <a:rPr sz="1019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[9]</a:t>
            </a:r>
          </a:p>
          <a:p>
            <a:pPr marL="148970" indent="-148970">
              <a:lnSpc>
                <a:spcPct val="114000"/>
              </a:lnSpc>
              <a:spcAft>
                <a:spcPts val="300"/>
              </a:spcAft>
              <a:buClr>
                <a:srgbClr val="4FD0F5"/>
              </a:buClr>
              <a:buFont typeface="Arial"/>
              <a:buChar char="•"/>
            </a:pPr>
            <a:r>
              <a:rPr sz="1019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픽셀→mm 환산은 </a:t>
            </a:r>
            <a:r>
              <a:rPr sz="1019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판독원의 클릭 두 번</a:t>
            </a:r>
            <a:r>
              <a:rPr sz="1019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으로 확정 — AI가 추정하지 않는다. 보안 기본값도 로컬(클라우드는 사용자가 켜야만 쓰는 선택 사항)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9299448"/>
            <a:ext cx="128747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5B6B8C"/>
                </a:solidFill>
                <a:latin typeface="Pretendard"/>
                <a:ea typeface="Pretendard"/>
                <a:cs typeface="Pretendard"/>
              </a:rPr>
              <a:t>참고  [1] Ultralytics 8.4.0 릴리스·PyPI(2026.01.14, AGPL-3.0)  ·  [2] 데일리안·CCTV뉴스 2021.07.02 · 황훈규 외 2021.02 · KISTI TRKO202200005836†  ·  [3] Anthropic 모델 문서 · Ollama/vLLM API 문서  ·  [4] LG AI연구원 EXAONE README(2026.04.09)  ·  [5] NAVER HyperCLOVA X SEED Think 보도자료(2025.12.26)†  ·  [6] 헬로티 2024.10(코드비전)†  ·  [7] Trueflaw LinkedIn 2022.02†  ·  [8] DNV GL×GSI 보도자료(2019.12)†  ·  [9] IACS UR W33 Rev.1/Corr.1(2021) §3.2·§6.1.2·§8.5  ·  탐지 수치는 합성 필름 6장 자체 측정(느슨한 매칭 기준)  ·  † 검색 요약 기준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91000" cy="10287000"/>
          </a:xfrm>
          <a:prstGeom prst="rect">
            <a:avLst/>
          </a:prstGeom>
          <a:solidFill>
            <a:srgbClr val="0B2A6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71500" y="685800"/>
            <a:ext cx="911126" cy="6037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7143"/>
              </a:lnSpc>
              <a:buNone/>
            </a:pPr>
            <a:r>
              <a:rPr lang="en-US" sz="4950" b="1" dirty="0">
                <a:solidFill>
                  <a:srgbClr val="4FD0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4950" dirty="0"/>
          </a:p>
        </p:txBody>
      </p:sp>
      <p:sp>
        <p:nvSpPr>
          <p:cNvPr id="4" name="Shape 2"/>
          <p:cNvSpPr/>
          <p:nvPr/>
        </p:nvSpPr>
        <p:spPr>
          <a:xfrm>
            <a:off x="1635026" y="1028700"/>
            <a:ext cx="533400" cy="28575"/>
          </a:xfrm>
          <a:prstGeom prst="rect">
            <a:avLst/>
          </a:prstGeom>
          <a:solidFill>
            <a:srgbClr val="7FDCFF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71500" y="1556296"/>
            <a:ext cx="3520440" cy="563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2222"/>
              </a:lnSpc>
              <a:buNone/>
            </a:pPr>
            <a:r>
              <a:rPr lang="en-US" sz="3450" b="1" kern="0" spc="-69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구현 계획</a:t>
            </a:r>
            <a:endParaRPr lang="en-US" sz="3450" dirty="0"/>
          </a:p>
        </p:txBody>
      </p:sp>
      <p:sp>
        <p:nvSpPr>
          <p:cNvPr id="6" name="Shape 4"/>
          <p:cNvSpPr/>
          <p:nvPr/>
        </p:nvSpPr>
        <p:spPr>
          <a:xfrm>
            <a:off x="571500" y="2386757"/>
            <a:ext cx="3200400" cy="19050"/>
          </a:xfrm>
          <a:prstGeom prst="rect">
            <a:avLst/>
          </a:prstGeom>
          <a:solidFill>
            <a:srgbClr val="7FDCFF">
              <a:alpha val="3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71500" y="2653457"/>
            <a:ext cx="35204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7FD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기능(MVP)</a:t>
            </a:r>
            <a:endParaRPr lang="en-US" sz="2025" dirty="0"/>
          </a:p>
        </p:txBody>
      </p:sp>
      <p:sp>
        <p:nvSpPr>
          <p:cNvPr id="8" name="Text 6"/>
          <p:cNvSpPr/>
          <p:nvPr/>
        </p:nvSpPr>
        <p:spPr>
          <a:xfrm>
            <a:off x="571500" y="3024932"/>
            <a:ext cx="3296412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4138"/>
              </a:lnSpc>
              <a:buNone/>
            </a:pPr>
            <a:r>
              <a:rPr lang="en-US" sz="1800" dirty="0">
                <a:solidFill>
                  <a:srgbClr val="FFFFFF">
                    <a:alpha val="72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본선까지 반드시 동작하도록 구현할 핵심 기능 중심으로 기재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71500" y="3920282"/>
            <a:ext cx="35204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7FD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범위</a:t>
            </a:r>
            <a:endParaRPr lang="en-US" sz="2025" dirty="0"/>
          </a:p>
        </p:txBody>
      </p:sp>
      <p:sp>
        <p:nvSpPr>
          <p:cNvPr id="10" name="Text 8"/>
          <p:cNvSpPr/>
          <p:nvPr/>
        </p:nvSpPr>
        <p:spPr>
          <a:xfrm>
            <a:off x="571500" y="4291757"/>
            <a:ext cx="3296412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4138"/>
              </a:lnSpc>
              <a:buNone/>
            </a:pPr>
            <a:r>
              <a:rPr lang="en-US" sz="1800" dirty="0">
                <a:solidFill>
                  <a:srgbClr val="FFFFFF">
                    <a:alpha val="72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본선까지 구현할 범위와 제외할 범위를 구분하여 기재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71500" y="5187107"/>
            <a:ext cx="35204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7FD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팀원별 역할 분담</a:t>
            </a:r>
            <a:endParaRPr lang="en-US" sz="2025" dirty="0"/>
          </a:p>
        </p:txBody>
      </p:sp>
      <p:sp>
        <p:nvSpPr>
          <p:cNvPr id="12" name="Text 10"/>
          <p:cNvSpPr/>
          <p:nvPr/>
        </p:nvSpPr>
        <p:spPr>
          <a:xfrm>
            <a:off x="571500" y="5558582"/>
            <a:ext cx="3296412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4138"/>
              </a:lnSpc>
              <a:buNone/>
            </a:pPr>
            <a:r>
              <a:rPr lang="en-US" sz="1800" dirty="0">
                <a:solidFill>
                  <a:srgbClr val="FFFFFF">
                    <a:alpha val="72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 / 개발 / 데이터 / 디자인 등 담당 영역과 보유 기술 스택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71500" y="6453932"/>
            <a:ext cx="35204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7FD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시연 시나리오</a:t>
            </a:r>
            <a:endParaRPr lang="en-US" sz="2025" dirty="0"/>
          </a:p>
        </p:txBody>
      </p:sp>
      <p:sp>
        <p:nvSpPr>
          <p:cNvPr id="14" name="Text 12"/>
          <p:cNvSpPr/>
          <p:nvPr/>
        </p:nvSpPr>
        <p:spPr>
          <a:xfrm>
            <a:off x="571500" y="6825407"/>
            <a:ext cx="3296412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4138"/>
              </a:lnSpc>
              <a:buNone/>
            </a:pPr>
            <a:r>
              <a:rPr lang="en-US" sz="1800" dirty="0">
                <a:solidFill>
                  <a:srgbClr val="FFFFFF">
                    <a:alpha val="72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본선 발표에서 실제로 시연할 동작 흐름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800600" y="1057275"/>
            <a:ext cx="12877800" cy="19050"/>
          </a:xfrm>
          <a:prstGeom prst="rect">
            <a:avLst/>
          </a:prstGeom>
          <a:solidFill>
            <a:srgbClr val="0B2A6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800600" y="571500"/>
            <a:ext cx="85204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351" dirty="0">
                <a:solidFill>
                  <a:srgbClr val="0B2A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작성란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5119449" y="571500"/>
            <a:ext cx="2814846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8B9A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K-조선 해커톤 · 04</a:t>
            </a:r>
            <a:endParaRPr lang="en-US" sz="1950" dirty="0"/>
          </a:p>
        </p:txBody>
      </p:sp>
      <p:sp>
        <p:nvSpPr>
          <p:cNvPr id="18" name="Rounded Rectangle 17"/>
          <p:cNvSpPr/>
          <p:nvPr/>
        </p:nvSpPr>
        <p:spPr>
          <a:xfrm>
            <a:off x="4800600" y="1371600"/>
            <a:ext cx="7818120" cy="2971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0EC"/>
            </a:solidFill>
          </a:ln>
        </p:spPr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5120640" y="1746504"/>
            <a:ext cx="146304" cy="146304"/>
          </a:xfrm>
          <a:prstGeom prst="ellipse">
            <a:avLst/>
          </a:prstGeom>
          <a:solidFill>
            <a:srgbClr val="4FD0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67527" y="1645920"/>
            <a:ext cx="69311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주요 기능(MVP)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20640" y="2148840"/>
            <a:ext cx="3451860" cy="347472"/>
          </a:xfrm>
          <a:prstGeom prst="roundRect">
            <a:avLst>
              <a:gd name="adj" fmla="val 50000"/>
            </a:avLst>
          </a:prstGeom>
          <a:solidFill>
            <a:srgbClr val="4FD0F5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/>
            <a:r>
              <a:rPr sz="115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현재 동작 프로토타입(2026.09 기준)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2606040"/>
            <a:ext cx="345186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7957" indent="-167957">
              <a:lnSpc>
                <a:spcPct val="114000"/>
              </a:lnSpc>
              <a:spcAft>
                <a:spcPts val="300"/>
              </a:spcAft>
              <a:buClr>
                <a:srgbClr val="4FD0F5"/>
              </a:buClr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내 PC에서 도는 웹앱 — 4대 기능 전 구간 동작(탐지→측정→판정→소견서→PDF→기록) · 로컬 LLM 우선 · 자연어 검색</a:t>
            </a:r>
          </a:p>
          <a:p>
            <a:pPr marL="167957" indent="-167957">
              <a:lnSpc>
                <a:spcPct val="114000"/>
              </a:lnSpc>
              <a:spcAft>
                <a:spcPts val="300"/>
              </a:spcAft>
              <a:buClr>
                <a:srgbClr val="4FD0F5"/>
              </a:buClr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자동 테스트 281건 통과 · 합성 필름으로 전 과정 자동 검증[1]</a:t>
            </a:r>
          </a:p>
          <a:p>
            <a:pPr marL="167957" indent="-167957">
              <a:lnSpc>
                <a:spcPct val="114000"/>
              </a:lnSpc>
              <a:spcAft>
                <a:spcPts val="300"/>
              </a:spcAft>
              <a:buClr>
                <a:srgbClr val="4FD0F5"/>
              </a:buClr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판정식 3종(누적 길이·기공 면적률은 100mm 구간을 옮겨가며 최악 구간 선택) · 기준표 판본 선택(적용 판본을 판정표·PDF·기록에 기재) · 선급 보고 항목 25개 충족률 n/25 표시(PDF에 원문 항목명 병기)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46820" y="2148840"/>
            <a:ext cx="3451860" cy="347472"/>
          </a:xfrm>
          <a:prstGeom prst="roundRect">
            <a:avLst>
              <a:gd name="adj" fmla="val 50000"/>
            </a:avLst>
          </a:prstGeom>
          <a:solidFill>
            <a:srgbClr val="0B2A6B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/>
            <a:r>
              <a:rPr sz="115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본선까지 반드시 동작시킬 것(대체 경로 포함)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46820" y="2606040"/>
            <a:ext cx="345186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7957" indent="-167957">
              <a:lnSpc>
                <a:spcPct val="114000"/>
              </a:lnSpc>
              <a:spcAft>
                <a:spcPts val="300"/>
              </a:spcAft>
              <a:buClr>
                <a:srgbClr val="4FD0F5"/>
              </a:buClr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YOLO26s 학습 가중치 탑재 — 대체: RIAWELC 사전학습 + GDXray W0001·W0002 검증 → 그래도 불가 시 폴백 탐지기로 시연</a:t>
            </a:r>
          </a:p>
          <a:p>
            <a:pPr marL="167957" indent="-167957">
              <a:lnSpc>
                <a:spcPct val="114000"/>
              </a:lnSpc>
              <a:spcAft>
                <a:spcPts val="300"/>
              </a:spcAft>
              <a:buClr>
                <a:srgbClr val="4FD0F5"/>
              </a:buClr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기준표 실제 수치 확정(선급 지침·멘토링) — 대체: 공개 규격 구조의 데모 수치 유지, 조항 번호로 구분</a:t>
            </a:r>
          </a:p>
          <a:p>
            <a:pPr marL="167957" indent="-167957">
              <a:lnSpc>
                <a:spcPct val="114000"/>
              </a:lnSpc>
              <a:spcAft>
                <a:spcPts val="300"/>
              </a:spcAft>
              <a:buClr>
                <a:srgbClr val="4FD0F5"/>
              </a:buClr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현직 판독원의 보고서 양식 검증 — 대체: IACS UR W33 §8 필수 항목[2]으로 자체 검증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893040" y="1371600"/>
            <a:ext cx="4782311" cy="2971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0EC"/>
            </a:solidFill>
          </a:ln>
        </p:spPr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13213080" y="1746504"/>
            <a:ext cx="146304" cy="146304"/>
          </a:xfrm>
          <a:prstGeom prst="ellipse">
            <a:avLst/>
          </a:prstGeom>
          <a:solidFill>
            <a:srgbClr val="4FD0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459968" y="1645920"/>
            <a:ext cx="389534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개발 범위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213080" y="2148840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3F6FD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/>
            <a:r>
              <a:rPr sz="115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포함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13080" y="2560320"/>
            <a:ext cx="195681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7957" indent="-167957">
              <a:lnSpc>
                <a:spcPct val="114000"/>
              </a:lnSpc>
              <a:spcAft>
                <a:spcPts val="400"/>
              </a:spcAft>
              <a:buClr>
                <a:srgbClr val="4FD0F5"/>
              </a:buClr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4대 기능(2차 눈·2클릭 자+규칙 판정·소견서·기록) + 자연어 검색</a:t>
            </a:r>
          </a:p>
          <a:p>
            <a:pPr marL="167957" indent="-167957">
              <a:lnSpc>
                <a:spcPct val="114000"/>
              </a:lnSpc>
              <a:spcAft>
                <a:spcPts val="400"/>
              </a:spcAft>
              <a:buClr>
                <a:srgbClr val="4FD0F5"/>
              </a:buClr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YOLO 학습 + GDXray 교차 검증 수치(검출률·장당 오탐) 공개</a:t>
            </a:r>
          </a:p>
          <a:p>
            <a:pPr marL="167957" indent="-167957">
              <a:lnSpc>
                <a:spcPct val="114000"/>
              </a:lnSpc>
              <a:spcAft>
                <a:spcPts val="400"/>
              </a:spcAft>
              <a:buClr>
                <a:srgbClr val="4FD0F5"/>
              </a:buClr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오프라인 시연 모드(템플릿·캐시), PDF·CSV·JSON 백업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5398496" y="2148840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8EDF7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/>
            <a:r>
              <a:rPr sz="1150" b="1" i="0">
                <a:solidFill>
                  <a:srgbClr val="5B6B8C"/>
                </a:solidFill>
                <a:latin typeface="Pretendard"/>
                <a:ea typeface="Pretendard"/>
                <a:cs typeface="Pretendard"/>
              </a:rPr>
              <a:t>제외 (로드맵)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398496" y="2560320"/>
            <a:ext cx="195681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7957" indent="-167957">
              <a:lnSpc>
                <a:spcPct val="114000"/>
              </a:lnSpc>
              <a:spcAft>
                <a:spcPts val="400"/>
              </a:spcAft>
              <a:buClr>
                <a:srgbClr val="4FD0F5"/>
              </a:buClr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취부(부재 맞대기 조립) 불량 예방 모듈, 폰 촬영 측정, AR 고글</a:t>
            </a:r>
          </a:p>
          <a:p>
            <a:pPr marL="167957" indent="-167957">
              <a:lnSpc>
                <a:spcPct val="114000"/>
              </a:lnSpc>
              <a:spcAft>
                <a:spcPts val="400"/>
              </a:spcAft>
              <a:buClr>
                <a:srgbClr val="4FD0F5"/>
              </a:buClr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위험도 샘플링 추천(검사 지점은 선급·선주·품질부서 권한)</a:t>
            </a:r>
          </a:p>
          <a:p>
            <a:pPr marL="167957" indent="-167957">
              <a:lnSpc>
                <a:spcPct val="114000"/>
              </a:lnSpc>
              <a:spcAft>
                <a:spcPts val="400"/>
              </a:spcAft>
              <a:buClr>
                <a:srgbClr val="4FD0F5"/>
              </a:buClr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재학습 파이프라인·초음파(UT) 판독·조선소 현장 파일럿 → 로드맵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00600" y="4572000"/>
            <a:ext cx="7818120" cy="15087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0EC"/>
            </a:solidFill>
          </a:ln>
        </p:spPr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5120640" y="4855464"/>
            <a:ext cx="146304" cy="146304"/>
          </a:xfrm>
          <a:prstGeom prst="ellipse">
            <a:avLst/>
          </a:prstGeom>
          <a:solidFill>
            <a:srgbClr val="4FD0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67527" y="4754880"/>
            <a:ext cx="69311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팀원별 역할 분담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0640" y="5138928"/>
            <a:ext cx="71780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7957" indent="-167957">
              <a:lnSpc>
                <a:spcPct val="114000"/>
              </a:lnSpc>
              <a:spcAft>
                <a:spcPts val="200"/>
              </a:spcAft>
              <a:buClr>
                <a:srgbClr val="4FD0F5"/>
              </a:buClr>
              <a:buFont typeface="Arial"/>
              <a:buChar char="•"/>
            </a:pPr>
            <a:r>
              <a:rPr sz="115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1인 참가</a:t>
            </a:r>
            <a:r>
              <a:rPr sz="11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 — 기획·개발·데이터·디자인 전담</a:t>
            </a:r>
          </a:p>
          <a:p>
            <a:pPr marL="167957" indent="-167957">
              <a:lnSpc>
                <a:spcPct val="114000"/>
              </a:lnSpc>
              <a:spcAft>
                <a:spcPts val="200"/>
              </a:spcAft>
              <a:buClr>
                <a:srgbClr val="4FD0F5"/>
              </a:buClr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보유 경험: YOLO 결함 탐지(랩실)·LLM 파이프라인 프로토타입 / 적용 스택: Python·Streamlit·OpenCV·SQLite</a:t>
            </a:r>
          </a:p>
          <a:p>
            <a:pPr marL="167957" indent="-167957">
              <a:lnSpc>
                <a:spcPct val="114000"/>
              </a:lnSpc>
              <a:spcAft>
                <a:spcPts val="200"/>
              </a:spcAft>
              <a:buClr>
                <a:srgbClr val="4FD0F5"/>
              </a:buClr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외부 자원(본선 진출 시): 도메인 멘토링 2회(기준 원문·보고서 양식), 기술 멘토링 2회(모델 성능·UX·리허설), 현직자 오픈카톡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800600" y="6309360"/>
            <a:ext cx="7818120" cy="2944367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0EC"/>
            </a:solidFill>
          </a:ln>
        </p:spPr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5120640" y="6638544"/>
            <a:ext cx="146304" cy="146304"/>
          </a:xfrm>
          <a:prstGeom prst="ellipse">
            <a:avLst/>
          </a:prstGeom>
          <a:solidFill>
            <a:srgbClr val="4FD0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67527" y="6537960"/>
            <a:ext cx="69311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시연 시나리오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120640" y="6931152"/>
            <a:ext cx="1657350" cy="73152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5230368" y="703173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B2A6B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23559" y="7004304"/>
            <a:ext cx="106299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사진 열기(스캔 필름) · 대비 향상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60870" y="6931152"/>
            <a:ext cx="1657350" cy="73152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7070598" y="703173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B2A6B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63790" y="7004304"/>
            <a:ext cx="106299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AI 후보 표시 → 종류 확정·채택 / 오탐 기각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801100" y="6931152"/>
            <a:ext cx="1657350" cy="73152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8910828" y="703173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B2A6B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04020" y="7004304"/>
            <a:ext cx="106299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납마커 양 끝 2클릭 → mm/픽셀 확정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641330" y="6931152"/>
            <a:ext cx="1657350" cy="73152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9" name="Rounded Rectangle 48"/>
          <p:cNvSpPr/>
          <p:nvPr/>
        </p:nvSpPr>
        <p:spPr>
          <a:xfrm>
            <a:off x="10751057" y="703173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B2A6B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144250" y="7004304"/>
            <a:ext cx="106299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결함 양 끝 2클릭 → 크기 확정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120640" y="7772400"/>
            <a:ext cx="1657350" cy="73152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2" name="Rounded Rectangle 51"/>
          <p:cNvSpPr/>
          <p:nvPr/>
        </p:nvSpPr>
        <p:spPr>
          <a:xfrm>
            <a:off x="5230368" y="7872983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B2A6B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23559" y="7845552"/>
            <a:ext cx="106299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판정 실행 → 단일·누적·면적률 + 근거 조항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960870" y="7772400"/>
            <a:ext cx="1657350" cy="73152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5" name="Rounded Rectangle 54"/>
          <p:cNvSpPr/>
          <p:nvPr/>
        </p:nvSpPr>
        <p:spPr>
          <a:xfrm>
            <a:off x="7070598" y="7872983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B2A6B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63790" y="7845552"/>
            <a:ext cx="106299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소견서 초안 → 편집 → 승인 · PDF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801100" y="7772400"/>
            <a:ext cx="1657350" cy="73152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8910828" y="7872983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B2A6B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04020" y="7845552"/>
            <a:ext cx="106299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말로 ‘3번 블록 기공 이력’ 검색·요약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641330" y="7772400"/>
            <a:ext cx="1657350" cy="73152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1" name="Rounded Rectangle 60"/>
          <p:cNvSpPr/>
          <p:nvPr/>
        </p:nvSpPr>
        <p:spPr>
          <a:xfrm>
            <a:off x="10751057" y="7872983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B2A6B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144250" y="7845552"/>
            <a:ext cx="106299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채택률·미탐 지표 확인 · 학습 라벨 내보내기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20640" y="8796528"/>
            <a:ext cx="7178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5B6B8C"/>
                </a:solidFill>
                <a:latin typeface="Pretendard"/>
                <a:ea typeface="Pretendard"/>
                <a:cs typeface="Pretendard"/>
              </a:rPr>
              <a:t>균열 포함 불합격 1건 + 무결함 합격 1건을 합성 RT 필름으로 시연(실제 필름은 현장 보안 통제로 기간 내 확보 곤란). 화면의 후보 박스는 폴백 탐지기 출력이며, 측정에 쓴 신뢰도 기준 0.5는 프로그램 내부값(화면 슬라이더는 표시 필터)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2893040" y="4572000"/>
            <a:ext cx="4782311" cy="4681727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0EC"/>
            </a:solidFill>
          </a:ln>
        </p:spPr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13213080" y="4800600"/>
            <a:ext cx="414223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동작 프로토타입 화면</a:t>
            </a:r>
          </a:p>
        </p:txBody>
      </p:sp>
      <p:pic>
        <p:nvPicPr>
          <p:cNvPr id="66" name="Picture 65" descr="app_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13080" y="5193792"/>
            <a:ext cx="4142231" cy="3447287"/>
          </a:xfrm>
          <a:prstGeom prst="rect">
            <a:avLst/>
          </a:prstGeom>
          <a:ln w="9525">
            <a:solidFill>
              <a:srgbClr val="D9E0EC"/>
            </a:solidFill>
          </a:ln>
        </p:spPr>
      </p:pic>
      <p:sp>
        <p:nvSpPr>
          <p:cNvPr id="67" name="TextBox 66"/>
          <p:cNvSpPr txBox="1"/>
          <p:nvPr/>
        </p:nvSpPr>
        <p:spPr>
          <a:xfrm>
            <a:off x="13213080" y="8686800"/>
            <a:ext cx="41422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5B6B8C"/>
                </a:solidFill>
                <a:latin typeface="Pretendard"/>
                <a:ea typeface="Pretendard"/>
                <a:cs typeface="Pretendard"/>
              </a:rPr>
              <a:t>앱 실제 화면(2026.09.09판) — 합성 RT 필름 · AI 후보 오버레이(주황) · 클릭 도구. 사이드바: 기준표 판본·100mm 구간·보고 항목 충족률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0600" y="9299448"/>
            <a:ext cx="128747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5B6B8C"/>
                </a:solidFill>
                <a:latin typeface="Pretendard"/>
                <a:ea typeface="Pretendard"/>
                <a:cs typeface="Pretendard"/>
              </a:rPr>
              <a:t>참고  [1] rt-workbench 저장소(2026.09 — 자동 테스트 tests/ · E2E scripts/demo_e2e.py · 탐지 측정 scripts/eval_detector.py)  ·  [2] IACS UR W33 Rev.1/Corr.1(2021) §8.2·§8.5  ·  화면은 앱 실제 캡처(2026.09.09판: 사이드바에 기준표 판본·100mm 평가 구간·선급 보고 항목 충족률)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91000" cy="10287000"/>
          </a:xfrm>
          <a:prstGeom prst="rect">
            <a:avLst/>
          </a:prstGeom>
          <a:solidFill>
            <a:srgbClr val="0B2A6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71500" y="685800"/>
            <a:ext cx="924669" cy="6037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7143"/>
              </a:lnSpc>
              <a:buNone/>
            </a:pPr>
            <a:r>
              <a:rPr lang="en-US" sz="4950" b="1" dirty="0">
                <a:solidFill>
                  <a:srgbClr val="4FD0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4950" dirty="0"/>
          </a:p>
        </p:txBody>
      </p:sp>
      <p:sp>
        <p:nvSpPr>
          <p:cNvPr id="4" name="Shape 2"/>
          <p:cNvSpPr/>
          <p:nvPr/>
        </p:nvSpPr>
        <p:spPr>
          <a:xfrm>
            <a:off x="1648569" y="1028700"/>
            <a:ext cx="533400" cy="28575"/>
          </a:xfrm>
          <a:prstGeom prst="rect">
            <a:avLst/>
          </a:prstGeom>
          <a:solidFill>
            <a:srgbClr val="7FDCFF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71500" y="1613446"/>
            <a:ext cx="3296412" cy="10894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2222"/>
              </a:lnSpc>
              <a:buNone/>
            </a:pPr>
            <a:r>
              <a:rPr lang="en-US" sz="3450" b="1" kern="0" spc="-69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필요 </a:t>
            </a:r>
            <a:r>
              <a:rPr lang="en-US" sz="3450" b="1" kern="0" spc="-69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</a:t>
            </a:r>
            <a:r>
              <a:rPr lang="en-US" sz="3450" b="1" kern="0" spc="-69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및</a:t>
            </a:r>
          </a:p>
          <a:p>
            <a:pPr marL="0" indent="0" algn="l">
              <a:lnSpc>
                <a:spcPct val="102222"/>
              </a:lnSpc>
              <a:buNone/>
            </a:pPr>
            <a:r>
              <a:rPr lang="en-US" sz="3450" b="1" kern="0" spc="-69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확보</a:t>
            </a:r>
            <a:r>
              <a:rPr lang="en-US" sz="3450" b="1" kern="0" spc="-69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방안</a:t>
            </a:r>
            <a:endParaRPr lang="en-US" sz="3450" dirty="0"/>
          </a:p>
        </p:txBody>
      </p:sp>
      <p:sp>
        <p:nvSpPr>
          <p:cNvPr id="6" name="Shape 4"/>
          <p:cNvSpPr/>
          <p:nvPr/>
        </p:nvSpPr>
        <p:spPr>
          <a:xfrm>
            <a:off x="571500" y="3026718"/>
            <a:ext cx="3200400" cy="19050"/>
          </a:xfrm>
          <a:prstGeom prst="rect">
            <a:avLst/>
          </a:prstGeom>
          <a:solidFill>
            <a:srgbClr val="7FDCFF">
              <a:alpha val="3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71500" y="3312468"/>
            <a:ext cx="35204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7FD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활용 예정 데이터</a:t>
            </a:r>
            <a:endParaRPr lang="en-US" sz="2025" dirty="0"/>
          </a:p>
        </p:txBody>
      </p:sp>
      <p:sp>
        <p:nvSpPr>
          <p:cNvPr id="8" name="Text 6"/>
          <p:cNvSpPr/>
          <p:nvPr/>
        </p:nvSpPr>
        <p:spPr>
          <a:xfrm>
            <a:off x="571500" y="3702993"/>
            <a:ext cx="3296412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>
                    <a:alpha val="72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유형·형태·규모(예: 설비 센서 로그, 도면 이미지, 텍스트 문서 등)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71500" y="4613523"/>
            <a:ext cx="35204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7FD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확보 방법</a:t>
            </a:r>
            <a:endParaRPr lang="en-US" sz="2025" dirty="0"/>
          </a:p>
        </p:txBody>
      </p:sp>
      <p:sp>
        <p:nvSpPr>
          <p:cNvPr id="10" name="Text 8"/>
          <p:cNvSpPr/>
          <p:nvPr/>
        </p:nvSpPr>
        <p:spPr>
          <a:xfrm>
            <a:off x="571500" y="5004048"/>
            <a:ext cx="3296412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>
                    <a:alpha val="72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공개 데이터 / 직접 수집 / 합성 데이터 생성 / 크롤링 등 구체적 경로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71500" y="5914579"/>
            <a:ext cx="35204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7FD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대체 방안</a:t>
            </a:r>
            <a:endParaRPr lang="en-US" sz="2025" dirty="0"/>
          </a:p>
        </p:txBody>
      </p:sp>
      <p:sp>
        <p:nvSpPr>
          <p:cNvPr id="12" name="Text 10"/>
          <p:cNvSpPr/>
          <p:nvPr/>
        </p:nvSpPr>
        <p:spPr>
          <a:xfrm>
            <a:off x="571500" y="6305104"/>
            <a:ext cx="3296412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>
                    <a:alpha val="72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확보가 어려울 경우의 대안 또는 축소 실행안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800600" y="1057275"/>
            <a:ext cx="12877800" cy="19050"/>
          </a:xfrm>
          <a:prstGeom prst="rect">
            <a:avLst/>
          </a:prstGeom>
          <a:solidFill>
            <a:srgbClr val="0B2A6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800600" y="571500"/>
            <a:ext cx="85204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351" dirty="0">
                <a:solidFill>
                  <a:srgbClr val="0B2A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작성란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5126444" y="571500"/>
            <a:ext cx="280715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8B9A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K-조선 해커톤 · 05</a:t>
            </a:r>
            <a:endParaRPr lang="en-US" sz="1950" dirty="0"/>
          </a:p>
        </p:txBody>
      </p:sp>
      <p:sp>
        <p:nvSpPr>
          <p:cNvPr id="16" name="Oval 15"/>
          <p:cNvSpPr/>
          <p:nvPr/>
        </p:nvSpPr>
        <p:spPr>
          <a:xfrm>
            <a:off x="4800600" y="1472184"/>
            <a:ext cx="146304" cy="146304"/>
          </a:xfrm>
          <a:prstGeom prst="ellipse">
            <a:avLst/>
          </a:prstGeom>
          <a:solidFill>
            <a:srgbClr val="4FD0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488" y="1371600"/>
            <a:ext cx="126278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활용 예정 데이터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0600" y="1874519"/>
            <a:ext cx="4108704" cy="26060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0EC"/>
            </a:solidFill>
          </a:ln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074920" y="2130552"/>
            <a:ext cx="3560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AI Hub 용접 AI 학습 데이터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74920" y="2587752"/>
            <a:ext cx="3108960" cy="329184"/>
          </a:xfrm>
          <a:prstGeom prst="roundRect">
            <a:avLst>
              <a:gd name="adj" fmla="val 50000"/>
            </a:avLst>
          </a:prstGeom>
          <a:solidFill>
            <a:srgbClr val="E3F6FD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/>
            <a:r>
              <a:rPr sz="11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AI Hub 71761 · NIA 2023[3]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2953511"/>
            <a:ext cx="356006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「창원 지역 특화산업 고도화 및 디지털 전환 촉진을 위한 용접 AI 학습 데이터」 — 강재(RT·VT=육안검사)·알루미늄(RT) 용접 사진 144,019장(이 중 RT 70,000장; 활용 신청 시 페이지에서 확인한 수치), 결함 영역 폴리곤 라벨(JSON), 공식 예시 모델 YOLOv5x-seg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74920" y="3913632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0B2A6B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/>
            <a:r>
              <a:rPr sz="115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주력 학습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3624" y="1874519"/>
            <a:ext cx="4108704" cy="26060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0EC"/>
            </a:solidFill>
          </a:ln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457944" y="2130552"/>
            <a:ext cx="3560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RIAWELC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57944" y="2587752"/>
            <a:ext cx="3108960" cy="329184"/>
          </a:xfrm>
          <a:prstGeom prst="roundRect">
            <a:avLst>
              <a:gd name="adj" fmla="val 50000"/>
            </a:avLst>
          </a:prstGeom>
          <a:solidFill>
            <a:srgbClr val="E3F6FD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/>
            <a:r>
              <a:rPr sz="11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GitHub 공개 · Totino 외 2022[2]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7944" y="2953511"/>
            <a:ext cx="356006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224×224(문서상 규격) 조각 사진 24,407장. 4종 분류: 균열 7,635 · 기공(용접 속 기포 구멍) 6,320 · 용입부족 4,452 · 정상 6,000(종류 이름 대응은 문헌 기준, 원저자 확인 예정). 결함 위치 박스 없음, 2000×8640 산업 원본에서 잘라낸 조각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57944" y="3913632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0B2A6B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/>
            <a:r>
              <a:rPr sz="115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사전학습·분류 검증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566648" y="1874519"/>
            <a:ext cx="4108704" cy="26060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0EC"/>
            </a:solidFill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3840968" y="2130552"/>
            <a:ext cx="3560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GDXray Welds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840968" y="2587752"/>
            <a:ext cx="3108960" cy="329184"/>
          </a:xfrm>
          <a:prstGeom prst="roundRect">
            <a:avLst>
              <a:gd name="adj" fmla="val 50000"/>
            </a:avLst>
          </a:prstGeom>
          <a:solidFill>
            <a:srgbClr val="E3F6FD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/>
            <a:r>
              <a:rPr sz="11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Mery 외 2015[1] · BAM 제공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840968" y="2953511"/>
            <a:ext cx="356006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3시리즈 88장 — W0001 원본 10장 + W0002 정답 마스크 10장(결함 641개의 박스·흑백 정답 이미지), W0003 독일 BAM 연구소의 기관 간 비교시험 필름 68장(논문 표 기준, 본문은 67장; 촬영 규격 ISO 17636-1 A급, 스캔 규격 ISO 14096-2 DB급) · 연구·교육 목적만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3840968" y="3913632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0B2A6B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/>
            <a:r>
              <a:rPr sz="1150" b="1" i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탐지 교차 검증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00600" y="4572000"/>
            <a:ext cx="1287475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B6B8C"/>
                </a:solidFill>
                <a:latin typeface="Pretendard"/>
                <a:ea typeface="Pretendard"/>
                <a:cs typeface="Pretendard"/>
              </a:rPr>
              <a:t>3종 모두 실존 확인(수치는 논문·README·신청 확인 기준). AI Hub 폴리곤 라벨은 YOLO 박스로 변환, RIAWELC는 위치 정보가 없어 분류 사전학습에만 사용. AI Hub는 내국인 활용 신청·승인 필요·국외 반출 금지·출처 표기 의무[3], GDXray는 상업 이용 금지[1], RIAWELC는 공개된 학습·테스트 나눔에 같은 원본의 조각이 섞여 있어 원본 단위로 다시 나눠 쓴다[2]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800600" y="5212080"/>
            <a:ext cx="6400800" cy="4041647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0EC"/>
            </a:solidFill>
          </a:ln>
        </p:spPr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5120640" y="5586984"/>
            <a:ext cx="146304" cy="146304"/>
          </a:xfrm>
          <a:prstGeom prst="ellipse">
            <a:avLst/>
          </a:prstGeom>
          <a:solidFill>
            <a:srgbClr val="4FD0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67527" y="5486400"/>
            <a:ext cx="551383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확보 방법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0640" y="6080760"/>
            <a:ext cx="5760720" cy="303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17" indent="-169417">
              <a:lnSpc>
                <a:spcPct val="112000"/>
              </a:lnSpc>
              <a:spcAft>
                <a:spcPts val="600"/>
              </a:spcAft>
              <a:buClr>
                <a:srgbClr val="4FD0F5"/>
              </a:buClr>
              <a:buFont typeface="Arial"/>
              <a:buChar char="•"/>
            </a:pPr>
            <a:r>
              <a:rPr sz="116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공개 데이터</a:t>
            </a:r>
            <a:r>
              <a:rPr sz="116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: AI Hub는 내국인 활용 신청(승인 수일). 단, 일부 검색 결과는 이 데이터셋을 국방데이터로 분류해 군 담당자의 별도 승인이 필요하다고 하므로 </a:t>
            </a:r>
            <a:r>
              <a:rPr sz="116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신청 시 접근 가능 여부를 먼저 확인</a:t>
            </a:r>
            <a:r>
              <a:rPr sz="116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한다. RIAWELC·GDXray는 직접 내려받는다</a:t>
            </a:r>
          </a:p>
          <a:p>
            <a:pPr marL="169417" indent="-169417">
              <a:lnSpc>
                <a:spcPct val="112000"/>
              </a:lnSpc>
              <a:spcAft>
                <a:spcPts val="600"/>
              </a:spcAft>
              <a:buClr>
                <a:srgbClr val="4FD0F5"/>
              </a:buClr>
              <a:buFont typeface="Arial"/>
              <a:buChar char="•"/>
            </a:pPr>
            <a:r>
              <a:rPr sz="116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합성 데이터</a:t>
            </a:r>
            <a:r>
              <a:rPr sz="116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: 개발·시연용 합성 RT 필름 생성기(기준물·결함 심기) — 프로토타입에 포함, 탐지 성능 측정에 사용</a:t>
            </a:r>
          </a:p>
          <a:p>
            <a:pPr marL="169417" indent="-169417">
              <a:lnSpc>
                <a:spcPct val="112000"/>
              </a:lnSpc>
              <a:spcAft>
                <a:spcPts val="600"/>
              </a:spcAft>
              <a:buClr>
                <a:srgbClr val="4FD0F5"/>
              </a:buClr>
              <a:buFont typeface="Arial"/>
              <a:buChar char="•"/>
            </a:pPr>
            <a:r>
              <a:rPr sz="116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자체 축적</a:t>
            </a:r>
            <a:r>
              <a:rPr sz="116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: 채택·직접 추가한 결함 박스가 학습 라벨로 내보내지는 구조 — 데이터는 검사업체·조선소 소유, 반출 없이 사내 보관</a:t>
            </a:r>
          </a:p>
          <a:p>
            <a:pPr marL="169417" indent="-169417">
              <a:lnSpc>
                <a:spcPct val="112000"/>
              </a:lnSpc>
              <a:spcAft>
                <a:spcPts val="600"/>
              </a:spcAft>
              <a:buClr>
                <a:srgbClr val="4FD0F5"/>
              </a:buClr>
              <a:buFont typeface="Arial"/>
              <a:buChar char="•"/>
            </a:pPr>
            <a:r>
              <a:rPr sz="116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필름 스캔 전제</a:t>
            </a:r>
            <a:r>
              <a:rPr sz="116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: 필름 스캐너(디지타이저; 스캔 화질 규격 ISO 14096-2의 DS/DB/DA 등급)는 3만 달러급 장비(판매점 가격 기준[8]) → 조직 공용 장비 또는 국내 RT 필름 스캔 서비스로 확보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75720" y="5212080"/>
            <a:ext cx="6199631" cy="4041647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0EC"/>
            </a:solidFill>
          </a:ln>
        </p:spPr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11795760" y="5586984"/>
            <a:ext cx="146304" cy="146304"/>
          </a:xfrm>
          <a:prstGeom prst="ellipse">
            <a:avLst/>
          </a:prstGeom>
          <a:solidFill>
            <a:srgbClr val="4FD0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042648" y="5486400"/>
            <a:ext cx="531266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대체 방안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795760" y="6080760"/>
            <a:ext cx="5559551" cy="303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17" indent="-169417">
              <a:lnSpc>
                <a:spcPct val="112000"/>
              </a:lnSpc>
              <a:spcAft>
                <a:spcPts val="600"/>
              </a:spcAft>
              <a:buClr>
                <a:srgbClr val="4FD0F5"/>
              </a:buClr>
              <a:buFont typeface="Arial"/>
              <a:buChar char="•"/>
            </a:pPr>
            <a:r>
              <a:rPr sz="116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AI Hub 승인 지연·제공 제한 시 </a:t>
            </a:r>
            <a:r>
              <a:rPr sz="116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RIAWELC 사전학습 + GDXray W0001·W0002(결함 641개 박스+정답) 탐지 검증</a:t>
            </a:r>
            <a:r>
              <a:rPr sz="116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으로 대체. 폴리곤 라벨 공개 데이터 SWRD(2025, 3,600장 이상)[7]도 후보(라이선스 확인 후)</a:t>
            </a:r>
          </a:p>
          <a:p>
            <a:pPr marL="169417" indent="-169417">
              <a:lnSpc>
                <a:spcPct val="112000"/>
              </a:lnSpc>
              <a:spcAft>
                <a:spcPts val="600"/>
              </a:spcAft>
              <a:buClr>
                <a:srgbClr val="4FD0F5"/>
              </a:buClr>
              <a:buFont typeface="Arial"/>
              <a:buChar char="•"/>
            </a:pPr>
            <a:r>
              <a:rPr sz="116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실제 조선소 필름은 보안 통제로 기간 내 확보 곤란 → 공개 데이터 + 합성 필름으로 시연하고 </a:t>
            </a:r>
            <a:r>
              <a:rPr sz="116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현장 파일럿 필요를 명시</a:t>
            </a:r>
          </a:p>
          <a:p>
            <a:pPr marL="169417" indent="-169417">
              <a:lnSpc>
                <a:spcPct val="112000"/>
              </a:lnSpc>
              <a:spcAft>
                <a:spcPts val="600"/>
              </a:spcAft>
              <a:buClr>
                <a:srgbClr val="4FD0F5"/>
              </a:buClr>
              <a:buFont typeface="Arial"/>
              <a:buChar char="•"/>
            </a:pPr>
            <a:r>
              <a:rPr sz="116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성능 목표는 </a:t>
            </a:r>
            <a:r>
              <a:rPr sz="116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검출률(재현율) 우선</a:t>
            </a:r>
            <a:r>
              <a:rPr sz="116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: 실제로 쓸 신뢰도 기준에서 검출률 ≥ 95%, 장당 오탐 ≤ 5건(AI Hub RT 테스트셋). mAP(탐지 정확도 종합 지표)는 보조</a:t>
            </a:r>
          </a:p>
          <a:p>
            <a:pPr marL="169417" indent="-169417">
              <a:lnSpc>
                <a:spcPct val="112000"/>
              </a:lnSpc>
              <a:spcAft>
                <a:spcPts val="600"/>
              </a:spcAft>
              <a:buClr>
                <a:srgbClr val="4FD0F5"/>
              </a:buClr>
              <a:buFont typeface="Arial"/>
              <a:buChar char="•"/>
            </a:pPr>
            <a:r>
              <a:rPr sz="116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문헌은 정제된 데이터셋에서 mAP@0.5 약 93~97%[6][7], 강관 X-ray 세트는 99%[7]까지 보고한다. 그러나 학습과 다른 데이터셋에 그대로 적용하면 분류 과제에서도 macro-F1 약 64%로 급락하고[4], 정확도도 98.75→90.3→75.8%로 떨어진 보고가 있다[5] → </a:t>
            </a:r>
            <a:r>
              <a:rPr sz="116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한계까지 측정·공개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00600" y="9299448"/>
            <a:ext cx="128747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5B6B8C"/>
                </a:solidFill>
                <a:latin typeface="Pretendard"/>
                <a:ea typeface="Pretendard"/>
                <a:cs typeface="Pretendard"/>
              </a:rPr>
              <a:t>참고  [1] Mery 외, J Nondestruct Eval 34:42(2015)  ·  [2] RIAWELC GitHub README · Totino·Spagnolo·Perri 2022/2023†  ·  [3] AI Hub 71761 활용 신청 확인 자료·이용정책†  ·  [4] WeldVGG, Sensors 25(19):6183(2025)†  ·  [5] Palma-Ramírez 외, Heliyon 2024 e30590†  ·  [6] Lu 외, J Nondestruct Eval 44:91(2025, GDXray mAP@0.5 97.2%)†  ·  [7] MGDR-YOLO, Sensors 2026 · DSF-YOLO, Sci Rep 2025 · SWRD, J Nondestruct Eval 2025†  ·  [8] VIDAR NDT PRO 판매점 가격†  ·  † 검색 요약 기준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91000" cy="10287000"/>
          </a:xfrm>
          <a:prstGeom prst="rect">
            <a:avLst/>
          </a:prstGeom>
          <a:solidFill>
            <a:srgbClr val="0B2A6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71500" y="685800"/>
            <a:ext cx="905619" cy="6037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7143"/>
              </a:lnSpc>
              <a:buNone/>
            </a:pPr>
            <a:r>
              <a:rPr lang="en-US" sz="4950" b="1" dirty="0">
                <a:solidFill>
                  <a:srgbClr val="4FD0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4950" dirty="0"/>
          </a:p>
        </p:txBody>
      </p:sp>
      <p:sp>
        <p:nvSpPr>
          <p:cNvPr id="4" name="Shape 2"/>
          <p:cNvSpPr/>
          <p:nvPr/>
        </p:nvSpPr>
        <p:spPr>
          <a:xfrm>
            <a:off x="1629519" y="1028700"/>
            <a:ext cx="533400" cy="28575"/>
          </a:xfrm>
          <a:prstGeom prst="rect">
            <a:avLst/>
          </a:prstGeom>
          <a:solidFill>
            <a:srgbClr val="7FDCFF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71500" y="1613446"/>
            <a:ext cx="3520440" cy="563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2222"/>
              </a:lnSpc>
              <a:buNone/>
            </a:pPr>
            <a:r>
              <a:rPr lang="en-US" sz="3450" b="1" kern="0" spc="-69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효과</a:t>
            </a:r>
            <a:endParaRPr lang="en-US" sz="3450" dirty="0"/>
          </a:p>
        </p:txBody>
      </p:sp>
      <p:sp>
        <p:nvSpPr>
          <p:cNvPr id="6" name="Shape 4"/>
          <p:cNvSpPr/>
          <p:nvPr/>
        </p:nvSpPr>
        <p:spPr>
          <a:xfrm>
            <a:off x="571500" y="2501057"/>
            <a:ext cx="3200400" cy="19050"/>
          </a:xfrm>
          <a:prstGeom prst="rect">
            <a:avLst/>
          </a:prstGeom>
          <a:solidFill>
            <a:srgbClr val="7FDCFF">
              <a:alpha val="3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71500" y="2786807"/>
            <a:ext cx="35204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7FD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산업적 효과</a:t>
            </a:r>
            <a:endParaRPr lang="en-US" sz="2025" dirty="0"/>
          </a:p>
        </p:txBody>
      </p:sp>
      <p:sp>
        <p:nvSpPr>
          <p:cNvPr id="8" name="Text 6"/>
          <p:cNvSpPr/>
          <p:nvPr/>
        </p:nvSpPr>
        <p:spPr>
          <a:xfrm>
            <a:off x="571500" y="3177332"/>
            <a:ext cx="3296412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>
                    <a:alpha val="72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조선산업 현장에 적용되었을 때 기대되는 효과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71500" y="4087862"/>
            <a:ext cx="35204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7FD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정량 지표</a:t>
            </a:r>
            <a:endParaRPr lang="en-US" sz="2025" dirty="0"/>
          </a:p>
        </p:txBody>
      </p:sp>
      <p:sp>
        <p:nvSpPr>
          <p:cNvPr id="10" name="Text 8"/>
          <p:cNvSpPr/>
          <p:nvPr/>
        </p:nvSpPr>
        <p:spPr>
          <a:xfrm>
            <a:off x="571500" y="4478387"/>
            <a:ext cx="3296412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>
                    <a:alpha val="72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가능한 경우 수치(시간 절감, 오류율 감소 등)로 제시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71500" y="5388918"/>
            <a:ext cx="35204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7FD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확장 가능성</a:t>
            </a:r>
            <a:endParaRPr lang="en-US" sz="2025" dirty="0"/>
          </a:p>
        </p:txBody>
      </p:sp>
      <p:sp>
        <p:nvSpPr>
          <p:cNvPr id="12" name="Text 10"/>
          <p:cNvSpPr/>
          <p:nvPr/>
        </p:nvSpPr>
        <p:spPr>
          <a:xfrm>
            <a:off x="571500" y="5779443"/>
            <a:ext cx="3296412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>
                    <a:alpha val="72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 공정·타 산업으로의 확장 또는 고도화 방향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800600" y="1057275"/>
            <a:ext cx="12877800" cy="19050"/>
          </a:xfrm>
          <a:prstGeom prst="rect">
            <a:avLst/>
          </a:prstGeom>
          <a:solidFill>
            <a:srgbClr val="0B2A6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800600" y="571500"/>
            <a:ext cx="85204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351" dirty="0">
                <a:solidFill>
                  <a:srgbClr val="0B2A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작성란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5122575" y="571500"/>
            <a:ext cx="281140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8B9A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K-조선 해커톤 · 06</a:t>
            </a:r>
            <a:endParaRPr lang="en-US" sz="1950" dirty="0"/>
          </a:p>
        </p:txBody>
      </p:sp>
      <p:sp>
        <p:nvSpPr>
          <p:cNvPr id="16" name="Rounded Rectangle 15"/>
          <p:cNvSpPr/>
          <p:nvPr/>
        </p:nvSpPr>
        <p:spPr>
          <a:xfrm>
            <a:off x="4800600" y="1371600"/>
            <a:ext cx="6903720" cy="41605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0EC"/>
            </a:solidFill>
          </a:ln>
        </p:spPr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120640" y="1746504"/>
            <a:ext cx="146304" cy="146304"/>
          </a:xfrm>
          <a:prstGeom prst="ellipse">
            <a:avLst/>
          </a:prstGeom>
          <a:solidFill>
            <a:srgbClr val="4FD0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7527" y="1645920"/>
            <a:ext cx="60167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산업적 효과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2240280"/>
            <a:ext cx="6263640" cy="3154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0" indent="-175260">
              <a:lnSpc>
                <a:spcPct val="112000"/>
              </a:lnSpc>
              <a:spcAft>
                <a:spcPts val="600"/>
              </a:spcAft>
              <a:buClr>
                <a:srgbClr val="4FD0F5"/>
              </a:buClr>
              <a:buFont typeface="Arial"/>
              <a:buChar char="•"/>
            </a:pPr>
            <a:r>
              <a:rPr sz="12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판독원의 </a:t>
            </a:r>
            <a:r>
              <a:rPr sz="120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문서·서류 검색 노동 제거</a:t>
            </a:r>
            <a:r>
              <a:rPr sz="12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 → 자격자가 판독에 집중. 인력이 줄고[2] 숙련자 확보가 어려운[3] 국면에서 1인당 처리량 향상(앱이 기록한 소요시간과 수기 기준선으로 실측)</a:t>
            </a:r>
          </a:p>
          <a:p>
            <a:pPr marL="175260" indent="-175260">
              <a:lnSpc>
                <a:spcPct val="112000"/>
              </a:lnSpc>
              <a:spcAft>
                <a:spcPts val="600"/>
              </a:spcAft>
              <a:buClr>
                <a:srgbClr val="4FD0F5"/>
              </a:buClr>
              <a:buFont typeface="Arial"/>
              <a:buChar char="•"/>
            </a:pPr>
            <a:r>
              <a:rPr sz="12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검사 기록의 </a:t>
            </a:r>
            <a:r>
              <a:rPr sz="120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디지털 자산화</a:t>
            </a:r>
            <a:r>
              <a:rPr sz="12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: 선급 규칙(IACS UR W33 §8)의 보고 항목 25개(일반 13·RT 12)를 입력 필드로 갖추고 충족률 n/25를 표시, PDF에는 규칙 원문 항목명을 함께 적는다</a:t>
            </a:r>
          </a:p>
          <a:p>
            <a:pPr marL="175260" indent="-175260">
              <a:lnSpc>
                <a:spcPct val="112000"/>
              </a:lnSpc>
              <a:spcAft>
                <a:spcPts val="600"/>
              </a:spcAft>
              <a:buClr>
                <a:srgbClr val="4FD0F5"/>
              </a:buClr>
              <a:buFont typeface="Arial"/>
              <a:buChar char="•"/>
            </a:pPr>
            <a:r>
              <a:rPr sz="12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블록·용접부·종류·합격 여부·기간으로 조건 검색, CSV 반출 → 선주·선급 요청 시 </a:t>
            </a:r>
            <a:r>
              <a:rPr sz="120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서류 수색을 화면 조회로 대체</a:t>
            </a:r>
          </a:p>
          <a:p>
            <a:pPr marL="175260" indent="-175260">
              <a:lnSpc>
                <a:spcPct val="112000"/>
              </a:lnSpc>
              <a:spcAft>
                <a:spcPts val="600"/>
              </a:spcAft>
              <a:buClr>
                <a:srgbClr val="4FD0F5"/>
              </a:buClr>
              <a:buFont typeface="Arial"/>
              <a:buChar char="•"/>
            </a:pPr>
            <a:r>
              <a:rPr sz="120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2028.01 이후 건조계약 선박에 적용되는 IACS 개정 규칙[1]의 100mm 구간 판독을 이미 구현</a:t>
            </a:r>
            <a:r>
              <a:rPr sz="12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 — 결함 위치를 따라 100mm 구간을 옮겨가며 가장 나쁜 구간으로 판정(위치 정보가 없으면 사진 전체를 한 구간으로 합산해 더 엄격하게). 규칙이 바뀌기 전에 준비된 규칙 엔진</a:t>
            </a:r>
          </a:p>
          <a:p>
            <a:pPr marL="175260" indent="-175260">
              <a:lnSpc>
                <a:spcPct val="112000"/>
              </a:lnSpc>
              <a:spcAft>
                <a:spcPts val="600"/>
              </a:spcAft>
              <a:buClr>
                <a:srgbClr val="4FD0F5"/>
              </a:buClr>
              <a:buFont typeface="Arial"/>
              <a:buChar char="•"/>
            </a:pPr>
            <a:r>
              <a:rPr sz="12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도입 2경로: ① 검사업체의 생산성 도구 ② 조선소 품질부서가 보고서 표준화·기록 관리 용도로 도입 — 어느 쪽도 클라우드 반출 없이 사내 설치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978640" y="1371600"/>
            <a:ext cx="5696711" cy="41605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0EC"/>
            </a:solidFill>
          </a:ln>
        </p:spPr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12298680" y="1746504"/>
            <a:ext cx="146304" cy="146304"/>
          </a:xfrm>
          <a:prstGeom prst="ellipse">
            <a:avLst/>
          </a:prstGeom>
          <a:solidFill>
            <a:srgbClr val="4FD0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545568" y="1645920"/>
            <a:ext cx="480974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확장 가능성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98680" y="2240280"/>
            <a:ext cx="5056631" cy="3154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0" indent="-175260">
              <a:lnSpc>
                <a:spcPct val="112000"/>
              </a:lnSpc>
              <a:spcAft>
                <a:spcPts val="600"/>
              </a:spcAft>
              <a:buClr>
                <a:srgbClr val="4FD0F5"/>
              </a:buClr>
              <a:buFont typeface="Arial"/>
              <a:buChar char="•"/>
            </a:pPr>
            <a:r>
              <a:rPr sz="12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기준표는 데이터(JSON) — </a:t>
            </a:r>
            <a:r>
              <a:rPr sz="120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판정식 3종 구조 안에서는 수치 교체만으로 전환</a:t>
            </a:r>
            <a:r>
              <a:rPr sz="12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(규칙 엔진 코드 무변경), 규격 판본별 JSON을 화면에서 선택</a:t>
            </a:r>
          </a:p>
          <a:p>
            <a:pPr marL="175260" indent="-175260">
              <a:lnSpc>
                <a:spcPct val="112000"/>
              </a:lnSpc>
              <a:spcAft>
                <a:spcPts val="600"/>
              </a:spcAft>
              <a:buClr>
                <a:srgbClr val="4FD0F5"/>
              </a:buClr>
              <a:buFont typeface="Arial"/>
              <a:buChar char="•"/>
            </a:pPr>
            <a:r>
              <a:rPr sz="120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디지털 RT 사진</a:t>
            </a:r>
            <a:r>
              <a:rPr sz="12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도 같은 처리 흐름 — 현재 프로토타입은 8-bit PNG·JPG 입력 기준이며, 12/16-bit TIFF 등 원본 형식 지원은 본선 과제. IACS UR W34 적용 선박(2021.07 이후 건조계약)의 검사 흐름에 편입</a:t>
            </a:r>
          </a:p>
          <a:p>
            <a:pPr marL="175260" indent="-175260">
              <a:lnSpc>
                <a:spcPct val="112000"/>
              </a:lnSpc>
              <a:spcAft>
                <a:spcPts val="600"/>
              </a:spcAft>
              <a:buClr>
                <a:srgbClr val="4FD0F5"/>
              </a:buClr>
              <a:buFont typeface="Arial"/>
              <a:buChar char="•"/>
            </a:pPr>
            <a:r>
              <a:rPr sz="12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KR도 2026.06 AI 기반 디지털 선급 협력에 착수했다(비파괴검사에 한정된 협력은 아님)[4]. 초음파(UT) 판독은 사진이 아닌 신호를 다루므로 범위 밖</a:t>
            </a:r>
          </a:p>
          <a:p>
            <a:pPr marL="175260" indent="-175260">
              <a:lnSpc>
                <a:spcPct val="112000"/>
              </a:lnSpc>
              <a:spcAft>
                <a:spcPts val="600"/>
              </a:spcAft>
              <a:buClr>
                <a:srgbClr val="4FD0F5"/>
              </a:buClr>
              <a:buFont typeface="Arial"/>
              <a:buChar char="•"/>
            </a:pPr>
            <a:r>
              <a:rPr sz="12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발전 플랜트 배관·튜브 등 </a:t>
            </a:r>
            <a:r>
              <a:rPr sz="1200" b="1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RT 판독 직군 공통</a:t>
            </a:r>
            <a:r>
              <a:rPr sz="12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 문제(두산에너빌리티 사례) → 타 산업 전개</a:t>
            </a:r>
          </a:p>
          <a:p>
            <a:pPr marL="175260" indent="-175260">
              <a:lnSpc>
                <a:spcPct val="112000"/>
              </a:lnSpc>
              <a:spcAft>
                <a:spcPts val="600"/>
              </a:spcAft>
              <a:buClr>
                <a:srgbClr val="4FD0F5"/>
              </a:buClr>
              <a:buFont typeface="Arial"/>
              <a:buChar char="•"/>
            </a:pPr>
            <a:r>
              <a:rPr sz="120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로드맵: 조선소 현장 파일럿, 재학습 파이프라인(라벨 검수 대기열 포함), DNV-RP-0671(2023.09) 같은 AI 신뢰성 검증 지침에 따른 문서화[5], 설치형 패키징</a:t>
            </a:r>
          </a:p>
        </p:txBody>
      </p:sp>
      <p:sp>
        <p:nvSpPr>
          <p:cNvPr id="24" name="Oval 23"/>
          <p:cNvSpPr/>
          <p:nvPr/>
        </p:nvSpPr>
        <p:spPr>
          <a:xfrm>
            <a:off x="4800600" y="5952744"/>
            <a:ext cx="146304" cy="146304"/>
          </a:xfrm>
          <a:prstGeom prst="ellipse">
            <a:avLst/>
          </a:prstGeom>
          <a:solidFill>
            <a:srgbClr val="4FD0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47488" y="5852159"/>
            <a:ext cx="126278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정량 지표 — 효과(측정 설계)와 검증(현재 수치)을 구분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00600" y="6355079"/>
            <a:ext cx="3026664" cy="221284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0EC"/>
            </a:solidFill>
          </a:ln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074920" y="6611112"/>
            <a:ext cx="2478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8B9AB5"/>
                </a:solidFill>
                <a:latin typeface="Pretendard"/>
                <a:ea typeface="Pretendard"/>
                <a:cs typeface="Pretendard"/>
              </a:rPr>
              <a:t>효과① 보고서 작성 시간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74920" y="6958583"/>
            <a:ext cx="247802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실측 설계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74920" y="7616951"/>
            <a:ext cx="2478024" cy="8412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앱이 사진 열기→승인 소요시간을 자동 기록(구현 완료). 수기 기준선은 현직 판독원 확인 후 비교 — 미확정 수치는 기재하지 않음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83296" y="6355079"/>
            <a:ext cx="3026664" cy="221284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0EC"/>
            </a:solidFill>
          </a:ln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357616" y="6611112"/>
            <a:ext cx="2478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8B9AB5"/>
                </a:solidFill>
                <a:latin typeface="Pretendard"/>
                <a:ea typeface="Pretendard"/>
                <a:cs typeface="Pretendard"/>
              </a:rPr>
              <a:t>효과② 기록 검색 시간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7616" y="6958583"/>
            <a:ext cx="247802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수색 → 조회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57616" y="7616951"/>
            <a:ext cx="2478024" cy="8412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블록·용접부·종류·합격 여부·기간 조건 검색과 말로 검색·요약. 목표: 과거 기록 조회를 서류 수색에서 화면 조회로 — 시연에서 실측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365992" y="6355079"/>
            <a:ext cx="3026664" cy="221284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0EC"/>
            </a:solidFill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1640312" y="6611112"/>
            <a:ext cx="2478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8B9AB5"/>
                </a:solidFill>
                <a:latin typeface="Pretendard"/>
                <a:ea typeface="Pretendard"/>
                <a:cs typeface="Pretendard"/>
              </a:rPr>
              <a:t>검증① 2차 눈 성능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640312" y="6958583"/>
            <a:ext cx="247802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검출률 ≥ 95%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640312" y="7616951"/>
            <a:ext cx="2478024" cy="8412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실제로 쓸 신뢰도 기준에서 검출률·장당 오탐을 함께 공개(AI Hub RT 테스트셋 + GDXray 교차). 현재 폴백 탐지기: 합성 필름 결함 14개 중 14개 탐지, 장당 오탐 3.8건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648688" y="6355079"/>
            <a:ext cx="3026664" cy="221284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E0EC"/>
            </a:solidFill>
          </a:ln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4923008" y="6611112"/>
            <a:ext cx="2478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8B9AB5"/>
                </a:solidFill>
                <a:latin typeface="Pretendard"/>
                <a:ea typeface="Pretendard"/>
                <a:cs typeface="Pretendard"/>
              </a:rPr>
              <a:t>검증② 프로토타입 품질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923008" y="6958583"/>
            <a:ext cx="247802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0B2A6B"/>
                </a:solidFill>
                <a:latin typeface="Pretendard"/>
                <a:ea typeface="Pretendard"/>
                <a:cs typeface="Pretendard"/>
              </a:rPr>
              <a:t>테스트 281건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923008" y="7616951"/>
            <a:ext cx="2478024" cy="8412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F2A44"/>
                </a:solidFill>
                <a:latin typeface="Pretendard"/>
                <a:ea typeface="Pretendard"/>
                <a:cs typeface="Pretendard"/>
              </a:rPr>
              <a:t>자동 테스트 281건 · 합성 필름 전 과정 자동 검증 · 판정 3종·PDF·DB·라벨 내보내기 회귀 테스트. 운영 시 채택률·미탐(직접 추가) 건수 자동 집계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00600" y="8686800"/>
            <a:ext cx="1287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B6B8C"/>
                </a:solidFill>
                <a:latin typeface="Pretendard"/>
                <a:ea typeface="Pretendard"/>
                <a:cs typeface="Pretendard"/>
              </a:rPr>
              <a:t>판정 항목마다 허용 한계·근거 조항 번호와 </a:t>
            </a:r>
            <a:r>
              <a:rPr sz="1200" b="1" i="0">
                <a:solidFill>
                  <a:srgbClr val="5B6B8C"/>
                </a:solidFill>
                <a:latin typeface="Pretendard"/>
                <a:ea typeface="Pretendard"/>
                <a:cs typeface="Pretendard"/>
              </a:rPr>
              <a:t>적용 기준표 이름·판본</a:t>
            </a:r>
            <a:r>
              <a:rPr sz="1200" b="0" i="0">
                <a:solidFill>
                  <a:srgbClr val="5B6B8C"/>
                </a:solidFill>
                <a:latin typeface="Pretendard"/>
                <a:ea typeface="Pretendard"/>
                <a:cs typeface="Pretendard"/>
              </a:rPr>
              <a:t>이 판정표·PDF·기록에 자동 기재되고, 판본을 바꾸면 재판정이 강제된다 → 판정 근거 누락을 구조적으로 방지(현재는 데모 기준표)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00600" y="9299448"/>
            <a:ext cx="128747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5B6B8C"/>
                </a:solidFill>
                <a:latin typeface="Pretendard"/>
                <a:ea typeface="Pretendard"/>
                <a:cs typeface="Pretendard"/>
              </a:rPr>
              <a:t>참고  [1] IACS UR W33 Rev.2·W34 Rev.1(2026.07.15 승인, 2028.01.01 이후 건조계약분; 100mm 평가 길이 자체는 현행 ISO 10675-1 기준)  ·  [2] 두산에너빌리티 2026.03 전시 인터뷰†  ·  [3] 가스신문 2025.09.18†  ·  [4] KR×Microsoft AI 협력 보도(2026.06)†  ·  [5] DNV-RP-0671(2023.09)†  ·  효과 지표는 측정 설계이며 확정 수치 아님  ·  † 검색 요약 기준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327</Words>
  <Application>Microsoft Office PowerPoint</Application>
  <PresentationFormat>사용자 지정</PresentationFormat>
  <Paragraphs>77</Paragraphs>
  <Slides>6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Pretendard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안 성민</cp:lastModifiedBy>
  <cp:revision>2</cp:revision>
  <dcterms:created xsi:type="dcterms:W3CDTF">2026-08-11T00:19:57Z</dcterms:created>
  <dcterms:modified xsi:type="dcterms:W3CDTF">2026-08-11T01:19:30Z</dcterms:modified>
</cp:coreProperties>
</file>