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240" userDrawn="1">
          <p15:clr>
            <a:srgbClr val="A4A3A4"/>
          </p15:clr>
        </p15:guide>
        <p15:guide id="2" pos="57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72" d="100"/>
          <a:sy n="72" d="100"/>
        </p:scale>
        <p:origin x="576" y="66"/>
      </p:cViewPr>
      <p:guideLst>
        <p:guide orient="horz" pos="3240"/>
        <p:guide pos="57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01582943"/>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팀 정보를 채워 제출합니다.</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문제 인식 배경과 목표를 구체적으로.</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아이디어 개요와 적용 기술, 차별점.</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MVP 기능, 범위, 역할, 시연 시나리오.</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데이터 유형, 확보 경로, 대체 방안.</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산업적 효과와 정량 지표, 확장 가능성.</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12489F">
                  <a:alpha val="100000"/>
                </a:srgbClr>
              </a:gs>
              <a:gs pos="42000">
                <a:srgbClr val="0B2A6B">
                  <a:alpha val="100000"/>
                </a:srgbClr>
              </a:gs>
              <a:gs pos="100000">
                <a:srgbClr val="061532">
                  <a:alpha val="100000"/>
                </a:srgbClr>
              </a:gs>
            </a:gsLst>
            <a:path path="circle">
              <a:fillToRect l="78000" t="18000" r="22000" b="82000"/>
            </a:path>
          </a:gradFill>
          <a:ln/>
        </p:spPr>
        <p:txBody>
          <a:bodyPr/>
          <a:lstStyle/>
          <a:p>
            <a:endParaRPr lang="ko-KR" altLang="en-US"/>
          </a:p>
        </p:txBody>
      </p:sp>
      <p:sp>
        <p:nvSpPr>
          <p:cNvPr id="3" name="Shape 1"/>
          <p:cNvSpPr/>
          <p:nvPr/>
        </p:nvSpPr>
        <p:spPr>
          <a:xfrm>
            <a:off x="1143000" y="3167063"/>
            <a:ext cx="609600" cy="38100"/>
          </a:xfrm>
          <a:prstGeom prst="rect">
            <a:avLst/>
          </a:prstGeom>
          <a:solidFill>
            <a:srgbClr val="4FD0F5"/>
          </a:solidFill>
          <a:ln/>
        </p:spPr>
        <p:txBody>
          <a:bodyPr/>
          <a:lstStyle/>
          <a:p>
            <a:endParaRPr lang="ko-KR" altLang="en-US"/>
          </a:p>
        </p:txBody>
      </p:sp>
      <p:sp>
        <p:nvSpPr>
          <p:cNvPr id="4" name="Text 2"/>
          <p:cNvSpPr/>
          <p:nvPr/>
        </p:nvSpPr>
        <p:spPr>
          <a:xfrm>
            <a:off x="1962150" y="2995613"/>
            <a:ext cx="1163241" cy="419100"/>
          </a:xfrm>
          <a:prstGeom prst="rect">
            <a:avLst/>
          </a:prstGeom>
          <a:noFill/>
          <a:ln/>
        </p:spPr>
        <p:txBody>
          <a:bodyPr wrap="square" lIns="25400" tIns="25400" rIns="25400" bIns="25400" rtlCol="0" anchor="t">
            <a:normAutofit/>
          </a:bodyPr>
          <a:lstStyle/>
          <a:p>
            <a:pPr marL="0" indent="0" algn="l">
              <a:buNone/>
            </a:pPr>
            <a:r>
              <a:rPr lang="en-US" sz="2550" b="1" kern="0" spc="561" dirty="0">
                <a:solidFill>
                  <a:srgbClr val="7FDCFF"/>
                </a:solidFill>
                <a:latin typeface="Pretendard" pitchFamily="34" charset="0"/>
                <a:ea typeface="Pretendard" pitchFamily="34" charset="-122"/>
                <a:cs typeface="Pretendard" pitchFamily="34" charset="-120"/>
              </a:rPr>
              <a:t>2026</a:t>
            </a:r>
            <a:endParaRPr lang="en-US" sz="2550" dirty="0"/>
          </a:p>
        </p:txBody>
      </p:sp>
      <p:sp>
        <p:nvSpPr>
          <p:cNvPr id="5" name="Text 3"/>
          <p:cNvSpPr/>
          <p:nvPr/>
        </p:nvSpPr>
        <p:spPr>
          <a:xfrm>
            <a:off x="1143000" y="3700463"/>
            <a:ext cx="17602200" cy="1466850"/>
          </a:xfrm>
          <a:prstGeom prst="rect">
            <a:avLst/>
          </a:prstGeom>
          <a:noFill/>
          <a:ln/>
        </p:spPr>
        <p:txBody>
          <a:bodyPr wrap="square" lIns="25400" tIns="25400" rIns="25400" bIns="25400" rtlCol="0" anchor="t">
            <a:normAutofit/>
          </a:bodyPr>
          <a:lstStyle/>
          <a:p>
            <a:pPr marL="0" indent="0" algn="l">
              <a:lnSpc>
                <a:spcPct val="85227"/>
              </a:lnSpc>
              <a:buNone/>
            </a:pPr>
            <a:r>
              <a:rPr lang="en-US" sz="11250" b="1" kern="0" spc="-337" dirty="0">
                <a:solidFill>
                  <a:srgbClr val="FFFFFF"/>
                </a:solidFill>
                <a:latin typeface="Pretendard" pitchFamily="34" charset="0"/>
                <a:ea typeface="Pretendard" pitchFamily="34" charset="-122"/>
                <a:cs typeface="Pretendard" pitchFamily="34" charset="-120"/>
              </a:rPr>
              <a:t>K-조선 해커톤</a:t>
            </a:r>
            <a:endParaRPr lang="en-US" sz="11250" dirty="0"/>
          </a:p>
        </p:txBody>
      </p:sp>
      <p:sp>
        <p:nvSpPr>
          <p:cNvPr id="6" name="Text 4"/>
          <p:cNvSpPr/>
          <p:nvPr/>
        </p:nvSpPr>
        <p:spPr>
          <a:xfrm>
            <a:off x="1143000" y="5453063"/>
            <a:ext cx="17602200" cy="752475"/>
          </a:xfrm>
          <a:prstGeom prst="rect">
            <a:avLst/>
          </a:prstGeom>
          <a:noFill/>
          <a:ln/>
        </p:spPr>
        <p:txBody>
          <a:bodyPr wrap="square" lIns="25400" tIns="25400" rIns="25400" bIns="25400" rtlCol="0" anchor="t">
            <a:normAutofit/>
          </a:bodyPr>
          <a:lstStyle/>
          <a:p>
            <a:pPr marL="0" indent="0" algn="l">
              <a:buNone/>
            </a:pPr>
            <a:r>
              <a:rPr lang="en-US" sz="4800" kern="0" spc="1440" dirty="0">
                <a:solidFill>
                  <a:srgbClr val="BCD8FF"/>
                </a:solidFill>
                <a:latin typeface="Pretendard" pitchFamily="34" charset="0"/>
                <a:ea typeface="Pretendard" pitchFamily="34" charset="-122"/>
                <a:cs typeface="Pretendard" pitchFamily="34" charset="-120"/>
              </a:rPr>
              <a:t>계 획 서</a:t>
            </a:r>
            <a:endParaRPr lang="en-US" sz="4800" dirty="0"/>
          </a:p>
        </p:txBody>
      </p:sp>
      <p:sp>
        <p:nvSpPr>
          <p:cNvPr id="7" name="Shape 5"/>
          <p:cNvSpPr/>
          <p:nvPr/>
        </p:nvSpPr>
        <p:spPr>
          <a:xfrm>
            <a:off x="1143000" y="8115300"/>
            <a:ext cx="16002000" cy="19050"/>
          </a:xfrm>
          <a:prstGeom prst="rect">
            <a:avLst/>
          </a:prstGeom>
          <a:solidFill>
            <a:srgbClr val="7FDCFF">
              <a:alpha val="45000"/>
            </a:srgbClr>
          </a:solidFill>
          <a:ln/>
        </p:spPr>
        <p:txBody>
          <a:bodyPr/>
          <a:lstStyle/>
          <a:p>
            <a:endParaRPr lang="ko-KR" altLang="en-US"/>
          </a:p>
        </p:txBody>
      </p:sp>
      <p:sp>
        <p:nvSpPr>
          <p:cNvPr id="8" name="Text 6"/>
          <p:cNvSpPr/>
          <p:nvPr/>
        </p:nvSpPr>
        <p:spPr>
          <a:xfrm>
            <a:off x="1143000" y="8553450"/>
            <a:ext cx="5238750" cy="333375"/>
          </a:xfrm>
          <a:prstGeom prst="rect">
            <a:avLst/>
          </a:prstGeom>
          <a:noFill/>
          <a:ln/>
        </p:spPr>
        <p:txBody>
          <a:bodyPr wrap="square" lIns="25400" tIns="25400" rIns="25400" bIns="25400" rtlCol="0" anchor="t">
            <a:normAutofit/>
          </a:bodyPr>
          <a:lstStyle/>
          <a:p>
            <a:pPr marL="0" indent="0" algn="l">
              <a:buNone/>
            </a:pPr>
            <a:r>
              <a:rPr lang="en-US" sz="1950" b="1" kern="0" spc="312" dirty="0">
                <a:solidFill>
                  <a:srgbClr val="4FD0F5"/>
                </a:solidFill>
                <a:latin typeface="Pretendard" pitchFamily="34" charset="0"/>
                <a:ea typeface="Pretendard" pitchFamily="34" charset="-122"/>
                <a:cs typeface="Pretendard" pitchFamily="34" charset="-120"/>
              </a:rPr>
              <a:t>팀명</a:t>
            </a:r>
            <a:endParaRPr lang="en-US" sz="1950" dirty="0"/>
          </a:p>
        </p:txBody>
      </p:sp>
      <p:sp>
        <p:nvSpPr>
          <p:cNvPr id="9" name="Text 7"/>
          <p:cNvSpPr/>
          <p:nvPr/>
        </p:nvSpPr>
        <p:spPr>
          <a:xfrm>
            <a:off x="1143000" y="8982075"/>
            <a:ext cx="5238750" cy="485775"/>
          </a:xfrm>
          <a:prstGeom prst="rect">
            <a:avLst/>
          </a:prstGeom>
          <a:noFill/>
          <a:ln/>
        </p:spPr>
        <p:txBody>
          <a:bodyPr wrap="square" lIns="25400" tIns="25400" rIns="25400" bIns="25400" rtlCol="0" anchor="t">
            <a:normAutofit/>
          </a:bodyPr>
          <a:lstStyle/>
          <a:p>
            <a:pPr marL="0" indent="0" algn="l">
              <a:buNone/>
            </a:pPr>
            <a:r>
              <a:rPr lang="en-US" sz="3000" dirty="0">
                <a:solidFill>
                  <a:srgbClr val="FFFFFF">
                    <a:alpha val="55000"/>
                  </a:srgbClr>
                </a:solidFill>
                <a:latin typeface="Pretendard" pitchFamily="34" charset="0"/>
                <a:ea typeface="Pretendard" pitchFamily="34" charset="-122"/>
                <a:cs typeface="Pretendard" pitchFamily="34" charset="-120"/>
              </a:rPr>
              <a:t>[팀명 기재]</a:t>
            </a:r>
            <a:endParaRPr lang="en-US" sz="3000" dirty="0"/>
          </a:p>
        </p:txBody>
      </p:sp>
      <p:sp>
        <p:nvSpPr>
          <p:cNvPr id="10" name="Shape 8"/>
          <p:cNvSpPr/>
          <p:nvPr/>
        </p:nvSpPr>
        <p:spPr>
          <a:xfrm>
            <a:off x="6477000" y="8553450"/>
            <a:ext cx="9525" cy="876300"/>
          </a:xfrm>
          <a:prstGeom prst="rect">
            <a:avLst/>
          </a:prstGeom>
          <a:solidFill>
            <a:srgbClr val="FFFFFF">
              <a:alpha val="18000"/>
            </a:srgbClr>
          </a:solidFill>
          <a:ln/>
        </p:spPr>
        <p:txBody>
          <a:bodyPr/>
          <a:lstStyle/>
          <a:p>
            <a:endParaRPr lang="ko-KR" altLang="en-US"/>
          </a:p>
        </p:txBody>
      </p:sp>
      <p:sp>
        <p:nvSpPr>
          <p:cNvPr id="11" name="Text 9"/>
          <p:cNvSpPr/>
          <p:nvPr/>
        </p:nvSpPr>
        <p:spPr>
          <a:xfrm>
            <a:off x="7058025" y="8553450"/>
            <a:ext cx="4599623" cy="333375"/>
          </a:xfrm>
          <a:prstGeom prst="rect">
            <a:avLst/>
          </a:prstGeom>
          <a:noFill/>
          <a:ln/>
        </p:spPr>
        <p:txBody>
          <a:bodyPr wrap="square" lIns="25400" tIns="25400" rIns="25400" bIns="25400" rtlCol="0" anchor="t">
            <a:normAutofit/>
          </a:bodyPr>
          <a:lstStyle/>
          <a:p>
            <a:pPr marL="0" indent="0" algn="l">
              <a:buNone/>
            </a:pPr>
            <a:r>
              <a:rPr lang="en-US" sz="1950" b="1" kern="0" spc="312" dirty="0">
                <a:solidFill>
                  <a:srgbClr val="4FD0F5"/>
                </a:solidFill>
                <a:latin typeface="Pretendard" pitchFamily="34" charset="0"/>
                <a:ea typeface="Pretendard" pitchFamily="34" charset="-122"/>
                <a:cs typeface="Pretendard" pitchFamily="34" charset="-120"/>
              </a:rPr>
              <a:t>팀장</a:t>
            </a:r>
            <a:endParaRPr lang="en-US" sz="1950" dirty="0"/>
          </a:p>
        </p:txBody>
      </p:sp>
      <p:sp>
        <p:nvSpPr>
          <p:cNvPr id="12" name="Text 10"/>
          <p:cNvSpPr/>
          <p:nvPr/>
        </p:nvSpPr>
        <p:spPr>
          <a:xfrm>
            <a:off x="7058025" y="8982075"/>
            <a:ext cx="4599623" cy="485775"/>
          </a:xfrm>
          <a:prstGeom prst="rect">
            <a:avLst/>
          </a:prstGeom>
          <a:noFill/>
          <a:ln/>
        </p:spPr>
        <p:txBody>
          <a:bodyPr wrap="square" lIns="25400" tIns="25400" rIns="25400" bIns="25400" rtlCol="0" anchor="t">
            <a:normAutofit/>
          </a:bodyPr>
          <a:lstStyle/>
          <a:p>
            <a:pPr marL="0" indent="0" algn="l">
              <a:buNone/>
            </a:pPr>
            <a:r>
              <a:rPr lang="en-US" sz="3000" dirty="0">
                <a:solidFill>
                  <a:srgbClr val="FFFFFF">
                    <a:alpha val="55000"/>
                  </a:srgbClr>
                </a:solidFill>
                <a:latin typeface="Pretendard" pitchFamily="34" charset="0"/>
                <a:ea typeface="Pretendard" pitchFamily="34" charset="-122"/>
                <a:cs typeface="Pretendard" pitchFamily="34" charset="-120"/>
              </a:rPr>
              <a:t>[팀장 성명 기재]</a:t>
            </a:r>
            <a:endParaRPr lang="en-US" sz="3000" dirty="0"/>
          </a:p>
        </p:txBody>
      </p:sp>
      <p:sp>
        <p:nvSpPr>
          <p:cNvPr id="13" name="Shape 11"/>
          <p:cNvSpPr/>
          <p:nvPr/>
        </p:nvSpPr>
        <p:spPr>
          <a:xfrm>
            <a:off x="11811000" y="8553450"/>
            <a:ext cx="9525" cy="876300"/>
          </a:xfrm>
          <a:prstGeom prst="rect">
            <a:avLst/>
          </a:prstGeom>
          <a:solidFill>
            <a:srgbClr val="FFFFFF">
              <a:alpha val="18000"/>
            </a:srgbClr>
          </a:solidFill>
          <a:ln/>
        </p:spPr>
        <p:txBody>
          <a:bodyPr/>
          <a:lstStyle/>
          <a:p>
            <a:endParaRPr lang="ko-KR" altLang="en-US"/>
          </a:p>
        </p:txBody>
      </p:sp>
      <p:sp>
        <p:nvSpPr>
          <p:cNvPr id="14" name="Text 12"/>
          <p:cNvSpPr/>
          <p:nvPr/>
        </p:nvSpPr>
        <p:spPr>
          <a:xfrm>
            <a:off x="12392025" y="8553450"/>
            <a:ext cx="5228273" cy="333375"/>
          </a:xfrm>
          <a:prstGeom prst="rect">
            <a:avLst/>
          </a:prstGeom>
          <a:noFill/>
          <a:ln/>
        </p:spPr>
        <p:txBody>
          <a:bodyPr wrap="square" lIns="25400" tIns="25400" rIns="25400" bIns="25400" rtlCol="0" anchor="t">
            <a:normAutofit/>
          </a:bodyPr>
          <a:lstStyle/>
          <a:p>
            <a:pPr marL="0" indent="0" algn="l">
              <a:buNone/>
            </a:pPr>
            <a:r>
              <a:rPr lang="en-US" sz="1950" b="1" kern="0" spc="312" dirty="0">
                <a:solidFill>
                  <a:srgbClr val="4FD0F5"/>
                </a:solidFill>
                <a:latin typeface="Pretendard" pitchFamily="34" charset="0"/>
                <a:ea typeface="Pretendard" pitchFamily="34" charset="-122"/>
                <a:cs typeface="Pretendard" pitchFamily="34" charset="-120"/>
              </a:rPr>
              <a:t>팀원</a:t>
            </a:r>
            <a:endParaRPr lang="en-US" sz="1950" dirty="0"/>
          </a:p>
        </p:txBody>
      </p:sp>
      <p:sp>
        <p:nvSpPr>
          <p:cNvPr id="15" name="Text 13"/>
          <p:cNvSpPr/>
          <p:nvPr/>
        </p:nvSpPr>
        <p:spPr>
          <a:xfrm>
            <a:off x="12392025" y="8982075"/>
            <a:ext cx="5029200" cy="485775"/>
          </a:xfrm>
          <a:prstGeom prst="rect">
            <a:avLst/>
          </a:prstGeom>
          <a:noFill/>
          <a:ln/>
        </p:spPr>
        <p:txBody>
          <a:bodyPr wrap="square" lIns="25400" tIns="25400" rIns="25400" bIns="25400" rtlCol="0" anchor="t">
            <a:normAutofit/>
          </a:bodyPr>
          <a:lstStyle/>
          <a:p>
            <a:pPr marL="0" indent="0" algn="l">
              <a:buNone/>
            </a:pPr>
            <a:r>
              <a:rPr lang="en-US" sz="3000" dirty="0">
                <a:solidFill>
                  <a:srgbClr val="FFFFFF">
                    <a:alpha val="55000"/>
                  </a:srgbClr>
                </a:solidFill>
                <a:latin typeface="Pretendard" pitchFamily="34" charset="0"/>
                <a:ea typeface="Pretendard" pitchFamily="34" charset="-122"/>
                <a:cs typeface="Pretendard" pitchFamily="34" charset="-120"/>
              </a:rPr>
              <a:t>1인 참가</a:t>
            </a:r>
            <a:endParaRPr lang="en-US" sz="3000" dirty="0"/>
          </a:p>
        </p:txBody>
      </p:sp>
      <p:sp>
        <p:nvSpPr>
          <p:cNvPr id="16" name="TextBox 15"/>
          <p:cNvSpPr txBox="1"/>
          <p:nvPr/>
        </p:nvSpPr>
        <p:spPr>
          <a:xfrm>
            <a:off x="1143000" y="6510528"/>
            <a:ext cx="16002000" cy="566928"/>
          </a:xfrm>
          <a:prstGeom prst="rect">
            <a:avLst/>
          </a:prstGeom>
          <a:noFill/>
        </p:spPr>
        <p:txBody>
          <a:bodyPr wrap="square" anchor="t" lIns="0" rIns="0" tIns="0" bIns="0">
            <a:spAutoFit/>
          </a:bodyPr>
          <a:lstStyle/>
          <a:p>
            <a:pPr algn="l">
              <a:lnSpc>
                <a:spcPct val="112000"/>
              </a:lnSpc>
            </a:pPr>
            <a:r>
              <a:rPr sz="2600" b="1" i="0">
                <a:solidFill>
                  <a:srgbClr val="FFFFFF"/>
                </a:solidFill>
                <a:latin typeface="Pretendard"/>
                <a:ea typeface="Pretendard"/>
                <a:cs typeface="Pretendard"/>
              </a:rPr>
              <a:t>RT 판독 워크벤치 · “판정은 사람이, 서류는 AI가”</a:t>
            </a:r>
          </a:p>
        </p:txBody>
      </p:sp>
      <p:sp>
        <p:nvSpPr>
          <p:cNvPr id="17" name="TextBox 16"/>
          <p:cNvSpPr txBox="1"/>
          <p:nvPr/>
        </p:nvSpPr>
        <p:spPr>
          <a:xfrm>
            <a:off x="1143000" y="7150608"/>
            <a:ext cx="16002000" cy="411480"/>
          </a:xfrm>
          <a:prstGeom prst="rect">
            <a:avLst/>
          </a:prstGeom>
          <a:noFill/>
        </p:spPr>
        <p:txBody>
          <a:bodyPr wrap="square" anchor="t" lIns="0" rIns="0" tIns="0" bIns="0">
            <a:spAutoFit/>
          </a:bodyPr>
          <a:lstStyle/>
          <a:p>
            <a:pPr algn="l">
              <a:lnSpc>
                <a:spcPct val="112000"/>
              </a:lnSpc>
            </a:pPr>
            <a:r>
              <a:rPr sz="1600" b="0" i="0">
                <a:solidFill>
                  <a:srgbClr val="7FDCFF"/>
                </a:solidFill>
                <a:latin typeface="Pretendard"/>
                <a:ea typeface="Pretendard"/>
                <a:cs typeface="Pretendard"/>
              </a:rPr>
              <a:t>생산 분야 · 용접부를 X선으로 찍은 사진을 판독하는 검사자의 판정·보고서·기록 작업을 돕는, 사무실 PC에서 도는 프로그램</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2F5FA"/>
        </a:solidFill>
        <a:effectLst/>
      </p:bgPr>
    </p:bg>
    <p:spTree>
      <p:nvGrpSpPr>
        <p:cNvPr id="1" name=""/>
        <p:cNvGrpSpPr/>
        <p:nvPr/>
      </p:nvGrpSpPr>
      <p:grpSpPr>
        <a:xfrm>
          <a:off x="0" y="0"/>
          <a:ext cx="0" cy="0"/>
          <a:chOff x="0" y="0"/>
          <a:chExt cx="0" cy="0"/>
        </a:xfrm>
      </p:grpSpPr>
      <p:sp>
        <p:nvSpPr>
          <p:cNvPr id="2" name="Shape 0"/>
          <p:cNvSpPr/>
          <p:nvPr/>
        </p:nvSpPr>
        <p:spPr>
          <a:xfrm>
            <a:off x="0" y="0"/>
            <a:ext cx="4191000" cy="10287000"/>
          </a:xfrm>
          <a:prstGeom prst="rect">
            <a:avLst/>
          </a:prstGeom>
          <a:solidFill>
            <a:srgbClr val="0B2A6B"/>
          </a:solidFill>
          <a:ln/>
        </p:spPr>
        <p:txBody>
          <a:bodyPr/>
          <a:lstStyle/>
          <a:p>
            <a:endParaRPr lang="ko-KR" altLang="en-US"/>
          </a:p>
        </p:txBody>
      </p:sp>
      <p:sp>
        <p:nvSpPr>
          <p:cNvPr id="3" name="Text 1"/>
          <p:cNvSpPr/>
          <p:nvPr/>
        </p:nvSpPr>
        <p:spPr>
          <a:xfrm>
            <a:off x="571500" y="685800"/>
            <a:ext cx="805607" cy="603796"/>
          </a:xfrm>
          <a:prstGeom prst="rect">
            <a:avLst/>
          </a:prstGeom>
          <a:noFill/>
          <a:ln/>
        </p:spPr>
        <p:txBody>
          <a:bodyPr wrap="square" lIns="25400" tIns="25400" rIns="25400" bIns="25400" rtlCol="0" anchor="t">
            <a:normAutofit/>
          </a:bodyPr>
          <a:lstStyle/>
          <a:p>
            <a:pPr marL="0" indent="0" algn="l">
              <a:lnSpc>
                <a:spcPct val="77143"/>
              </a:lnSpc>
              <a:buNone/>
            </a:pPr>
            <a:r>
              <a:rPr lang="en-US" sz="4950" b="1" dirty="0">
                <a:solidFill>
                  <a:srgbClr val="4FD0F5"/>
                </a:solidFill>
                <a:latin typeface="Pretendard" pitchFamily="34" charset="0"/>
                <a:ea typeface="Pretendard" pitchFamily="34" charset="-122"/>
                <a:cs typeface="Pretendard" pitchFamily="34" charset="-120"/>
              </a:rPr>
              <a:t>01</a:t>
            </a:r>
            <a:endParaRPr lang="en-US" sz="4950" dirty="0"/>
          </a:p>
        </p:txBody>
      </p:sp>
      <p:sp>
        <p:nvSpPr>
          <p:cNvPr id="4" name="Shape 2"/>
          <p:cNvSpPr/>
          <p:nvPr/>
        </p:nvSpPr>
        <p:spPr>
          <a:xfrm>
            <a:off x="1529507" y="1028700"/>
            <a:ext cx="533400" cy="28575"/>
          </a:xfrm>
          <a:prstGeom prst="rect">
            <a:avLst/>
          </a:prstGeom>
          <a:solidFill>
            <a:srgbClr val="7FDCFF">
              <a:alpha val="50000"/>
            </a:srgbClr>
          </a:solidFill>
          <a:ln/>
        </p:spPr>
        <p:txBody>
          <a:bodyPr/>
          <a:lstStyle/>
          <a:p>
            <a:endParaRPr lang="ko-KR" altLang="en-US"/>
          </a:p>
        </p:txBody>
      </p:sp>
      <p:sp>
        <p:nvSpPr>
          <p:cNvPr id="5" name="Text 3"/>
          <p:cNvSpPr/>
          <p:nvPr/>
        </p:nvSpPr>
        <p:spPr>
          <a:xfrm>
            <a:off x="571500" y="1613446"/>
            <a:ext cx="3520440" cy="563761"/>
          </a:xfrm>
          <a:prstGeom prst="rect">
            <a:avLst/>
          </a:prstGeom>
          <a:noFill/>
          <a:ln/>
        </p:spPr>
        <p:txBody>
          <a:bodyPr wrap="square" lIns="25400" tIns="25400" rIns="25400" bIns="25400" rtlCol="0" anchor="t">
            <a:normAutofit/>
          </a:bodyPr>
          <a:lstStyle/>
          <a:p>
            <a:pPr marL="0" indent="0" algn="l">
              <a:lnSpc>
                <a:spcPct val="102222"/>
              </a:lnSpc>
              <a:buNone/>
            </a:pPr>
            <a:r>
              <a:rPr lang="en-US" sz="3450" b="1" kern="0" spc="-69" dirty="0">
                <a:solidFill>
                  <a:srgbClr val="FFFFFF"/>
                </a:solidFill>
                <a:latin typeface="Pretendard" pitchFamily="34" charset="0"/>
                <a:ea typeface="Pretendard" pitchFamily="34" charset="-122"/>
                <a:cs typeface="Pretendard" pitchFamily="34" charset="-120"/>
              </a:rPr>
              <a:t>배경 및 목적</a:t>
            </a:r>
            <a:endParaRPr lang="en-US" sz="3450" dirty="0"/>
          </a:p>
        </p:txBody>
      </p:sp>
      <p:sp>
        <p:nvSpPr>
          <p:cNvPr id="6" name="Shape 4"/>
          <p:cNvSpPr/>
          <p:nvPr/>
        </p:nvSpPr>
        <p:spPr>
          <a:xfrm>
            <a:off x="571500" y="2501057"/>
            <a:ext cx="3200400" cy="19050"/>
          </a:xfrm>
          <a:prstGeom prst="rect">
            <a:avLst/>
          </a:prstGeom>
          <a:solidFill>
            <a:srgbClr val="7FDCFF">
              <a:alpha val="35000"/>
            </a:srgbClr>
          </a:solidFill>
          <a:ln/>
        </p:spPr>
        <p:txBody>
          <a:bodyPr/>
          <a:lstStyle/>
          <a:p>
            <a:endParaRPr lang="ko-KR" altLang="en-US"/>
          </a:p>
        </p:txBody>
      </p:sp>
      <p:sp>
        <p:nvSpPr>
          <p:cNvPr id="7" name="Text 5"/>
          <p:cNvSpPr/>
          <p:nvPr/>
        </p:nvSpPr>
        <p:spPr>
          <a:xfrm>
            <a:off x="571500" y="2786807"/>
            <a:ext cx="3520440" cy="333375"/>
          </a:xfrm>
          <a:prstGeom prst="rect">
            <a:avLst/>
          </a:prstGeom>
          <a:noFill/>
          <a:ln/>
        </p:spPr>
        <p:txBody>
          <a:bodyPr wrap="square" lIns="25400" tIns="25400" rIns="25400" bIns="25400" rtlCol="0" anchor="t">
            <a:normAutofit/>
          </a:bodyPr>
          <a:lstStyle/>
          <a:p>
            <a:pPr marL="0" indent="0" algn="l">
              <a:buNone/>
            </a:pPr>
            <a:r>
              <a:rPr lang="en-US" sz="2025" b="1" dirty="0">
                <a:solidFill>
                  <a:srgbClr val="7FDCFF"/>
                </a:solidFill>
                <a:latin typeface="Pretendard" pitchFamily="34" charset="0"/>
                <a:ea typeface="Pretendard" pitchFamily="34" charset="-122"/>
                <a:cs typeface="Pretendard" pitchFamily="34" charset="-120"/>
              </a:rPr>
              <a:t>문제 인식 배경</a:t>
            </a:r>
            <a:endParaRPr lang="en-US" sz="2025" dirty="0"/>
          </a:p>
        </p:txBody>
      </p:sp>
      <p:sp>
        <p:nvSpPr>
          <p:cNvPr id="8" name="Text 6"/>
          <p:cNvSpPr/>
          <p:nvPr/>
        </p:nvSpPr>
        <p:spPr>
          <a:xfrm>
            <a:off x="571500" y="3177332"/>
            <a:ext cx="3296412" cy="700980"/>
          </a:xfrm>
          <a:prstGeom prst="rect">
            <a:avLst/>
          </a:prstGeom>
          <a:noFill/>
          <a:ln/>
        </p:spPr>
        <p:txBody>
          <a:bodyPr wrap="square" lIns="25400" tIns="25400" rIns="25400" bIns="25400" rtlCol="0" anchor="t">
            <a:normAutofit/>
          </a:bodyPr>
          <a:lstStyle/>
          <a:p>
            <a:pPr marL="0" indent="0" algn="l">
              <a:lnSpc>
                <a:spcPct val="120000"/>
              </a:lnSpc>
              <a:buNone/>
            </a:pPr>
            <a:r>
              <a:rPr lang="en-US" sz="1800" dirty="0">
                <a:solidFill>
                  <a:srgbClr val="FFFFFF">
                    <a:alpha val="72000"/>
                  </a:srgbClr>
                </a:solidFill>
                <a:latin typeface="Pretendard" pitchFamily="34" charset="0"/>
                <a:ea typeface="Pretendard" pitchFamily="34" charset="-122"/>
                <a:cs typeface="Pretendard" pitchFamily="34" charset="-120"/>
              </a:rPr>
              <a:t>조선산업 현장에서 발견한 문제·불편함과 그 근거</a:t>
            </a:r>
            <a:endParaRPr lang="en-US" sz="1800" dirty="0"/>
          </a:p>
        </p:txBody>
      </p:sp>
      <p:sp>
        <p:nvSpPr>
          <p:cNvPr id="9" name="Text 7"/>
          <p:cNvSpPr/>
          <p:nvPr/>
        </p:nvSpPr>
        <p:spPr>
          <a:xfrm>
            <a:off x="571500" y="4087862"/>
            <a:ext cx="3520440" cy="333375"/>
          </a:xfrm>
          <a:prstGeom prst="rect">
            <a:avLst/>
          </a:prstGeom>
          <a:noFill/>
          <a:ln/>
        </p:spPr>
        <p:txBody>
          <a:bodyPr wrap="square" lIns="25400" tIns="25400" rIns="25400" bIns="25400" rtlCol="0" anchor="t">
            <a:normAutofit/>
          </a:bodyPr>
          <a:lstStyle/>
          <a:p>
            <a:pPr marL="0" indent="0" algn="l">
              <a:buNone/>
            </a:pPr>
            <a:r>
              <a:rPr lang="en-US" sz="2025" b="1" dirty="0">
                <a:solidFill>
                  <a:srgbClr val="7FDCFF"/>
                </a:solidFill>
                <a:latin typeface="Pretendard" pitchFamily="34" charset="0"/>
                <a:ea typeface="Pretendard" pitchFamily="34" charset="-122"/>
                <a:cs typeface="Pretendard" pitchFamily="34" charset="-120"/>
              </a:rPr>
              <a:t>해결하고자 하는 목표</a:t>
            </a:r>
            <a:endParaRPr lang="en-US" sz="2025" dirty="0"/>
          </a:p>
        </p:txBody>
      </p:sp>
      <p:sp>
        <p:nvSpPr>
          <p:cNvPr id="10" name="Text 8"/>
          <p:cNvSpPr/>
          <p:nvPr/>
        </p:nvSpPr>
        <p:spPr>
          <a:xfrm>
            <a:off x="571500" y="4478387"/>
            <a:ext cx="3296412" cy="700980"/>
          </a:xfrm>
          <a:prstGeom prst="rect">
            <a:avLst/>
          </a:prstGeom>
          <a:noFill/>
          <a:ln/>
        </p:spPr>
        <p:txBody>
          <a:bodyPr wrap="square" lIns="25400" tIns="25400" rIns="25400" bIns="25400" rtlCol="0" anchor="t">
            <a:normAutofit/>
          </a:bodyPr>
          <a:lstStyle/>
          <a:p>
            <a:pPr marL="0" indent="0" algn="l">
              <a:lnSpc>
                <a:spcPct val="120000"/>
              </a:lnSpc>
              <a:buNone/>
            </a:pPr>
            <a:r>
              <a:rPr lang="en-US" sz="1800" dirty="0">
                <a:solidFill>
                  <a:srgbClr val="FFFFFF">
                    <a:alpha val="72000"/>
                  </a:srgbClr>
                </a:solidFill>
                <a:latin typeface="Pretendard" pitchFamily="34" charset="0"/>
                <a:ea typeface="Pretendard" pitchFamily="34" charset="-122"/>
                <a:cs typeface="Pretendard" pitchFamily="34" charset="-120"/>
              </a:rPr>
              <a:t>본 프로젝트로 달성하려는 상태를 구체적으로 기술</a:t>
            </a:r>
            <a:endParaRPr lang="en-US" sz="1800" dirty="0"/>
          </a:p>
        </p:txBody>
      </p:sp>
      <p:sp>
        <p:nvSpPr>
          <p:cNvPr id="11" name="Text 9"/>
          <p:cNvSpPr/>
          <p:nvPr/>
        </p:nvSpPr>
        <p:spPr>
          <a:xfrm>
            <a:off x="571500" y="5388918"/>
            <a:ext cx="3520440" cy="333375"/>
          </a:xfrm>
          <a:prstGeom prst="rect">
            <a:avLst/>
          </a:prstGeom>
          <a:noFill/>
          <a:ln/>
        </p:spPr>
        <p:txBody>
          <a:bodyPr wrap="square" lIns="25400" tIns="25400" rIns="25400" bIns="25400" rtlCol="0" anchor="t">
            <a:normAutofit/>
          </a:bodyPr>
          <a:lstStyle/>
          <a:p>
            <a:pPr marL="0" indent="0" algn="l">
              <a:buNone/>
            </a:pPr>
            <a:r>
              <a:rPr lang="en-US" sz="2025" b="1" dirty="0">
                <a:solidFill>
                  <a:srgbClr val="7FDCFF"/>
                </a:solidFill>
                <a:latin typeface="Pretendard" pitchFamily="34" charset="0"/>
                <a:ea typeface="Pretendard" pitchFamily="34" charset="-122"/>
                <a:cs typeface="Pretendard" pitchFamily="34" charset="-120"/>
              </a:rPr>
              <a:t>해당 AX 분야</a:t>
            </a:r>
            <a:endParaRPr lang="en-US" sz="2025" dirty="0"/>
          </a:p>
        </p:txBody>
      </p:sp>
      <p:sp>
        <p:nvSpPr>
          <p:cNvPr id="12" name="Text 10"/>
          <p:cNvSpPr/>
          <p:nvPr/>
        </p:nvSpPr>
        <p:spPr>
          <a:xfrm>
            <a:off x="571500" y="5779443"/>
            <a:ext cx="3296412" cy="700980"/>
          </a:xfrm>
          <a:prstGeom prst="rect">
            <a:avLst/>
          </a:prstGeom>
          <a:noFill/>
          <a:ln/>
        </p:spPr>
        <p:txBody>
          <a:bodyPr wrap="square" lIns="25400" tIns="25400" rIns="25400" bIns="25400" rtlCol="0" anchor="t">
            <a:normAutofit/>
          </a:bodyPr>
          <a:lstStyle/>
          <a:p>
            <a:pPr marL="0" indent="0" algn="l">
              <a:lnSpc>
                <a:spcPct val="120000"/>
              </a:lnSpc>
              <a:buNone/>
            </a:pPr>
            <a:r>
              <a:rPr lang="en-US" sz="1800" dirty="0">
                <a:solidFill>
                  <a:srgbClr val="FFFFFF">
                    <a:alpha val="72000"/>
                  </a:srgbClr>
                </a:solidFill>
                <a:latin typeface="Pretendard" pitchFamily="34" charset="0"/>
                <a:ea typeface="Pretendard" pitchFamily="34" charset="-122"/>
                <a:cs typeface="Pretendard" pitchFamily="34" charset="-120"/>
              </a:rPr>
              <a:t>영업 / 설계 / 구매 / 생산 / 품질 / 안전 / 선박 중 선택</a:t>
            </a:r>
            <a:endParaRPr lang="en-US" sz="1800" dirty="0"/>
          </a:p>
        </p:txBody>
      </p:sp>
      <p:sp>
        <p:nvSpPr>
          <p:cNvPr id="13" name="Shape 11"/>
          <p:cNvSpPr/>
          <p:nvPr/>
        </p:nvSpPr>
        <p:spPr>
          <a:xfrm>
            <a:off x="4800600" y="1057275"/>
            <a:ext cx="12877800" cy="19050"/>
          </a:xfrm>
          <a:prstGeom prst="rect">
            <a:avLst/>
          </a:prstGeom>
          <a:solidFill>
            <a:srgbClr val="0B2A6B"/>
          </a:solidFill>
          <a:ln/>
        </p:spPr>
        <p:txBody>
          <a:bodyPr/>
          <a:lstStyle/>
          <a:p>
            <a:endParaRPr lang="ko-KR" altLang="en-US"/>
          </a:p>
        </p:txBody>
      </p:sp>
      <p:sp>
        <p:nvSpPr>
          <p:cNvPr id="14" name="Text 12"/>
          <p:cNvSpPr/>
          <p:nvPr/>
        </p:nvSpPr>
        <p:spPr>
          <a:xfrm>
            <a:off x="4800600" y="571500"/>
            <a:ext cx="852041" cy="333375"/>
          </a:xfrm>
          <a:prstGeom prst="rect">
            <a:avLst/>
          </a:prstGeom>
          <a:noFill/>
          <a:ln/>
        </p:spPr>
        <p:txBody>
          <a:bodyPr wrap="square" lIns="25400" tIns="25400" rIns="25400" bIns="25400" rtlCol="0" anchor="t">
            <a:normAutofit/>
          </a:bodyPr>
          <a:lstStyle/>
          <a:p>
            <a:pPr marL="0" indent="0" algn="l">
              <a:buNone/>
            </a:pPr>
            <a:r>
              <a:rPr lang="en-US" sz="1950" b="1" kern="0" spc="351" dirty="0">
                <a:solidFill>
                  <a:srgbClr val="0B2A6B"/>
                </a:solidFill>
                <a:latin typeface="Pretendard" pitchFamily="34" charset="0"/>
                <a:ea typeface="Pretendard" pitchFamily="34" charset="-122"/>
                <a:cs typeface="Pretendard" pitchFamily="34" charset="-120"/>
              </a:rPr>
              <a:t>작성란</a:t>
            </a:r>
            <a:endParaRPr lang="en-US" sz="1950" dirty="0"/>
          </a:p>
        </p:txBody>
      </p:sp>
      <p:sp>
        <p:nvSpPr>
          <p:cNvPr id="15" name="Text 13"/>
          <p:cNvSpPr/>
          <p:nvPr/>
        </p:nvSpPr>
        <p:spPr>
          <a:xfrm>
            <a:off x="15130165" y="571500"/>
            <a:ext cx="2803059" cy="333375"/>
          </a:xfrm>
          <a:prstGeom prst="rect">
            <a:avLst/>
          </a:prstGeom>
          <a:noFill/>
          <a:ln/>
        </p:spPr>
        <p:txBody>
          <a:bodyPr wrap="square" lIns="25400" tIns="25400" rIns="25400" bIns="25400" rtlCol="0" anchor="t">
            <a:normAutofit/>
          </a:bodyPr>
          <a:lstStyle/>
          <a:p>
            <a:pPr marL="0" indent="0" algn="l">
              <a:buNone/>
            </a:pPr>
            <a:r>
              <a:rPr lang="en-US" sz="1950" b="1" dirty="0">
                <a:solidFill>
                  <a:srgbClr val="8B9AB5"/>
                </a:solidFill>
                <a:latin typeface="Pretendard" pitchFamily="34" charset="0"/>
                <a:ea typeface="Pretendard" pitchFamily="34" charset="-122"/>
                <a:cs typeface="Pretendard" pitchFamily="34" charset="-120"/>
              </a:rPr>
              <a:t>2026 K-조선 해커톤 · 02</a:t>
            </a:r>
            <a:endParaRPr lang="en-US" sz="1950" dirty="0"/>
          </a:p>
        </p:txBody>
      </p:sp>
      <p:sp>
        <p:nvSpPr>
          <p:cNvPr id="16" name="Rounded Rectangle 15"/>
          <p:cNvSpPr/>
          <p:nvPr/>
        </p:nvSpPr>
        <p:spPr>
          <a:xfrm>
            <a:off x="4800600" y="1371600"/>
            <a:ext cx="7315200" cy="7882127"/>
          </a:xfrm>
          <a:prstGeom prst="roundRect">
            <a:avLst>
              <a:gd name="adj" fmla="val 3500"/>
            </a:avLst>
          </a:prstGeom>
          <a:solidFill>
            <a:srgbClr val="FFFFFF"/>
          </a:solidFill>
          <a:ln w="9525">
            <a:solidFill>
              <a:srgbClr val="D9E0EC"/>
            </a:solidFill>
          </a:ln>
        </p:spPr>
        <p:txBody>
          <a:bodyPr rtlCol="0" anchor="ctr"/>
          <a:lstStyle/>
          <a:p/>
        </p:txBody>
      </p:sp>
      <p:sp>
        <p:nvSpPr>
          <p:cNvPr id="17" name="Oval 16"/>
          <p:cNvSpPr/>
          <p:nvPr/>
        </p:nvSpPr>
        <p:spPr>
          <a:xfrm>
            <a:off x="5120640" y="1746504"/>
            <a:ext cx="146304" cy="146304"/>
          </a:xfrm>
          <a:prstGeom prst="ellipse">
            <a:avLst/>
          </a:prstGeom>
          <a:solidFill>
            <a:srgbClr val="4FD0F5"/>
          </a:solidFill>
          <a:ln>
            <a:noFill/>
          </a:ln>
        </p:spPr>
        <p:txBody>
          <a:bodyPr rtlCol="0" anchor="ctr"/>
          <a:lstStyle/>
          <a:p>
            <a:pPr algn="ctr"/>
          </a:p>
        </p:txBody>
      </p:sp>
      <p:sp>
        <p:nvSpPr>
          <p:cNvPr id="18" name="TextBox 17"/>
          <p:cNvSpPr txBox="1"/>
          <p:nvPr/>
        </p:nvSpPr>
        <p:spPr>
          <a:xfrm>
            <a:off x="5367527" y="1645920"/>
            <a:ext cx="6428231" cy="384048"/>
          </a:xfrm>
          <a:prstGeom prst="rect">
            <a:avLst/>
          </a:prstGeom>
          <a:noFill/>
        </p:spPr>
        <p:txBody>
          <a:bodyPr wrap="square" anchor="t" lIns="0" rIns="0" tIns="0" bIns="0">
            <a:spAutoFit/>
          </a:bodyPr>
          <a:lstStyle/>
          <a:p>
            <a:pPr algn="l">
              <a:lnSpc>
                <a:spcPct val="112000"/>
              </a:lnSpc>
            </a:pPr>
            <a:r>
              <a:rPr sz="2000" b="1" i="0">
                <a:solidFill>
                  <a:srgbClr val="0B2A6B"/>
                </a:solidFill>
                <a:latin typeface="Pretendard"/>
                <a:ea typeface="Pretendard"/>
                <a:cs typeface="Pretendard"/>
              </a:rPr>
              <a:t>문제 인식 배경</a:t>
            </a:r>
          </a:p>
        </p:txBody>
      </p:sp>
      <p:sp>
        <p:nvSpPr>
          <p:cNvPr id="19" name="TextBox 18"/>
          <p:cNvSpPr txBox="1"/>
          <p:nvPr/>
        </p:nvSpPr>
        <p:spPr>
          <a:xfrm>
            <a:off x="5120640" y="2240280"/>
            <a:ext cx="6675120" cy="6784847"/>
          </a:xfrm>
          <a:prstGeom prst="rect">
            <a:avLst/>
          </a:prstGeom>
          <a:noFill/>
        </p:spPr>
        <p:txBody>
          <a:bodyPr wrap="square" anchor="t" lIns="0" rIns="0" tIns="0" bIns="0">
            <a:spAutoFit/>
          </a:bodyPr>
          <a:lstStyle/>
          <a:p>
            <a:pPr marL="186944" indent="-186944">
              <a:lnSpc>
                <a:spcPct val="114000"/>
              </a:lnSpc>
              <a:spcAft>
                <a:spcPts val="700"/>
              </a:spcAft>
              <a:buClr>
                <a:srgbClr val="4FD0F5"/>
              </a:buClr>
              <a:buFont typeface="Arial"/>
              <a:buChar char="•"/>
            </a:pPr>
            <a:r>
              <a:rPr sz="1280" b="0" i="0">
                <a:solidFill>
                  <a:srgbClr val="1F2A44"/>
                </a:solidFill>
                <a:latin typeface="Pretendard"/>
                <a:ea typeface="Pretendard"/>
                <a:cs typeface="Pretendard"/>
              </a:rPr>
              <a:t>RT는 용접한 자리를 X선으로 찍어 속에 숨은 흠을 찾는 검사입니다. 국내 조선소는 2021년 기준 아직 대부분 </a:t>
            </a:r>
            <a:r>
              <a:rPr sz="1280" b="1" i="0">
                <a:solidFill>
                  <a:srgbClr val="1F2A44"/>
                </a:solidFill>
                <a:latin typeface="Pretendard"/>
                <a:ea typeface="Pretendard"/>
                <a:cs typeface="Pretendard"/>
              </a:rPr>
              <a:t>필름</a:t>
            </a:r>
            <a:r>
              <a:rPr sz="1280" b="0" i="0">
                <a:solidFill>
                  <a:srgbClr val="1F2A44"/>
                </a:solidFill>
                <a:latin typeface="Pretendard"/>
                <a:ea typeface="Pretendard"/>
                <a:cs typeface="Pretendard"/>
              </a:rPr>
              <a:t>으로 찍습니다[1][2].</a:t>
            </a:r>
          </a:p>
          <a:p>
            <a:pPr marL="186944" indent="-186944">
              <a:lnSpc>
                <a:spcPct val="114000"/>
              </a:lnSpc>
              <a:spcAft>
                <a:spcPts val="700"/>
              </a:spcAft>
              <a:buClr>
                <a:srgbClr val="4FD0F5"/>
              </a:buClr>
              <a:buFont typeface="Arial"/>
              <a:buChar char="•"/>
            </a:pPr>
            <a:r>
              <a:rPr sz="1280" b="0" i="0">
                <a:solidFill>
                  <a:srgbClr val="1F2A44"/>
                </a:solidFill>
                <a:latin typeface="Pretendard"/>
                <a:ea typeface="Pretendard"/>
                <a:cs typeface="Pretendard"/>
              </a:rPr>
              <a:t>한화오션(당시 대우조선해양)은 2021.07 필름 없는 디지털 RT를 내놓고, 선급 다섯 곳과 승인 체계를 함께 만들기로 했습니다[2]. 선급은 배가 안전한지 심사하고 검사하는 기관입니다. 그 뒤로 얼마나 퍼졌는지는 공개 자료로 확인되지 않아, </a:t>
            </a:r>
            <a:r>
              <a:rPr sz="1280" b="1" i="0">
                <a:solidFill>
                  <a:srgbClr val="1F2A44"/>
                </a:solidFill>
                <a:latin typeface="Pretendard"/>
                <a:ea typeface="Pretendard"/>
                <a:cs typeface="Pretendard"/>
              </a:rPr>
              <a:t>필름과 디지털이 섞여 쓰이는 시기</a:t>
            </a:r>
            <a:r>
              <a:rPr sz="1280" b="0" i="0">
                <a:solidFill>
                  <a:srgbClr val="1F2A44"/>
                </a:solidFill>
                <a:latin typeface="Pretendard"/>
                <a:ea typeface="Pretendard"/>
                <a:cs typeface="Pretendard"/>
              </a:rPr>
              <a:t>로 봤습니다.</a:t>
            </a:r>
          </a:p>
          <a:p>
            <a:pPr marL="186944" indent="-186944">
              <a:lnSpc>
                <a:spcPct val="114000"/>
              </a:lnSpc>
              <a:spcAft>
                <a:spcPts val="700"/>
              </a:spcAft>
              <a:buClr>
                <a:srgbClr val="4FD0F5"/>
              </a:buClr>
              <a:buFont typeface="Arial"/>
              <a:buChar char="•"/>
            </a:pPr>
            <a:r>
              <a:rPr sz="1280" b="0" i="0">
                <a:solidFill>
                  <a:srgbClr val="1F2A44"/>
                </a:solidFill>
                <a:latin typeface="Pretendard"/>
                <a:ea typeface="Pretendard"/>
                <a:cs typeface="Pretendard"/>
              </a:rPr>
              <a:t>선급들의 국제 협회인 IACS는 2021.07.01 이후 계약한 배부터 디지털 RT를 규칙에 넣었습니다[3]. 2026.07.15 승인한 개정 규칙은 사진을 </a:t>
            </a:r>
            <a:r>
              <a:rPr sz="1280" b="1" i="0">
                <a:solidFill>
                  <a:srgbClr val="1F2A44"/>
                </a:solidFill>
                <a:latin typeface="Pretendard"/>
                <a:ea typeface="Pretendard"/>
                <a:cs typeface="Pretendard"/>
              </a:rPr>
              <a:t>100mm 구간 단위로 판독</a:t>
            </a:r>
            <a:r>
              <a:rPr sz="1280" b="0" i="0">
                <a:solidFill>
                  <a:srgbClr val="1F2A44"/>
                </a:solidFill>
                <a:latin typeface="Pretendard"/>
                <a:ea typeface="Pretendard"/>
                <a:cs typeface="Pretendard"/>
              </a:rPr>
              <a:t>하라고 정했고, 2028.01.01 이후 계약한 배에 적용됩니다[5]. 찍는 방법이 바뀌어도 </a:t>
            </a:r>
            <a:r>
              <a:rPr sz="1280" b="1" i="0">
                <a:solidFill>
                  <a:srgbClr val="1F2A44"/>
                </a:solidFill>
                <a:latin typeface="Pretendard"/>
                <a:ea typeface="Pretendard"/>
                <a:cs typeface="Pretendard"/>
              </a:rPr>
              <a:t>판독과 판정, 기록은 사람 몫</a:t>
            </a:r>
            <a:r>
              <a:rPr sz="1280" b="0" i="0">
                <a:solidFill>
                  <a:srgbClr val="1F2A44"/>
                </a:solidFill>
                <a:latin typeface="Pretendard"/>
                <a:ea typeface="Pretendard"/>
                <a:cs typeface="Pretendard"/>
              </a:rPr>
              <a:t>입니다.</a:t>
            </a:r>
          </a:p>
          <a:p>
            <a:pPr marL="186944" indent="-186944">
              <a:lnSpc>
                <a:spcPct val="114000"/>
              </a:lnSpc>
              <a:spcAft>
                <a:spcPts val="700"/>
              </a:spcAft>
              <a:buClr>
                <a:srgbClr val="4FD0F5"/>
              </a:buClr>
              <a:buFont typeface="Arial"/>
              <a:buChar char="•"/>
            </a:pPr>
            <a:r>
              <a:rPr sz="1280" b="0" i="0">
                <a:solidFill>
                  <a:srgbClr val="1F2A44"/>
                </a:solidFill>
                <a:latin typeface="Pretendard"/>
                <a:ea typeface="Pretendard"/>
                <a:cs typeface="Pretendard"/>
              </a:rPr>
              <a:t>판독원의 하루는 이렇습니다. 흠을 찾고, 크기를 재고, 기준과 맞춰 합격인지 정한 뒤 </a:t>
            </a:r>
            <a:r>
              <a:rPr sz="1280" b="1" i="0">
                <a:solidFill>
                  <a:srgbClr val="1F2A44"/>
                </a:solidFill>
                <a:latin typeface="Pretendard"/>
                <a:ea typeface="Pretendard"/>
                <a:cs typeface="Pretendard"/>
              </a:rPr>
              <a:t>보고서를 손으로 씁니다</a:t>
            </a:r>
            <a:r>
              <a:rPr sz="1280" b="0" i="0">
                <a:solidFill>
                  <a:srgbClr val="1F2A44"/>
                </a:solidFill>
                <a:latin typeface="Pretendard"/>
                <a:ea typeface="Pretendard"/>
                <a:cs typeface="Pretendard"/>
              </a:rPr>
              <a:t>. 선급이 요구하는 기재 항목만 25개입니다[4]. 나중에 선주나 선급이 물으면 </a:t>
            </a:r>
            <a:r>
              <a:rPr sz="1280" b="1" i="0">
                <a:solidFill>
                  <a:srgbClr val="1F2A44"/>
                </a:solidFill>
                <a:latin typeface="Pretendard"/>
                <a:ea typeface="Pretendard"/>
                <a:cs typeface="Pretendard"/>
              </a:rPr>
              <a:t>서류 더미를 뒤집니다</a:t>
            </a:r>
            <a:r>
              <a:rPr sz="1280" b="0" i="0">
                <a:solidFill>
                  <a:srgbClr val="1F2A44"/>
                </a:solidFill>
                <a:latin typeface="Pretendard"/>
                <a:ea typeface="Pretendard"/>
                <a:cs typeface="Pretendard"/>
              </a:rPr>
              <a:t>.</a:t>
            </a:r>
          </a:p>
          <a:p>
            <a:pPr marL="186944" indent="-186944">
              <a:lnSpc>
                <a:spcPct val="114000"/>
              </a:lnSpc>
              <a:spcAft>
                <a:spcPts val="700"/>
              </a:spcAft>
              <a:buClr>
                <a:srgbClr val="4FD0F5"/>
              </a:buClr>
              <a:buFont typeface="Arial"/>
              <a:buChar char="•"/>
            </a:pPr>
            <a:r>
              <a:rPr sz="1280" b="0" i="0">
                <a:solidFill>
                  <a:srgbClr val="1F2A44"/>
                </a:solidFill>
                <a:latin typeface="Pretendard"/>
                <a:ea typeface="Pretendard"/>
                <a:cs typeface="Pretendard"/>
              </a:rPr>
              <a:t>불합격이 나오면 같은 용접선을 더 찍어 다시 판독해야 합니다[4]. 한 건이 촬영과 판독, 보고서로 계속 이어집니다.</a:t>
            </a:r>
          </a:p>
          <a:p>
            <a:pPr marL="186944" indent="-186944">
              <a:lnSpc>
                <a:spcPct val="114000"/>
              </a:lnSpc>
              <a:spcAft>
                <a:spcPts val="700"/>
              </a:spcAft>
              <a:buClr>
                <a:srgbClr val="4FD0F5"/>
              </a:buClr>
              <a:buFont typeface="Arial"/>
              <a:buChar char="•"/>
            </a:pPr>
            <a:r>
              <a:rPr sz="1280" b="0" i="0">
                <a:solidFill>
                  <a:srgbClr val="1F2A44"/>
                </a:solidFill>
                <a:latin typeface="Pretendard"/>
                <a:ea typeface="Pretendard"/>
                <a:cs typeface="Pretendard"/>
              </a:rPr>
              <a:t>조선 3사가 2024~2026년에 내놓은 AI는 용접 ‘작업’과 카메라 검사에 몰려 있습니다[6][7]. </a:t>
            </a:r>
            <a:r>
              <a:rPr sz="1280" b="1" i="0">
                <a:solidFill>
                  <a:srgbClr val="1F2A44"/>
                </a:solidFill>
                <a:latin typeface="Pretendard"/>
                <a:ea typeface="Pretendard"/>
                <a:cs typeface="Pretendard"/>
              </a:rPr>
              <a:t>판독 다음 단계인 판정 근거와 보고서, 기록에 투자한 사례는 찾지 못했습니다</a:t>
            </a:r>
            <a:r>
              <a:rPr sz="1280" b="0" i="0">
                <a:solidFill>
                  <a:srgbClr val="1F2A44"/>
                </a:solidFill>
                <a:latin typeface="Pretendard"/>
                <a:ea typeface="Pretendard"/>
                <a:cs typeface="Pretendard"/>
              </a:rPr>
              <a:t>(2026.09 검색 기준).</a:t>
            </a:r>
          </a:p>
          <a:p>
            <a:pPr marL="186944" indent="-186944">
              <a:lnSpc>
                <a:spcPct val="114000"/>
              </a:lnSpc>
              <a:spcAft>
                <a:spcPts val="700"/>
              </a:spcAft>
              <a:buClr>
                <a:srgbClr val="4FD0F5"/>
              </a:buClr>
              <a:buFont typeface="Arial"/>
              <a:buChar char="•"/>
            </a:pPr>
            <a:r>
              <a:rPr sz="1280" b="0" i="0">
                <a:solidFill>
                  <a:srgbClr val="1F2A44"/>
                </a:solidFill>
                <a:latin typeface="Pretendard"/>
                <a:ea typeface="Pretendard"/>
                <a:cs typeface="Pretendard"/>
              </a:rPr>
              <a:t>두산에너빌리티의 RT 판독 AI는 2019년 사내 시범, 2024.03 출시, 2024.11 한국에너지공단 협약으로 이어졌습니다[8]. 아직 자사 적용과 외부 확산 단계라, </a:t>
            </a:r>
            <a:r>
              <a:rPr sz="1280" b="1" i="0">
                <a:solidFill>
                  <a:srgbClr val="1F2A44"/>
                </a:solidFill>
                <a:latin typeface="Pretendard"/>
                <a:ea typeface="Pretendard"/>
                <a:cs typeface="Pretendard"/>
              </a:rPr>
              <a:t>문제는 진짜지만 돈 내고 쓸 고객이 있는지는 확인하지 못했습니다</a:t>
            </a:r>
            <a:r>
              <a:rPr sz="1280" b="0" i="0">
                <a:solidFill>
                  <a:srgbClr val="1F2A44"/>
                </a:solidFill>
                <a:latin typeface="Pretendard"/>
                <a:ea typeface="Pretendard"/>
                <a:cs typeface="Pretendard"/>
              </a:rPr>
              <a:t>.</a:t>
            </a:r>
          </a:p>
          <a:p>
            <a:pPr marL="186944" indent="-186944">
              <a:lnSpc>
                <a:spcPct val="114000"/>
              </a:lnSpc>
              <a:spcAft>
                <a:spcPts val="700"/>
              </a:spcAft>
              <a:buClr>
                <a:srgbClr val="4FD0F5"/>
              </a:buClr>
              <a:buFont typeface="Arial"/>
              <a:buChar char="•"/>
            </a:pPr>
            <a:r>
              <a:rPr sz="1280" b="0" i="0">
                <a:solidFill>
                  <a:srgbClr val="1F2A44"/>
                </a:solidFill>
                <a:latin typeface="Pretendard"/>
                <a:ea typeface="Pretendard"/>
                <a:cs typeface="Pretendard"/>
              </a:rPr>
              <a:t>판독 인력은 고령화로 줄고[8], 최저가 입찰 탓에 숙련자를 구하기도 어렵습니다[9]. 국내 비파괴검사는 물건을 부수지 않고 속을 보는 검사인데, 그 물량의 </a:t>
            </a:r>
            <a:r>
              <a:rPr sz="1280" b="1" i="0">
                <a:solidFill>
                  <a:srgbClr val="1F2A44"/>
                </a:solidFill>
                <a:latin typeface="Pretendard"/>
                <a:ea typeface="Pretendard"/>
                <a:cs typeface="Pretendard"/>
              </a:rPr>
              <a:t>약 80%가 RT 용접부 검사</a:t>
            </a:r>
            <a:r>
              <a:rPr sz="1280" b="0" i="0">
                <a:solidFill>
                  <a:srgbClr val="1F2A44"/>
                </a:solidFill>
                <a:latin typeface="Pretendard"/>
                <a:ea typeface="Pretendard"/>
                <a:cs typeface="Pretendard"/>
              </a:rPr>
              <a:t>입니다[10]. 부담이 한곳에 쏠립니다.</a:t>
            </a:r>
          </a:p>
        </p:txBody>
      </p:sp>
      <p:sp>
        <p:nvSpPr>
          <p:cNvPr id="20" name="Rounded Rectangle 19"/>
          <p:cNvSpPr/>
          <p:nvPr/>
        </p:nvSpPr>
        <p:spPr>
          <a:xfrm>
            <a:off x="12390120" y="1371600"/>
            <a:ext cx="5285231" cy="7882127"/>
          </a:xfrm>
          <a:prstGeom prst="roundRect">
            <a:avLst>
              <a:gd name="adj" fmla="val 3500"/>
            </a:avLst>
          </a:prstGeom>
          <a:solidFill>
            <a:srgbClr val="FFFFFF"/>
          </a:solidFill>
          <a:ln w="9525">
            <a:solidFill>
              <a:srgbClr val="D9E0EC"/>
            </a:solidFill>
          </a:ln>
        </p:spPr>
        <p:txBody>
          <a:bodyPr rtlCol="0" anchor="ctr"/>
          <a:lstStyle/>
          <a:p/>
        </p:txBody>
      </p:sp>
      <p:sp>
        <p:nvSpPr>
          <p:cNvPr id="21" name="Oval 20"/>
          <p:cNvSpPr/>
          <p:nvPr/>
        </p:nvSpPr>
        <p:spPr>
          <a:xfrm>
            <a:off x="12710160" y="1746504"/>
            <a:ext cx="146304" cy="146304"/>
          </a:xfrm>
          <a:prstGeom prst="ellipse">
            <a:avLst/>
          </a:prstGeom>
          <a:solidFill>
            <a:srgbClr val="4FD0F5"/>
          </a:solidFill>
          <a:ln>
            <a:noFill/>
          </a:ln>
        </p:spPr>
        <p:txBody>
          <a:bodyPr rtlCol="0" anchor="ctr"/>
          <a:lstStyle/>
          <a:p>
            <a:pPr algn="ctr"/>
          </a:p>
        </p:txBody>
      </p:sp>
      <p:sp>
        <p:nvSpPr>
          <p:cNvPr id="22" name="TextBox 21"/>
          <p:cNvSpPr txBox="1"/>
          <p:nvPr/>
        </p:nvSpPr>
        <p:spPr>
          <a:xfrm>
            <a:off x="12957048" y="1645920"/>
            <a:ext cx="4398263" cy="384048"/>
          </a:xfrm>
          <a:prstGeom prst="rect">
            <a:avLst/>
          </a:prstGeom>
          <a:noFill/>
        </p:spPr>
        <p:txBody>
          <a:bodyPr wrap="square" anchor="t" lIns="0" rIns="0" tIns="0" bIns="0">
            <a:spAutoFit/>
          </a:bodyPr>
          <a:lstStyle/>
          <a:p>
            <a:pPr algn="l">
              <a:lnSpc>
                <a:spcPct val="112000"/>
              </a:lnSpc>
            </a:pPr>
            <a:r>
              <a:rPr sz="2000" b="1" i="0">
                <a:solidFill>
                  <a:srgbClr val="0B2A6B"/>
                </a:solidFill>
                <a:latin typeface="Pretendard"/>
                <a:ea typeface="Pretendard"/>
                <a:cs typeface="Pretendard"/>
              </a:rPr>
              <a:t>해결하고자 하는 목표</a:t>
            </a:r>
          </a:p>
        </p:txBody>
      </p:sp>
      <p:sp>
        <p:nvSpPr>
          <p:cNvPr id="23" name="TextBox 22"/>
          <p:cNvSpPr txBox="1"/>
          <p:nvPr/>
        </p:nvSpPr>
        <p:spPr>
          <a:xfrm>
            <a:off x="12710160" y="2240280"/>
            <a:ext cx="4645151" cy="2926080"/>
          </a:xfrm>
          <a:prstGeom prst="rect">
            <a:avLst/>
          </a:prstGeom>
          <a:noFill/>
        </p:spPr>
        <p:txBody>
          <a:bodyPr wrap="square" anchor="t" lIns="0" rIns="0" tIns="0" bIns="0">
            <a:spAutoFit/>
          </a:bodyPr>
          <a:lstStyle/>
          <a:p>
            <a:pPr marL="192785" indent="-192785">
              <a:lnSpc>
                <a:spcPct val="114000"/>
              </a:lnSpc>
              <a:spcAft>
                <a:spcPts val="700"/>
              </a:spcAft>
              <a:buClr>
                <a:srgbClr val="4FD0F5"/>
              </a:buClr>
              <a:buFont typeface="Arial"/>
              <a:buChar char="•"/>
            </a:pPr>
            <a:r>
              <a:rPr sz="1320" b="1" i="0">
                <a:solidFill>
                  <a:srgbClr val="1F2A44"/>
                </a:solidFill>
                <a:latin typeface="Pretendard"/>
                <a:ea typeface="Pretendard"/>
                <a:cs typeface="Pretendard"/>
              </a:rPr>
              <a:t>판독원의 하루에서 서류 쓰기와 서류 찾기를 걷어내는 것</a:t>
            </a:r>
            <a:r>
              <a:rPr sz="1320" b="0" i="0">
                <a:solidFill>
                  <a:srgbClr val="1F2A44"/>
                </a:solidFill>
                <a:latin typeface="Pretendard"/>
                <a:ea typeface="Pretendard"/>
                <a:cs typeface="Pretendard"/>
              </a:rPr>
              <a:t>이 목표입니다. 합격인지 아닌지는 자격을 가진 사람이 정하고, 서류는 AI가 씁니다. 국제 자격인 ISO 9712의 2급 이상이면 결과를 해석하고 판정할 수 있습니다[4].</a:t>
            </a:r>
          </a:p>
          <a:p>
            <a:pPr marL="192785" indent="-192785">
              <a:lnSpc>
                <a:spcPct val="114000"/>
              </a:lnSpc>
              <a:spcAft>
                <a:spcPts val="700"/>
              </a:spcAft>
              <a:buClr>
                <a:srgbClr val="4FD0F5"/>
              </a:buClr>
              <a:buFont typeface="Arial"/>
              <a:buChar char="•"/>
            </a:pPr>
            <a:r>
              <a:rPr sz="1320" b="0" i="0">
                <a:solidFill>
                  <a:srgbClr val="1F2A44"/>
                </a:solidFill>
                <a:latin typeface="Pretendard"/>
                <a:ea typeface="Pretendard"/>
                <a:cs typeface="Pretendard"/>
              </a:rPr>
              <a:t>화면 흐름은 이렇습니다. 사진 열기 → AI가 의심 자리 표시 → 클릭 두 번으로 크기 측정 → 규칙이 합격 여부 판정 → 보고서 초안 → 승인과 PDF → 검색되는 기록. </a:t>
            </a:r>
            <a:r>
              <a:rPr sz="1320" b="1" i="0">
                <a:solidFill>
                  <a:srgbClr val="1F2A44"/>
                </a:solidFill>
                <a:latin typeface="Pretendard"/>
                <a:ea typeface="Pretendard"/>
                <a:cs typeface="Pretendard"/>
              </a:rPr>
              <a:t>한 화면에서 끝납니다</a:t>
            </a:r>
            <a:r>
              <a:rPr sz="1320" b="0" i="0">
                <a:solidFill>
                  <a:srgbClr val="1F2A44"/>
                </a:solidFill>
                <a:latin typeface="Pretendard"/>
                <a:ea typeface="Pretendard"/>
                <a:cs typeface="Pretendard"/>
              </a:rPr>
              <a:t>.</a:t>
            </a:r>
          </a:p>
          <a:p>
            <a:pPr marL="192785" indent="-192785">
              <a:lnSpc>
                <a:spcPct val="114000"/>
              </a:lnSpc>
              <a:spcAft>
                <a:spcPts val="700"/>
              </a:spcAft>
              <a:buClr>
                <a:srgbClr val="4FD0F5"/>
              </a:buClr>
              <a:buFont typeface="Arial"/>
              <a:buChar char="•"/>
            </a:pPr>
            <a:r>
              <a:rPr sz="1320" b="0" i="0">
                <a:solidFill>
                  <a:srgbClr val="1F2A44"/>
                </a:solidFill>
                <a:latin typeface="Pretendard"/>
                <a:ea typeface="Pretendard"/>
                <a:cs typeface="Pretendard"/>
              </a:rPr>
              <a:t>넣는 사진은 스캔한 필름이나 디지털 RT 사진입니다. 새 장비나 새 촬영 절차를 요구하지 않습니다. 다만 필름을 사진 파일로 바꾸는 </a:t>
            </a:r>
            <a:r>
              <a:rPr sz="1320" b="1" i="0">
                <a:solidFill>
                  <a:srgbClr val="1F2A44"/>
                </a:solidFill>
                <a:latin typeface="Pretendard"/>
                <a:ea typeface="Pretendard"/>
                <a:cs typeface="Pretendard"/>
              </a:rPr>
              <a:t>스캐너는 미리 있어야 합니다</a:t>
            </a:r>
            <a:r>
              <a:rPr sz="1320" b="0" i="0">
                <a:solidFill>
                  <a:srgbClr val="1F2A44"/>
                </a:solidFill>
                <a:latin typeface="Pretendard"/>
                <a:ea typeface="Pretendard"/>
                <a:cs typeface="Pretendard"/>
              </a:rPr>
              <a:t>.</a:t>
            </a:r>
          </a:p>
        </p:txBody>
      </p:sp>
      <p:sp>
        <p:nvSpPr>
          <p:cNvPr id="24" name="TextBox 23"/>
          <p:cNvSpPr txBox="1"/>
          <p:nvPr/>
        </p:nvSpPr>
        <p:spPr>
          <a:xfrm>
            <a:off x="12710160" y="5440680"/>
            <a:ext cx="4645151" cy="292608"/>
          </a:xfrm>
          <a:prstGeom prst="rect">
            <a:avLst/>
          </a:prstGeom>
          <a:noFill/>
        </p:spPr>
        <p:txBody>
          <a:bodyPr wrap="square" anchor="t" lIns="0" rIns="0" tIns="0" bIns="0">
            <a:spAutoFit/>
          </a:bodyPr>
          <a:lstStyle/>
          <a:p>
            <a:pPr algn="l">
              <a:lnSpc>
                <a:spcPct val="112000"/>
              </a:lnSpc>
            </a:pPr>
            <a:r>
              <a:rPr sz="1300" b="1" i="0">
                <a:solidFill>
                  <a:srgbClr val="8B9AB5"/>
                </a:solidFill>
                <a:latin typeface="Pretendard"/>
                <a:ea typeface="Pretendard"/>
                <a:cs typeface="Pretendard"/>
              </a:rPr>
              <a:t>3대 설계 원칙</a:t>
            </a:r>
          </a:p>
        </p:txBody>
      </p:sp>
      <p:sp>
        <p:nvSpPr>
          <p:cNvPr id="25" name="Rounded Rectangle 24"/>
          <p:cNvSpPr/>
          <p:nvPr/>
        </p:nvSpPr>
        <p:spPr>
          <a:xfrm>
            <a:off x="12710160" y="5824728"/>
            <a:ext cx="384048" cy="384048"/>
          </a:xfrm>
          <a:prstGeom prst="roundRect">
            <a:avLst>
              <a:gd name="adj" fmla="val 50000"/>
            </a:avLst>
          </a:prstGeom>
          <a:solidFill>
            <a:srgbClr val="0B2A6B"/>
          </a:solidFill>
          <a:ln>
            <a:noFill/>
          </a:ln>
        </p:spPr>
        <p:txBody>
          <a:bodyPr rtlCol="0" anchor="ctr" lIns="73152" rIns="73152" tIns="0" bIns="0"/>
          <a:lstStyle/>
          <a:p>
            <a:pPr algn="ctr"/>
            <a:r>
              <a:rPr sz="1300" b="1" i="0">
                <a:solidFill>
                  <a:srgbClr val="FFFFFF"/>
                </a:solidFill>
                <a:latin typeface="Pretendard"/>
                <a:ea typeface="Pretendard"/>
                <a:cs typeface="Pretendard"/>
              </a:rPr>
              <a:t>1</a:t>
            </a:r>
          </a:p>
        </p:txBody>
      </p:sp>
      <p:sp>
        <p:nvSpPr>
          <p:cNvPr id="26" name="TextBox 25"/>
          <p:cNvSpPr txBox="1"/>
          <p:nvPr/>
        </p:nvSpPr>
        <p:spPr>
          <a:xfrm>
            <a:off x="13213080" y="5788152"/>
            <a:ext cx="4096511" cy="274320"/>
          </a:xfrm>
          <a:prstGeom prst="rect">
            <a:avLst/>
          </a:prstGeom>
          <a:noFill/>
        </p:spPr>
        <p:txBody>
          <a:bodyPr wrap="square" anchor="t" lIns="0" rIns="0" tIns="0" bIns="0">
            <a:spAutoFit/>
          </a:bodyPr>
          <a:lstStyle/>
          <a:p>
            <a:pPr algn="l">
              <a:lnSpc>
                <a:spcPct val="112000"/>
              </a:lnSpc>
            </a:pPr>
            <a:r>
              <a:rPr sz="1350" b="1" i="0">
                <a:solidFill>
                  <a:srgbClr val="0B2A6B"/>
                </a:solidFill>
                <a:latin typeface="Pretendard"/>
                <a:ea typeface="Pretendard"/>
                <a:cs typeface="Pretendard"/>
              </a:rPr>
              <a:t>AI는 판정하지 않습니다</a:t>
            </a:r>
          </a:p>
        </p:txBody>
      </p:sp>
      <p:sp>
        <p:nvSpPr>
          <p:cNvPr id="27" name="TextBox 26"/>
          <p:cNvSpPr txBox="1"/>
          <p:nvPr/>
        </p:nvSpPr>
        <p:spPr>
          <a:xfrm>
            <a:off x="13213080" y="6062472"/>
            <a:ext cx="4096511" cy="274320"/>
          </a:xfrm>
          <a:prstGeom prst="rect">
            <a:avLst/>
          </a:prstGeom>
          <a:noFill/>
        </p:spPr>
        <p:txBody>
          <a:bodyPr wrap="square" anchor="t" lIns="0" rIns="0" tIns="0" bIns="0">
            <a:spAutoFit/>
          </a:bodyPr>
          <a:lstStyle/>
          <a:p>
            <a:pPr algn="l">
              <a:lnSpc>
                <a:spcPct val="112000"/>
              </a:lnSpc>
            </a:pPr>
            <a:r>
              <a:rPr sz="1200" b="0" i="0">
                <a:solidFill>
                  <a:srgbClr val="5B6B8C"/>
                </a:solidFill>
                <a:latin typeface="Pretendard"/>
                <a:ea typeface="Pretendard"/>
                <a:cs typeface="Pretendard"/>
              </a:rPr>
              <a:t>합격 여부는 규칙과 판독원이 정하고, AI는 글쓰기와 검색만 돕습니다</a:t>
            </a:r>
          </a:p>
        </p:txBody>
      </p:sp>
      <p:sp>
        <p:nvSpPr>
          <p:cNvPr id="28" name="Rounded Rectangle 27"/>
          <p:cNvSpPr/>
          <p:nvPr/>
        </p:nvSpPr>
        <p:spPr>
          <a:xfrm>
            <a:off x="12710160" y="6483096"/>
            <a:ext cx="384048" cy="384048"/>
          </a:xfrm>
          <a:prstGeom prst="roundRect">
            <a:avLst>
              <a:gd name="adj" fmla="val 50000"/>
            </a:avLst>
          </a:prstGeom>
          <a:solidFill>
            <a:srgbClr val="0B2A6B"/>
          </a:solidFill>
          <a:ln>
            <a:noFill/>
          </a:ln>
        </p:spPr>
        <p:txBody>
          <a:bodyPr rtlCol="0" anchor="ctr" lIns="73152" rIns="73152" tIns="0" bIns="0"/>
          <a:lstStyle/>
          <a:p>
            <a:pPr algn="ctr"/>
            <a:r>
              <a:rPr sz="1300" b="1" i="0">
                <a:solidFill>
                  <a:srgbClr val="FFFFFF"/>
                </a:solidFill>
                <a:latin typeface="Pretendard"/>
                <a:ea typeface="Pretendard"/>
                <a:cs typeface="Pretendard"/>
              </a:rPr>
              <a:t>2</a:t>
            </a:r>
          </a:p>
        </p:txBody>
      </p:sp>
      <p:sp>
        <p:nvSpPr>
          <p:cNvPr id="29" name="TextBox 28"/>
          <p:cNvSpPr txBox="1"/>
          <p:nvPr/>
        </p:nvSpPr>
        <p:spPr>
          <a:xfrm>
            <a:off x="13213080" y="6446520"/>
            <a:ext cx="4096511" cy="274320"/>
          </a:xfrm>
          <a:prstGeom prst="rect">
            <a:avLst/>
          </a:prstGeom>
          <a:noFill/>
        </p:spPr>
        <p:txBody>
          <a:bodyPr wrap="square" anchor="t" lIns="0" rIns="0" tIns="0" bIns="0">
            <a:spAutoFit/>
          </a:bodyPr>
          <a:lstStyle/>
          <a:p>
            <a:pPr algn="l">
              <a:lnSpc>
                <a:spcPct val="112000"/>
              </a:lnSpc>
            </a:pPr>
            <a:r>
              <a:rPr sz="1350" b="1" i="0">
                <a:solidFill>
                  <a:srgbClr val="0B2A6B"/>
                </a:solidFill>
                <a:latin typeface="Pretendard"/>
                <a:ea typeface="Pretendard"/>
                <a:cs typeface="Pretendard"/>
              </a:rPr>
              <a:t>쓰던 사진, 쓰던 절차 그대로</a:t>
            </a:r>
          </a:p>
        </p:txBody>
      </p:sp>
      <p:sp>
        <p:nvSpPr>
          <p:cNvPr id="30" name="TextBox 29"/>
          <p:cNvSpPr txBox="1"/>
          <p:nvPr/>
        </p:nvSpPr>
        <p:spPr>
          <a:xfrm>
            <a:off x="13213080" y="6720840"/>
            <a:ext cx="4096511" cy="274320"/>
          </a:xfrm>
          <a:prstGeom prst="rect">
            <a:avLst/>
          </a:prstGeom>
          <a:noFill/>
        </p:spPr>
        <p:txBody>
          <a:bodyPr wrap="square" anchor="t" lIns="0" rIns="0" tIns="0" bIns="0">
            <a:spAutoFit/>
          </a:bodyPr>
          <a:lstStyle/>
          <a:p>
            <a:pPr algn="l">
              <a:lnSpc>
                <a:spcPct val="112000"/>
              </a:lnSpc>
            </a:pPr>
            <a:r>
              <a:rPr sz="1200" b="0" i="0">
                <a:solidFill>
                  <a:srgbClr val="5B6B8C"/>
                </a:solidFill>
                <a:latin typeface="Pretendard"/>
                <a:ea typeface="Pretendard"/>
                <a:cs typeface="Pretendard"/>
              </a:rPr>
              <a:t>스캔 필름이든 디지털 사진이든 처리 방법은 같습니다</a:t>
            </a:r>
          </a:p>
        </p:txBody>
      </p:sp>
      <p:sp>
        <p:nvSpPr>
          <p:cNvPr id="31" name="Rounded Rectangle 30"/>
          <p:cNvSpPr/>
          <p:nvPr/>
        </p:nvSpPr>
        <p:spPr>
          <a:xfrm>
            <a:off x="12710160" y="7141464"/>
            <a:ext cx="384048" cy="384048"/>
          </a:xfrm>
          <a:prstGeom prst="roundRect">
            <a:avLst>
              <a:gd name="adj" fmla="val 50000"/>
            </a:avLst>
          </a:prstGeom>
          <a:solidFill>
            <a:srgbClr val="0B2A6B"/>
          </a:solidFill>
          <a:ln>
            <a:noFill/>
          </a:ln>
        </p:spPr>
        <p:txBody>
          <a:bodyPr rtlCol="0" anchor="ctr" lIns="73152" rIns="73152" tIns="0" bIns="0"/>
          <a:lstStyle/>
          <a:p>
            <a:pPr algn="ctr"/>
            <a:r>
              <a:rPr sz="1300" b="1" i="0">
                <a:solidFill>
                  <a:srgbClr val="FFFFFF"/>
                </a:solidFill>
                <a:latin typeface="Pretendard"/>
                <a:ea typeface="Pretendard"/>
                <a:cs typeface="Pretendard"/>
              </a:rPr>
              <a:t>3</a:t>
            </a:r>
          </a:p>
        </p:txBody>
      </p:sp>
      <p:sp>
        <p:nvSpPr>
          <p:cNvPr id="32" name="TextBox 31"/>
          <p:cNvSpPr txBox="1"/>
          <p:nvPr/>
        </p:nvSpPr>
        <p:spPr>
          <a:xfrm>
            <a:off x="13213080" y="7104888"/>
            <a:ext cx="4096511" cy="274320"/>
          </a:xfrm>
          <a:prstGeom prst="rect">
            <a:avLst/>
          </a:prstGeom>
          <a:noFill/>
        </p:spPr>
        <p:txBody>
          <a:bodyPr wrap="square" anchor="t" lIns="0" rIns="0" tIns="0" bIns="0">
            <a:spAutoFit/>
          </a:bodyPr>
          <a:lstStyle/>
          <a:p>
            <a:pPr algn="l">
              <a:lnSpc>
                <a:spcPct val="112000"/>
              </a:lnSpc>
            </a:pPr>
            <a:r>
              <a:rPr sz="1350" b="1" i="0">
                <a:solidFill>
                  <a:srgbClr val="0B2A6B"/>
                </a:solidFill>
                <a:latin typeface="Pretendard"/>
                <a:ea typeface="Pretendard"/>
                <a:cs typeface="Pretendard"/>
              </a:rPr>
              <a:t>탐지는 부품일 뿐입니다</a:t>
            </a:r>
          </a:p>
        </p:txBody>
      </p:sp>
      <p:sp>
        <p:nvSpPr>
          <p:cNvPr id="33" name="TextBox 32"/>
          <p:cNvSpPr txBox="1"/>
          <p:nvPr/>
        </p:nvSpPr>
        <p:spPr>
          <a:xfrm>
            <a:off x="13213080" y="7379208"/>
            <a:ext cx="4096511" cy="274320"/>
          </a:xfrm>
          <a:prstGeom prst="rect">
            <a:avLst/>
          </a:prstGeom>
          <a:noFill/>
        </p:spPr>
        <p:txBody>
          <a:bodyPr wrap="square" anchor="t" lIns="0" rIns="0" tIns="0" bIns="0">
            <a:spAutoFit/>
          </a:bodyPr>
          <a:lstStyle/>
          <a:p>
            <a:pPr algn="l">
              <a:lnSpc>
                <a:spcPct val="112000"/>
              </a:lnSpc>
            </a:pPr>
            <a:r>
              <a:rPr sz="1200" b="0" i="0">
                <a:solidFill>
                  <a:srgbClr val="5B6B8C"/>
                </a:solidFill>
                <a:latin typeface="Pretendard"/>
                <a:ea typeface="Pretendard"/>
                <a:cs typeface="Pretendard"/>
              </a:rPr>
              <a:t>새로운 점은 판독 업무 전체를 하나로 잇는 것입니다</a:t>
            </a:r>
          </a:p>
        </p:txBody>
      </p:sp>
      <p:sp>
        <p:nvSpPr>
          <p:cNvPr id="34" name="Rounded Rectangle 33"/>
          <p:cNvSpPr/>
          <p:nvPr/>
        </p:nvSpPr>
        <p:spPr>
          <a:xfrm>
            <a:off x="12710160" y="7790688"/>
            <a:ext cx="4645151" cy="1234440"/>
          </a:xfrm>
          <a:prstGeom prst="roundRect">
            <a:avLst>
              <a:gd name="adj" fmla="val 8000"/>
            </a:avLst>
          </a:prstGeom>
          <a:solidFill>
            <a:srgbClr val="F2F5FA"/>
          </a:solidFill>
          <a:ln>
            <a:noFill/>
          </a:ln>
        </p:spPr>
        <p:txBody>
          <a:bodyPr rtlCol="0" anchor="ctr"/>
          <a:lstStyle/>
          <a:p/>
        </p:txBody>
      </p:sp>
      <p:sp>
        <p:nvSpPr>
          <p:cNvPr id="35" name="TextBox 34"/>
          <p:cNvSpPr txBox="1"/>
          <p:nvPr/>
        </p:nvSpPr>
        <p:spPr>
          <a:xfrm>
            <a:off x="12893040" y="7927848"/>
            <a:ext cx="2011680" cy="292608"/>
          </a:xfrm>
          <a:prstGeom prst="rect">
            <a:avLst/>
          </a:prstGeom>
          <a:noFill/>
        </p:spPr>
        <p:txBody>
          <a:bodyPr wrap="square" anchor="t" lIns="0" rIns="0" tIns="0" bIns="0">
            <a:spAutoFit/>
          </a:bodyPr>
          <a:lstStyle/>
          <a:p>
            <a:pPr algn="l">
              <a:lnSpc>
                <a:spcPct val="112000"/>
              </a:lnSpc>
            </a:pPr>
            <a:r>
              <a:rPr sz="1300" b="1" i="0">
                <a:solidFill>
                  <a:srgbClr val="8B9AB5"/>
                </a:solidFill>
                <a:latin typeface="Pretendard"/>
                <a:ea typeface="Pretendard"/>
                <a:cs typeface="Pretendard"/>
              </a:rPr>
              <a:t>해당 AX 분야</a:t>
            </a:r>
          </a:p>
        </p:txBody>
      </p:sp>
      <p:sp>
        <p:nvSpPr>
          <p:cNvPr id="36" name="Rounded Rectangle 35"/>
          <p:cNvSpPr/>
          <p:nvPr/>
        </p:nvSpPr>
        <p:spPr>
          <a:xfrm>
            <a:off x="12893040" y="8293608"/>
            <a:ext cx="1188720" cy="502920"/>
          </a:xfrm>
          <a:prstGeom prst="roundRect">
            <a:avLst>
              <a:gd name="adj" fmla="val 50000"/>
            </a:avLst>
          </a:prstGeom>
          <a:solidFill>
            <a:srgbClr val="0B2A6B"/>
          </a:solidFill>
          <a:ln>
            <a:noFill/>
          </a:ln>
        </p:spPr>
        <p:txBody>
          <a:bodyPr rtlCol="0" anchor="ctr" lIns="73152" rIns="73152" tIns="0" bIns="0"/>
          <a:lstStyle/>
          <a:p>
            <a:pPr algn="ctr"/>
            <a:r>
              <a:rPr sz="1700" b="1" i="0">
                <a:solidFill>
                  <a:srgbClr val="FFFFFF"/>
                </a:solidFill>
                <a:latin typeface="Pretendard"/>
                <a:ea typeface="Pretendard"/>
                <a:cs typeface="Pretendard"/>
              </a:rPr>
              <a:t>생산</a:t>
            </a:r>
          </a:p>
        </p:txBody>
      </p:sp>
      <p:sp>
        <p:nvSpPr>
          <p:cNvPr id="37" name="TextBox 36"/>
          <p:cNvSpPr txBox="1"/>
          <p:nvPr/>
        </p:nvSpPr>
        <p:spPr>
          <a:xfrm>
            <a:off x="14264640" y="8247888"/>
            <a:ext cx="2907791" cy="822960"/>
          </a:xfrm>
          <a:prstGeom prst="rect">
            <a:avLst/>
          </a:prstGeom>
          <a:noFill/>
        </p:spPr>
        <p:txBody>
          <a:bodyPr wrap="square" anchor="t" lIns="0" rIns="0" tIns="0" bIns="0">
            <a:spAutoFit/>
          </a:bodyPr>
          <a:lstStyle/>
          <a:p>
            <a:pPr algn="l">
              <a:lnSpc>
                <a:spcPct val="112000"/>
              </a:lnSpc>
            </a:pPr>
            <a:r>
              <a:rPr sz="1200" b="0" i="0">
                <a:solidFill>
                  <a:srgbClr val="1F2A44"/>
                </a:solidFill>
                <a:latin typeface="Pretendard"/>
                <a:ea typeface="Pretendard"/>
                <a:cs typeface="Pretendard"/>
              </a:rPr>
              <a:t>배를 나눠 만든 큰 덩어리를 블록이라 부릅니다. 그 블록 용접부를 찍은 RT 사진을 판독하고 판정·보고서·기록까지 관리하는, 생산 공정 뒤쪽의 용접 품질 확인 업무입니다.</a:t>
            </a:r>
          </a:p>
        </p:txBody>
      </p:sp>
      <p:sp>
        <p:nvSpPr>
          <p:cNvPr id="38" name="TextBox 37"/>
          <p:cNvSpPr txBox="1"/>
          <p:nvPr/>
        </p:nvSpPr>
        <p:spPr>
          <a:xfrm>
            <a:off x="4800600" y="9299448"/>
            <a:ext cx="12874752" cy="502920"/>
          </a:xfrm>
          <a:prstGeom prst="rect">
            <a:avLst/>
          </a:prstGeom>
          <a:noFill/>
        </p:spPr>
        <p:txBody>
          <a:bodyPr wrap="square" anchor="t" lIns="0" rIns="0" tIns="0" bIns="0">
            <a:spAutoFit/>
          </a:bodyPr>
          <a:lstStyle/>
          <a:p>
            <a:pPr algn="l">
              <a:lnSpc>
                <a:spcPct val="108000"/>
              </a:lnSpc>
            </a:pPr>
            <a:r>
              <a:rPr sz="850" b="0" i="0">
                <a:solidFill>
                  <a:srgbClr val="5B6B8C"/>
                </a:solidFill>
                <a:latin typeface="Pretendard"/>
                <a:ea typeface="Pretendard"/>
                <a:cs typeface="Pretendard"/>
              </a:rPr>
              <a:t>참고  [1] 황훈규 외, 한국정보통신학회논문지 25(2), 2021.02†  ·  [2] 데일리안·CCTV뉴스 2021.07.02†  ·  [3] IACS UR W34(2019.12, 2021.07.01 이후 건조계약분)  ·  [4] IACS UR W33 Rev.1/Corr.1(2021) §3.3·§8·§9.2  ·  [5] IACS UR W33 Rev.2·W34 Rev.1(2026.07.15 승인)  ·  [6] 뉴스핌 2026.06.04 한화오션×NC AI†  ·  [7] 아시아투데이 2026.06 HD현대†  ·  [8] 두산에너빌리티 통합보고서 2024·2026† · 팍스경제TV 2024† · 이투데이 2024.11.14† · 위키리크스한국 2026.03†  ·  [9] 가스신문 2025.09.18†  ·  [10] 가스신문 전문가 기고(국내 비파괴검사 시장 현황, 기사 118513)†  ·  †는 검색 요약으로 확인한 자료입니다. 제출 전 원문을 확인합니다.</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2F5FA"/>
        </a:solidFill>
        <a:effectLst/>
      </p:bgPr>
    </p:bg>
    <p:spTree>
      <p:nvGrpSpPr>
        <p:cNvPr id="1" name=""/>
        <p:cNvGrpSpPr/>
        <p:nvPr/>
      </p:nvGrpSpPr>
      <p:grpSpPr>
        <a:xfrm>
          <a:off x="0" y="0"/>
          <a:ext cx="0" cy="0"/>
          <a:chOff x="0" y="0"/>
          <a:chExt cx="0" cy="0"/>
        </a:xfrm>
      </p:grpSpPr>
      <p:sp>
        <p:nvSpPr>
          <p:cNvPr id="2" name="Shape 0"/>
          <p:cNvSpPr/>
          <p:nvPr/>
        </p:nvSpPr>
        <p:spPr>
          <a:xfrm>
            <a:off x="0" y="0"/>
            <a:ext cx="4191000" cy="10287000"/>
          </a:xfrm>
          <a:prstGeom prst="rect">
            <a:avLst/>
          </a:prstGeom>
          <a:solidFill>
            <a:srgbClr val="0B2A6B"/>
          </a:solidFill>
          <a:ln/>
        </p:spPr>
        <p:txBody>
          <a:bodyPr/>
          <a:lstStyle/>
          <a:p>
            <a:endParaRPr lang="ko-KR" altLang="en-US"/>
          </a:p>
        </p:txBody>
      </p:sp>
      <p:sp>
        <p:nvSpPr>
          <p:cNvPr id="3" name="Text 1"/>
          <p:cNvSpPr/>
          <p:nvPr/>
        </p:nvSpPr>
        <p:spPr>
          <a:xfrm>
            <a:off x="571500" y="685800"/>
            <a:ext cx="893415" cy="603796"/>
          </a:xfrm>
          <a:prstGeom prst="rect">
            <a:avLst/>
          </a:prstGeom>
          <a:noFill/>
          <a:ln/>
        </p:spPr>
        <p:txBody>
          <a:bodyPr wrap="square" lIns="25400" tIns="25400" rIns="25400" bIns="25400" rtlCol="0" anchor="t">
            <a:normAutofit/>
          </a:bodyPr>
          <a:lstStyle/>
          <a:p>
            <a:pPr marL="0" indent="0" algn="l">
              <a:lnSpc>
                <a:spcPct val="77143"/>
              </a:lnSpc>
              <a:buNone/>
            </a:pPr>
            <a:r>
              <a:rPr lang="en-US" sz="4950" b="1" dirty="0">
                <a:solidFill>
                  <a:srgbClr val="4FD0F5"/>
                </a:solidFill>
                <a:latin typeface="Pretendard" pitchFamily="34" charset="0"/>
                <a:ea typeface="Pretendard" pitchFamily="34" charset="-122"/>
                <a:cs typeface="Pretendard" pitchFamily="34" charset="-120"/>
              </a:rPr>
              <a:t>02</a:t>
            </a:r>
            <a:endParaRPr lang="en-US" sz="4950" dirty="0"/>
          </a:p>
        </p:txBody>
      </p:sp>
      <p:sp>
        <p:nvSpPr>
          <p:cNvPr id="4" name="Shape 2"/>
          <p:cNvSpPr/>
          <p:nvPr/>
        </p:nvSpPr>
        <p:spPr>
          <a:xfrm>
            <a:off x="1617315" y="1028700"/>
            <a:ext cx="533400" cy="28575"/>
          </a:xfrm>
          <a:prstGeom prst="rect">
            <a:avLst/>
          </a:prstGeom>
          <a:solidFill>
            <a:srgbClr val="7FDCFF">
              <a:alpha val="50000"/>
            </a:srgbClr>
          </a:solidFill>
          <a:ln/>
        </p:spPr>
        <p:txBody>
          <a:bodyPr/>
          <a:lstStyle/>
          <a:p>
            <a:endParaRPr lang="ko-KR" altLang="en-US"/>
          </a:p>
        </p:txBody>
      </p:sp>
      <p:sp>
        <p:nvSpPr>
          <p:cNvPr id="5" name="Text 3"/>
          <p:cNvSpPr/>
          <p:nvPr/>
        </p:nvSpPr>
        <p:spPr>
          <a:xfrm>
            <a:off x="571500" y="1613446"/>
            <a:ext cx="3296412" cy="1089422"/>
          </a:xfrm>
          <a:prstGeom prst="rect">
            <a:avLst/>
          </a:prstGeom>
          <a:noFill/>
          <a:ln/>
        </p:spPr>
        <p:txBody>
          <a:bodyPr wrap="square" lIns="25400" tIns="25400" rIns="25400" bIns="25400" rtlCol="0" anchor="t">
            <a:normAutofit lnSpcReduction="10000"/>
          </a:bodyPr>
          <a:lstStyle/>
          <a:p>
            <a:pPr marL="0" indent="0" algn="l">
              <a:lnSpc>
                <a:spcPct val="102222"/>
              </a:lnSpc>
              <a:buNone/>
            </a:pPr>
            <a:r>
              <a:rPr lang="en-US" sz="3450" b="1" kern="0" spc="-69" dirty="0" err="1">
                <a:solidFill>
                  <a:srgbClr val="FFFFFF"/>
                </a:solidFill>
                <a:latin typeface="Pretendard" pitchFamily="34" charset="0"/>
                <a:ea typeface="Pretendard" pitchFamily="34" charset="-122"/>
                <a:cs typeface="Pretendard" pitchFamily="34" charset="-120"/>
              </a:rPr>
              <a:t>아이디어</a:t>
            </a:r>
            <a:r>
              <a:rPr lang="en-US" sz="3450" b="1" kern="0" spc="-69" dirty="0">
                <a:solidFill>
                  <a:srgbClr val="FFFFFF"/>
                </a:solidFill>
                <a:latin typeface="Pretendard" pitchFamily="34" charset="0"/>
                <a:ea typeface="Pretendard" pitchFamily="34" charset="-122"/>
                <a:cs typeface="Pretendard" pitchFamily="34" charset="-120"/>
              </a:rPr>
              <a:t> 및</a:t>
            </a:r>
          </a:p>
          <a:p>
            <a:pPr marL="0" indent="0" algn="l">
              <a:lnSpc>
                <a:spcPct val="102222"/>
              </a:lnSpc>
              <a:buNone/>
            </a:pPr>
            <a:r>
              <a:rPr lang="en-US" sz="3450" b="1" kern="0" spc="-69" dirty="0" err="1">
                <a:solidFill>
                  <a:srgbClr val="FFFFFF"/>
                </a:solidFill>
                <a:latin typeface="Pretendard" pitchFamily="34" charset="0"/>
                <a:ea typeface="Pretendard" pitchFamily="34" charset="-122"/>
                <a:cs typeface="Pretendard" pitchFamily="34" charset="-120"/>
              </a:rPr>
              <a:t>활용</a:t>
            </a:r>
            <a:r>
              <a:rPr lang="en-US" sz="3450" b="1" kern="0" spc="-69" dirty="0">
                <a:solidFill>
                  <a:srgbClr val="FFFFFF"/>
                </a:solidFill>
                <a:latin typeface="Pretendard" pitchFamily="34" charset="0"/>
                <a:ea typeface="Pretendard" pitchFamily="34" charset="-122"/>
                <a:cs typeface="Pretendard" pitchFamily="34" charset="-120"/>
              </a:rPr>
              <a:t> AI </a:t>
            </a:r>
            <a:r>
              <a:rPr lang="en-US" sz="3450" b="1" kern="0" spc="-69" dirty="0" err="1">
                <a:solidFill>
                  <a:srgbClr val="FFFFFF"/>
                </a:solidFill>
                <a:latin typeface="Pretendard" pitchFamily="34" charset="0"/>
                <a:ea typeface="Pretendard" pitchFamily="34" charset="-122"/>
                <a:cs typeface="Pretendard" pitchFamily="34" charset="-120"/>
              </a:rPr>
              <a:t>기술</a:t>
            </a:r>
            <a:endParaRPr lang="en-US" sz="3450" dirty="0"/>
          </a:p>
        </p:txBody>
      </p:sp>
      <p:sp>
        <p:nvSpPr>
          <p:cNvPr id="6" name="Shape 4"/>
          <p:cNvSpPr/>
          <p:nvPr/>
        </p:nvSpPr>
        <p:spPr>
          <a:xfrm>
            <a:off x="571500" y="3026718"/>
            <a:ext cx="3200400" cy="19050"/>
          </a:xfrm>
          <a:prstGeom prst="rect">
            <a:avLst/>
          </a:prstGeom>
          <a:solidFill>
            <a:srgbClr val="7FDCFF">
              <a:alpha val="35000"/>
            </a:srgbClr>
          </a:solidFill>
          <a:ln/>
        </p:spPr>
        <p:txBody>
          <a:bodyPr/>
          <a:lstStyle/>
          <a:p>
            <a:endParaRPr lang="ko-KR" altLang="en-US"/>
          </a:p>
        </p:txBody>
      </p:sp>
      <p:sp>
        <p:nvSpPr>
          <p:cNvPr id="7" name="Text 5"/>
          <p:cNvSpPr/>
          <p:nvPr/>
        </p:nvSpPr>
        <p:spPr>
          <a:xfrm>
            <a:off x="571500" y="3312468"/>
            <a:ext cx="3520440" cy="333375"/>
          </a:xfrm>
          <a:prstGeom prst="rect">
            <a:avLst/>
          </a:prstGeom>
          <a:noFill/>
          <a:ln/>
        </p:spPr>
        <p:txBody>
          <a:bodyPr wrap="square" lIns="25400" tIns="25400" rIns="25400" bIns="25400" rtlCol="0" anchor="t">
            <a:normAutofit/>
          </a:bodyPr>
          <a:lstStyle/>
          <a:p>
            <a:pPr marL="0" indent="0" algn="l">
              <a:buNone/>
            </a:pPr>
            <a:r>
              <a:rPr lang="en-US" sz="2025" b="1" dirty="0">
                <a:solidFill>
                  <a:srgbClr val="7FDCFF"/>
                </a:solidFill>
                <a:latin typeface="Pretendard" pitchFamily="34" charset="0"/>
                <a:ea typeface="Pretendard" pitchFamily="34" charset="-122"/>
                <a:cs typeface="Pretendard" pitchFamily="34" charset="-120"/>
              </a:rPr>
              <a:t>아이디어 개요</a:t>
            </a:r>
            <a:endParaRPr lang="en-US" sz="2025" dirty="0"/>
          </a:p>
        </p:txBody>
      </p:sp>
      <p:sp>
        <p:nvSpPr>
          <p:cNvPr id="8" name="Text 6"/>
          <p:cNvSpPr/>
          <p:nvPr/>
        </p:nvSpPr>
        <p:spPr>
          <a:xfrm>
            <a:off x="571500" y="3702993"/>
            <a:ext cx="3296412" cy="700980"/>
          </a:xfrm>
          <a:prstGeom prst="rect">
            <a:avLst/>
          </a:prstGeom>
          <a:noFill/>
          <a:ln/>
        </p:spPr>
        <p:txBody>
          <a:bodyPr wrap="square" lIns="25400" tIns="25400" rIns="25400" bIns="25400" rtlCol="0" anchor="t">
            <a:normAutofit/>
          </a:bodyPr>
          <a:lstStyle/>
          <a:p>
            <a:pPr marL="0" indent="0" algn="l">
              <a:lnSpc>
                <a:spcPct val="120000"/>
              </a:lnSpc>
              <a:buNone/>
            </a:pPr>
            <a:r>
              <a:rPr lang="en-US" sz="1800" dirty="0">
                <a:solidFill>
                  <a:srgbClr val="FFFFFF">
                    <a:alpha val="72000"/>
                  </a:srgbClr>
                </a:solidFill>
                <a:latin typeface="Pretendard" pitchFamily="34" charset="0"/>
                <a:ea typeface="Pretendard" pitchFamily="34" charset="-122"/>
                <a:cs typeface="Pretendard" pitchFamily="34" charset="-120"/>
              </a:rPr>
              <a:t>서비스 한 줄 정의, 주요 사용자, 핵심 동작 방식</a:t>
            </a:r>
            <a:endParaRPr lang="en-US" sz="1800" dirty="0"/>
          </a:p>
        </p:txBody>
      </p:sp>
      <p:sp>
        <p:nvSpPr>
          <p:cNvPr id="9" name="Text 7"/>
          <p:cNvSpPr/>
          <p:nvPr/>
        </p:nvSpPr>
        <p:spPr>
          <a:xfrm>
            <a:off x="571500" y="4613523"/>
            <a:ext cx="3520440" cy="333375"/>
          </a:xfrm>
          <a:prstGeom prst="rect">
            <a:avLst/>
          </a:prstGeom>
          <a:noFill/>
          <a:ln/>
        </p:spPr>
        <p:txBody>
          <a:bodyPr wrap="square" lIns="25400" tIns="25400" rIns="25400" bIns="25400" rtlCol="0" anchor="t">
            <a:normAutofit/>
          </a:bodyPr>
          <a:lstStyle/>
          <a:p>
            <a:pPr marL="0" indent="0" algn="l">
              <a:buNone/>
            </a:pPr>
            <a:r>
              <a:rPr lang="en-US" sz="2025" b="1" dirty="0">
                <a:solidFill>
                  <a:srgbClr val="7FDCFF"/>
                </a:solidFill>
                <a:latin typeface="Pretendard" pitchFamily="34" charset="0"/>
                <a:ea typeface="Pretendard" pitchFamily="34" charset="-122"/>
                <a:cs typeface="Pretendard" pitchFamily="34" charset="-120"/>
              </a:rPr>
              <a:t>적용 AI 기술</a:t>
            </a:r>
            <a:endParaRPr lang="en-US" sz="2025" dirty="0"/>
          </a:p>
        </p:txBody>
      </p:sp>
      <p:sp>
        <p:nvSpPr>
          <p:cNvPr id="10" name="Text 8"/>
          <p:cNvSpPr/>
          <p:nvPr/>
        </p:nvSpPr>
        <p:spPr>
          <a:xfrm>
            <a:off x="571500" y="5004048"/>
            <a:ext cx="3296412" cy="700980"/>
          </a:xfrm>
          <a:prstGeom prst="rect">
            <a:avLst/>
          </a:prstGeom>
          <a:noFill/>
          <a:ln/>
        </p:spPr>
        <p:txBody>
          <a:bodyPr wrap="square" lIns="25400" tIns="25400" rIns="25400" bIns="25400" rtlCol="0" anchor="t">
            <a:normAutofit/>
          </a:bodyPr>
          <a:lstStyle/>
          <a:p>
            <a:pPr marL="0" indent="0" algn="l">
              <a:lnSpc>
                <a:spcPct val="120000"/>
              </a:lnSpc>
              <a:buNone/>
            </a:pPr>
            <a:r>
              <a:rPr lang="en-US" sz="1800" dirty="0">
                <a:solidFill>
                  <a:srgbClr val="FFFFFF">
                    <a:alpha val="72000"/>
                  </a:srgbClr>
                </a:solidFill>
                <a:latin typeface="Pretendard" pitchFamily="34" charset="0"/>
                <a:ea typeface="Pretendard" pitchFamily="34" charset="-122"/>
                <a:cs typeface="Pretendard" pitchFamily="34" charset="-120"/>
              </a:rPr>
              <a:t>활용 예정인 생성형 AI 툴·모델·기술 스택을 구체적으로 기재</a:t>
            </a:r>
            <a:endParaRPr lang="en-US" sz="1800" dirty="0"/>
          </a:p>
        </p:txBody>
      </p:sp>
      <p:sp>
        <p:nvSpPr>
          <p:cNvPr id="11" name="Text 9"/>
          <p:cNvSpPr/>
          <p:nvPr/>
        </p:nvSpPr>
        <p:spPr>
          <a:xfrm>
            <a:off x="571500" y="5914579"/>
            <a:ext cx="3520440" cy="333375"/>
          </a:xfrm>
          <a:prstGeom prst="rect">
            <a:avLst/>
          </a:prstGeom>
          <a:noFill/>
          <a:ln/>
        </p:spPr>
        <p:txBody>
          <a:bodyPr wrap="square" lIns="25400" tIns="25400" rIns="25400" bIns="25400" rtlCol="0" anchor="t">
            <a:normAutofit/>
          </a:bodyPr>
          <a:lstStyle/>
          <a:p>
            <a:pPr marL="0" indent="0" algn="l">
              <a:buNone/>
            </a:pPr>
            <a:r>
              <a:rPr lang="en-US" sz="2025" b="1" dirty="0">
                <a:solidFill>
                  <a:srgbClr val="7FDCFF"/>
                </a:solidFill>
                <a:latin typeface="Pretendard" pitchFamily="34" charset="0"/>
                <a:ea typeface="Pretendard" pitchFamily="34" charset="-122"/>
                <a:cs typeface="Pretendard" pitchFamily="34" charset="-120"/>
              </a:rPr>
              <a:t>차별점</a:t>
            </a:r>
            <a:endParaRPr lang="en-US" sz="2025" dirty="0"/>
          </a:p>
        </p:txBody>
      </p:sp>
      <p:sp>
        <p:nvSpPr>
          <p:cNvPr id="12" name="Text 10"/>
          <p:cNvSpPr/>
          <p:nvPr/>
        </p:nvSpPr>
        <p:spPr>
          <a:xfrm>
            <a:off x="571500" y="6305104"/>
            <a:ext cx="3296412" cy="700980"/>
          </a:xfrm>
          <a:prstGeom prst="rect">
            <a:avLst/>
          </a:prstGeom>
          <a:noFill/>
          <a:ln/>
        </p:spPr>
        <p:txBody>
          <a:bodyPr wrap="square" lIns="25400" tIns="25400" rIns="25400" bIns="25400" rtlCol="0" anchor="t">
            <a:normAutofit/>
          </a:bodyPr>
          <a:lstStyle/>
          <a:p>
            <a:pPr marL="0" indent="0" algn="l">
              <a:lnSpc>
                <a:spcPct val="120000"/>
              </a:lnSpc>
              <a:buNone/>
            </a:pPr>
            <a:r>
              <a:rPr lang="en-US" sz="1800" dirty="0">
                <a:solidFill>
                  <a:srgbClr val="FFFFFF">
                    <a:alpha val="72000"/>
                  </a:srgbClr>
                </a:solidFill>
                <a:latin typeface="Pretendard" pitchFamily="34" charset="0"/>
                <a:ea typeface="Pretendard" pitchFamily="34" charset="-122"/>
                <a:cs typeface="Pretendard" pitchFamily="34" charset="-120"/>
              </a:rPr>
              <a:t>기존 방식 또는 유사 서비스 대비 차별화 지점</a:t>
            </a:r>
            <a:endParaRPr lang="en-US" sz="1800" dirty="0"/>
          </a:p>
        </p:txBody>
      </p:sp>
      <p:sp>
        <p:nvSpPr>
          <p:cNvPr id="13" name="Shape 11"/>
          <p:cNvSpPr/>
          <p:nvPr/>
        </p:nvSpPr>
        <p:spPr>
          <a:xfrm>
            <a:off x="4800600" y="1057275"/>
            <a:ext cx="12877800" cy="19050"/>
          </a:xfrm>
          <a:prstGeom prst="rect">
            <a:avLst/>
          </a:prstGeom>
          <a:solidFill>
            <a:srgbClr val="0B2A6B"/>
          </a:solidFill>
          <a:ln/>
        </p:spPr>
        <p:txBody>
          <a:bodyPr/>
          <a:lstStyle/>
          <a:p>
            <a:endParaRPr lang="ko-KR" altLang="en-US"/>
          </a:p>
        </p:txBody>
      </p:sp>
      <p:sp>
        <p:nvSpPr>
          <p:cNvPr id="14" name="Text 12"/>
          <p:cNvSpPr/>
          <p:nvPr/>
        </p:nvSpPr>
        <p:spPr>
          <a:xfrm>
            <a:off x="4800600" y="571500"/>
            <a:ext cx="852041" cy="333375"/>
          </a:xfrm>
          <a:prstGeom prst="rect">
            <a:avLst/>
          </a:prstGeom>
          <a:noFill/>
          <a:ln/>
        </p:spPr>
        <p:txBody>
          <a:bodyPr wrap="square" lIns="25400" tIns="25400" rIns="25400" bIns="25400" rtlCol="0" anchor="t">
            <a:normAutofit/>
          </a:bodyPr>
          <a:lstStyle/>
          <a:p>
            <a:pPr marL="0" indent="0" algn="l">
              <a:buNone/>
            </a:pPr>
            <a:r>
              <a:rPr lang="en-US" sz="1950" b="1" kern="0" spc="351" dirty="0">
                <a:solidFill>
                  <a:srgbClr val="0B2A6B"/>
                </a:solidFill>
                <a:latin typeface="Pretendard" pitchFamily="34" charset="0"/>
                <a:ea typeface="Pretendard" pitchFamily="34" charset="-122"/>
                <a:cs typeface="Pretendard" pitchFamily="34" charset="-120"/>
              </a:rPr>
              <a:t>작성란</a:t>
            </a:r>
            <a:endParaRPr lang="en-US" sz="1950" dirty="0"/>
          </a:p>
        </p:txBody>
      </p:sp>
      <p:sp>
        <p:nvSpPr>
          <p:cNvPr id="15" name="Text 13"/>
          <p:cNvSpPr/>
          <p:nvPr/>
        </p:nvSpPr>
        <p:spPr>
          <a:xfrm>
            <a:off x="15122872" y="571500"/>
            <a:ext cx="2811081" cy="333375"/>
          </a:xfrm>
          <a:prstGeom prst="rect">
            <a:avLst/>
          </a:prstGeom>
          <a:noFill/>
          <a:ln/>
        </p:spPr>
        <p:txBody>
          <a:bodyPr wrap="square" lIns="25400" tIns="25400" rIns="25400" bIns="25400" rtlCol="0" anchor="t">
            <a:normAutofit/>
          </a:bodyPr>
          <a:lstStyle/>
          <a:p>
            <a:pPr marL="0" indent="0" algn="l">
              <a:buNone/>
            </a:pPr>
            <a:r>
              <a:rPr lang="en-US" sz="1950" b="1" dirty="0">
                <a:solidFill>
                  <a:srgbClr val="8B9AB5"/>
                </a:solidFill>
                <a:latin typeface="Pretendard" pitchFamily="34" charset="0"/>
                <a:ea typeface="Pretendard" pitchFamily="34" charset="-122"/>
                <a:cs typeface="Pretendard" pitchFamily="34" charset="-120"/>
              </a:rPr>
              <a:t>2026 K-조선 해커톤 · 03</a:t>
            </a:r>
            <a:endParaRPr lang="en-US" sz="1950" dirty="0"/>
          </a:p>
        </p:txBody>
      </p:sp>
      <p:sp>
        <p:nvSpPr>
          <p:cNvPr id="16" name="Rounded Rectangle 15"/>
          <p:cNvSpPr/>
          <p:nvPr/>
        </p:nvSpPr>
        <p:spPr>
          <a:xfrm>
            <a:off x="4800600" y="1371600"/>
            <a:ext cx="12874752" cy="3246120"/>
          </a:xfrm>
          <a:prstGeom prst="roundRect">
            <a:avLst>
              <a:gd name="adj" fmla="val 3500"/>
            </a:avLst>
          </a:prstGeom>
          <a:solidFill>
            <a:srgbClr val="FFFFFF"/>
          </a:solidFill>
          <a:ln w="9525">
            <a:solidFill>
              <a:srgbClr val="D9E0EC"/>
            </a:solidFill>
          </a:ln>
        </p:spPr>
        <p:txBody>
          <a:bodyPr rtlCol="0" anchor="ctr"/>
          <a:lstStyle/>
          <a:p/>
        </p:txBody>
      </p:sp>
      <p:sp>
        <p:nvSpPr>
          <p:cNvPr id="17" name="Oval 16"/>
          <p:cNvSpPr/>
          <p:nvPr/>
        </p:nvSpPr>
        <p:spPr>
          <a:xfrm>
            <a:off x="5120640" y="1728216"/>
            <a:ext cx="146304" cy="146304"/>
          </a:xfrm>
          <a:prstGeom prst="ellipse">
            <a:avLst/>
          </a:prstGeom>
          <a:solidFill>
            <a:srgbClr val="4FD0F5"/>
          </a:solidFill>
          <a:ln>
            <a:noFill/>
          </a:ln>
        </p:spPr>
        <p:txBody>
          <a:bodyPr rtlCol="0" anchor="ctr"/>
          <a:lstStyle/>
          <a:p>
            <a:pPr algn="ctr"/>
          </a:p>
        </p:txBody>
      </p:sp>
      <p:sp>
        <p:nvSpPr>
          <p:cNvPr id="18" name="TextBox 17"/>
          <p:cNvSpPr txBox="1"/>
          <p:nvPr/>
        </p:nvSpPr>
        <p:spPr>
          <a:xfrm>
            <a:off x="5367527" y="1627632"/>
            <a:ext cx="11987784" cy="384048"/>
          </a:xfrm>
          <a:prstGeom prst="rect">
            <a:avLst/>
          </a:prstGeom>
          <a:noFill/>
        </p:spPr>
        <p:txBody>
          <a:bodyPr wrap="square" anchor="t" lIns="0" rIns="0" tIns="0" bIns="0">
            <a:spAutoFit/>
          </a:bodyPr>
          <a:lstStyle/>
          <a:p>
            <a:pPr algn="l">
              <a:lnSpc>
                <a:spcPct val="112000"/>
              </a:lnSpc>
            </a:pPr>
            <a:r>
              <a:rPr sz="2000" b="1" i="0">
                <a:solidFill>
                  <a:srgbClr val="0B2A6B"/>
                </a:solidFill>
                <a:latin typeface="Pretendard"/>
                <a:ea typeface="Pretendard"/>
                <a:cs typeface="Pretendard"/>
              </a:rPr>
              <a:t>아이디어 개요</a:t>
            </a:r>
          </a:p>
        </p:txBody>
      </p:sp>
      <p:sp>
        <p:nvSpPr>
          <p:cNvPr id="19" name="TextBox 18"/>
          <p:cNvSpPr txBox="1"/>
          <p:nvPr/>
        </p:nvSpPr>
        <p:spPr>
          <a:xfrm>
            <a:off x="5120640" y="2048256"/>
            <a:ext cx="12234672" cy="868680"/>
          </a:xfrm>
          <a:prstGeom prst="rect">
            <a:avLst/>
          </a:prstGeom>
          <a:noFill/>
        </p:spPr>
        <p:txBody>
          <a:bodyPr wrap="square" anchor="t" lIns="0" rIns="0" tIns="0" bIns="0">
            <a:spAutoFit/>
          </a:bodyPr>
          <a:lstStyle/>
          <a:p>
            <a:pPr algn="l">
              <a:lnSpc>
                <a:spcPct val="110000"/>
              </a:lnSpc>
            </a:pPr>
            <a:r>
              <a:rPr sz="1300" b="1" i="0">
                <a:solidFill>
                  <a:srgbClr val="1F2A44"/>
                </a:solidFill>
                <a:latin typeface="Pretendard"/>
                <a:ea typeface="Pretendard"/>
                <a:cs typeface="Pretendard"/>
              </a:rPr>
              <a:t>RT 판독 워크벤치</a:t>
            </a:r>
            <a:r>
              <a:rPr sz="1300" b="0" i="0">
                <a:solidFill>
                  <a:srgbClr val="1F2A44"/>
                </a:solidFill>
                <a:latin typeface="Pretendard"/>
                <a:ea typeface="Pretendard"/>
                <a:cs typeface="Pretendard"/>
              </a:rPr>
              <a:t>는 사진을 열면 AI가 의심 자리를 먼저 표시해 줍니다. 판독원이 결함 종류를 확정하고 클릭 두 번으로 크기를 재면, 규칙이 기준표와 대조해 합격 여부를 정합니다. 보고서와 PDF, 기록까지 한 화면에서 끝납니다. </a:t>
            </a:r>
            <a:r>
              <a:rPr sz="1300" b="1" i="0">
                <a:solidFill>
                  <a:srgbClr val="1F2A44"/>
                </a:solidFill>
                <a:latin typeface="Pretendard"/>
                <a:ea typeface="Pretendard"/>
                <a:cs typeface="Pretendard"/>
              </a:rPr>
              <a:t>사무실 PC에 설치해 브라우저로 쓰고</a:t>
            </a:r>
            <a:r>
              <a:rPr sz="1300" b="0" i="0">
                <a:solidFill>
                  <a:srgbClr val="1F2A44"/>
                </a:solidFill>
                <a:latin typeface="Pretendard"/>
                <a:ea typeface="Pretendard"/>
                <a:cs typeface="Pretendard"/>
              </a:rPr>
              <a:t>, 같은 와이파이에 있는 태블릿에서도 열립니다.</a:t>
            </a:r>
          </a:p>
        </p:txBody>
      </p:sp>
      <p:sp>
        <p:nvSpPr>
          <p:cNvPr id="20" name="TextBox 19"/>
          <p:cNvSpPr txBox="1"/>
          <p:nvPr/>
        </p:nvSpPr>
        <p:spPr>
          <a:xfrm>
            <a:off x="5120640" y="2706624"/>
            <a:ext cx="12234672" cy="274320"/>
          </a:xfrm>
          <a:prstGeom prst="rect">
            <a:avLst/>
          </a:prstGeom>
          <a:noFill/>
        </p:spPr>
        <p:txBody>
          <a:bodyPr wrap="square" anchor="t" lIns="0" rIns="0" tIns="0" bIns="0">
            <a:spAutoFit/>
          </a:bodyPr>
          <a:lstStyle/>
          <a:p>
            <a:pPr algn="l">
              <a:lnSpc>
                <a:spcPct val="112000"/>
              </a:lnSpc>
            </a:pPr>
            <a:r>
              <a:rPr sz="1150" b="0" i="0">
                <a:solidFill>
                  <a:srgbClr val="5B6B8C"/>
                </a:solidFill>
                <a:latin typeface="Pretendard"/>
                <a:ea typeface="Pretendard"/>
                <a:cs typeface="Pretendard"/>
              </a:rPr>
              <a:t>쓰는 사람은 RT 판독원 한 명입니다. 검사업체 판독원이나 조선소 품질 담당자가 쓰고, 판정과 승인은 언제나 사람이 합니다.</a:t>
            </a:r>
          </a:p>
        </p:txBody>
      </p:sp>
      <p:sp>
        <p:nvSpPr>
          <p:cNvPr id="21" name="Rounded Rectangle 20"/>
          <p:cNvSpPr/>
          <p:nvPr/>
        </p:nvSpPr>
        <p:spPr>
          <a:xfrm>
            <a:off x="5120640" y="3035808"/>
            <a:ext cx="2894076" cy="1399031"/>
          </a:xfrm>
          <a:prstGeom prst="roundRect">
            <a:avLst>
              <a:gd name="adj" fmla="val 6000"/>
            </a:avLst>
          </a:prstGeom>
          <a:solidFill>
            <a:srgbClr val="F2F5FA"/>
          </a:solidFill>
          <a:ln>
            <a:noFill/>
          </a:ln>
        </p:spPr>
        <p:txBody>
          <a:bodyPr rtlCol="0" anchor="ctr"/>
          <a:lstStyle/>
          <a:p/>
        </p:txBody>
      </p:sp>
      <p:sp>
        <p:nvSpPr>
          <p:cNvPr id="22" name="TextBox 21"/>
          <p:cNvSpPr txBox="1"/>
          <p:nvPr/>
        </p:nvSpPr>
        <p:spPr>
          <a:xfrm>
            <a:off x="5285231" y="3145536"/>
            <a:ext cx="2564892" cy="274320"/>
          </a:xfrm>
          <a:prstGeom prst="rect">
            <a:avLst/>
          </a:prstGeom>
          <a:noFill/>
        </p:spPr>
        <p:txBody>
          <a:bodyPr wrap="square" anchor="t" lIns="0" rIns="0" tIns="0" bIns="0">
            <a:spAutoFit/>
          </a:bodyPr>
          <a:lstStyle/>
          <a:p>
            <a:pPr algn="l">
              <a:lnSpc>
                <a:spcPct val="112000"/>
              </a:lnSpc>
            </a:pPr>
            <a:r>
              <a:rPr sz="1250" b="1" i="0">
                <a:solidFill>
                  <a:srgbClr val="0B2A6B"/>
                </a:solidFill>
                <a:latin typeface="Pretendard"/>
                <a:ea typeface="Pretendard"/>
                <a:cs typeface="Pretendard"/>
              </a:rPr>
              <a:t>① 두 번째 눈</a:t>
            </a:r>
          </a:p>
        </p:txBody>
      </p:sp>
      <p:sp>
        <p:nvSpPr>
          <p:cNvPr id="23" name="TextBox 22"/>
          <p:cNvSpPr txBox="1"/>
          <p:nvPr/>
        </p:nvSpPr>
        <p:spPr>
          <a:xfrm>
            <a:off x="5285231" y="3429000"/>
            <a:ext cx="2564892" cy="941831"/>
          </a:xfrm>
          <a:prstGeom prst="rect">
            <a:avLst/>
          </a:prstGeom>
          <a:noFill/>
        </p:spPr>
        <p:txBody>
          <a:bodyPr wrap="square" anchor="t" lIns="0" rIns="0" tIns="0" bIns="0">
            <a:spAutoFit/>
          </a:bodyPr>
          <a:lstStyle/>
          <a:p>
            <a:pPr algn="l">
              <a:lnSpc>
                <a:spcPct val="110000"/>
              </a:lnSpc>
            </a:pPr>
            <a:r>
              <a:rPr sz="1100" b="0" i="0">
                <a:solidFill>
                  <a:srgbClr val="1F2A44"/>
                </a:solidFill>
                <a:latin typeface="Pretendard"/>
                <a:ea typeface="Pretendard"/>
                <a:cs typeface="Pretendard"/>
              </a:rPr>
              <a:t>판독원이 먼저 보고, 놓치기 쉬운 자리를 AI가 표시합니다. 놓침을 줄이는 쪽으로 맞췄습니다. 헛짚은 표시는 클릭 한 번으로 지우면 되지만, 놓친 결함은 배에 그대로 남기 때문입니다. 결함 종류는 </a:t>
            </a:r>
            <a:r>
              <a:rPr sz="1100" b="1" i="0">
                <a:solidFill>
                  <a:srgbClr val="1F2A44"/>
                </a:solidFill>
                <a:latin typeface="Pretendard"/>
                <a:ea typeface="Pretendard"/>
                <a:cs typeface="Pretendard"/>
              </a:rPr>
              <a:t>판독원이 정한 뒤에</a:t>
            </a:r>
            <a:r>
              <a:rPr sz="1100" b="0" i="0">
                <a:solidFill>
                  <a:srgbClr val="1F2A44"/>
                </a:solidFill>
                <a:latin typeface="Pretendard"/>
                <a:ea typeface="Pretendard"/>
                <a:cs typeface="Pretendard"/>
              </a:rPr>
              <a:t> 반영합니다.</a:t>
            </a:r>
          </a:p>
        </p:txBody>
      </p:sp>
      <p:sp>
        <p:nvSpPr>
          <p:cNvPr id="24" name="Rounded Rectangle 23"/>
          <p:cNvSpPr/>
          <p:nvPr/>
        </p:nvSpPr>
        <p:spPr>
          <a:xfrm>
            <a:off x="8234171" y="3035808"/>
            <a:ext cx="2894076" cy="1399031"/>
          </a:xfrm>
          <a:prstGeom prst="roundRect">
            <a:avLst>
              <a:gd name="adj" fmla="val 6000"/>
            </a:avLst>
          </a:prstGeom>
          <a:solidFill>
            <a:srgbClr val="F2F5FA"/>
          </a:solidFill>
          <a:ln>
            <a:noFill/>
          </a:ln>
        </p:spPr>
        <p:txBody>
          <a:bodyPr rtlCol="0" anchor="ctr"/>
          <a:lstStyle/>
          <a:p/>
        </p:txBody>
      </p:sp>
      <p:sp>
        <p:nvSpPr>
          <p:cNvPr id="25" name="TextBox 24"/>
          <p:cNvSpPr txBox="1"/>
          <p:nvPr/>
        </p:nvSpPr>
        <p:spPr>
          <a:xfrm>
            <a:off x="8398763" y="3145536"/>
            <a:ext cx="2564892" cy="274320"/>
          </a:xfrm>
          <a:prstGeom prst="rect">
            <a:avLst/>
          </a:prstGeom>
          <a:noFill/>
        </p:spPr>
        <p:txBody>
          <a:bodyPr wrap="square" anchor="t" lIns="0" rIns="0" tIns="0" bIns="0">
            <a:spAutoFit/>
          </a:bodyPr>
          <a:lstStyle/>
          <a:p>
            <a:pPr algn="l">
              <a:lnSpc>
                <a:spcPct val="112000"/>
              </a:lnSpc>
            </a:pPr>
            <a:r>
              <a:rPr sz="1250" b="1" i="0">
                <a:solidFill>
                  <a:srgbClr val="0B2A6B"/>
                </a:solidFill>
                <a:latin typeface="Pretendard"/>
                <a:ea typeface="Pretendard"/>
                <a:cs typeface="Pretendard"/>
              </a:rPr>
              <a:t>② 클릭 두 번 자와 규칙 판정</a:t>
            </a:r>
          </a:p>
        </p:txBody>
      </p:sp>
      <p:sp>
        <p:nvSpPr>
          <p:cNvPr id="26" name="TextBox 25"/>
          <p:cNvSpPr txBox="1"/>
          <p:nvPr/>
        </p:nvSpPr>
        <p:spPr>
          <a:xfrm>
            <a:off x="8398763" y="3429000"/>
            <a:ext cx="2564892" cy="941831"/>
          </a:xfrm>
          <a:prstGeom prst="rect">
            <a:avLst/>
          </a:prstGeom>
          <a:noFill/>
        </p:spPr>
        <p:txBody>
          <a:bodyPr wrap="square" anchor="t" lIns="0" rIns="0" tIns="0" bIns="0">
            <a:spAutoFit/>
          </a:bodyPr>
          <a:lstStyle/>
          <a:p>
            <a:pPr algn="l">
              <a:lnSpc>
                <a:spcPct val="110000"/>
              </a:lnSpc>
            </a:pPr>
            <a:r>
              <a:rPr sz="1100" b="0" i="0">
                <a:solidFill>
                  <a:srgbClr val="1F2A44"/>
                </a:solidFill>
                <a:latin typeface="Pretendard"/>
                <a:ea typeface="Pretendard"/>
                <a:cs typeface="Pretendard"/>
              </a:rPr>
              <a:t>사진 속에서 자 역할을 하는 </a:t>
            </a:r>
            <a:r>
              <a:rPr sz="1100" b="1" i="0">
                <a:solidFill>
                  <a:srgbClr val="1F2A44"/>
                </a:solidFill>
                <a:latin typeface="Pretendard"/>
                <a:ea typeface="Pretendard"/>
                <a:cs typeface="Pretendard"/>
              </a:rPr>
              <a:t>납마커</a:t>
            </a:r>
            <a:r>
              <a:rPr sz="1100" b="0" i="0">
                <a:solidFill>
                  <a:srgbClr val="1F2A44"/>
                </a:solidFill>
                <a:latin typeface="Pretendard"/>
                <a:ea typeface="Pretendard"/>
                <a:cs typeface="Pretendard"/>
              </a:rPr>
              <a:t> 양 끝을 클릭해 1픽셀이 몇 mm인지 정하고, 결함 양 끝을 클릭해 크기를 확정합니다. 그러면 규칙이 </a:t>
            </a:r>
            <a:r>
              <a:rPr sz="1100" b="1" i="0">
                <a:solidFill>
                  <a:srgbClr val="1F2A44"/>
                </a:solidFill>
                <a:latin typeface="Pretendard"/>
                <a:ea typeface="Pretendard"/>
                <a:cs typeface="Pretendard"/>
              </a:rPr>
              <a:t>길이·누적 길이·기공 면적률</a:t>
            </a:r>
            <a:r>
              <a:rPr sz="1100" b="0" i="0">
                <a:solidFill>
                  <a:srgbClr val="1F2A44"/>
                </a:solidFill>
                <a:latin typeface="Pretendard"/>
                <a:ea typeface="Pretendard"/>
                <a:cs typeface="Pretendard"/>
              </a:rPr>
              <a:t> 세 가지로 판정하고 근거 조항을 함께 적습니다.</a:t>
            </a:r>
          </a:p>
        </p:txBody>
      </p:sp>
      <p:sp>
        <p:nvSpPr>
          <p:cNvPr id="27" name="Rounded Rectangle 26"/>
          <p:cNvSpPr/>
          <p:nvPr/>
        </p:nvSpPr>
        <p:spPr>
          <a:xfrm>
            <a:off x="11347704" y="3035808"/>
            <a:ext cx="2894076" cy="1399031"/>
          </a:xfrm>
          <a:prstGeom prst="roundRect">
            <a:avLst>
              <a:gd name="adj" fmla="val 6000"/>
            </a:avLst>
          </a:prstGeom>
          <a:solidFill>
            <a:srgbClr val="F2F5FA"/>
          </a:solidFill>
          <a:ln>
            <a:noFill/>
          </a:ln>
        </p:spPr>
        <p:txBody>
          <a:bodyPr rtlCol="0" anchor="ctr"/>
          <a:lstStyle/>
          <a:p/>
        </p:txBody>
      </p:sp>
      <p:sp>
        <p:nvSpPr>
          <p:cNvPr id="28" name="TextBox 27"/>
          <p:cNvSpPr txBox="1"/>
          <p:nvPr/>
        </p:nvSpPr>
        <p:spPr>
          <a:xfrm>
            <a:off x="11512296" y="3145536"/>
            <a:ext cx="2564892" cy="274320"/>
          </a:xfrm>
          <a:prstGeom prst="rect">
            <a:avLst/>
          </a:prstGeom>
          <a:noFill/>
        </p:spPr>
        <p:txBody>
          <a:bodyPr wrap="square" anchor="t" lIns="0" rIns="0" tIns="0" bIns="0">
            <a:spAutoFit/>
          </a:bodyPr>
          <a:lstStyle/>
          <a:p>
            <a:pPr algn="l">
              <a:lnSpc>
                <a:spcPct val="112000"/>
              </a:lnSpc>
            </a:pPr>
            <a:r>
              <a:rPr sz="1250" b="1" i="0">
                <a:solidFill>
                  <a:srgbClr val="0B2A6B"/>
                </a:solidFill>
                <a:latin typeface="Pretendard"/>
                <a:ea typeface="Pretendard"/>
                <a:cs typeface="Pretendard"/>
              </a:rPr>
              <a:t>③ 보고서 초안과 말로 검색</a:t>
            </a:r>
          </a:p>
        </p:txBody>
      </p:sp>
      <p:sp>
        <p:nvSpPr>
          <p:cNvPr id="29" name="TextBox 28"/>
          <p:cNvSpPr txBox="1"/>
          <p:nvPr/>
        </p:nvSpPr>
        <p:spPr>
          <a:xfrm>
            <a:off x="11512296" y="3429000"/>
            <a:ext cx="2564892" cy="941831"/>
          </a:xfrm>
          <a:prstGeom prst="rect">
            <a:avLst/>
          </a:prstGeom>
          <a:noFill/>
        </p:spPr>
        <p:txBody>
          <a:bodyPr wrap="square" anchor="t" lIns="0" rIns="0" tIns="0" bIns="0">
            <a:spAutoFit/>
          </a:bodyPr>
          <a:lstStyle/>
          <a:p>
            <a:pPr algn="l">
              <a:lnSpc>
                <a:spcPct val="110000"/>
              </a:lnSpc>
            </a:pPr>
            <a:r>
              <a:rPr sz="1100" b="0" i="0">
                <a:solidFill>
                  <a:srgbClr val="1F2A44"/>
                </a:solidFill>
                <a:latin typeface="Pretendard"/>
                <a:ea typeface="Pretendard"/>
                <a:cs typeface="Pretendard"/>
              </a:rPr>
              <a:t>확정된 판정 결과만 LLM에 보내 보고서 문체로 씁니다. 사진과 개인정보는 보내지 않습니다. 판독원이 고쳐서 승인하면 PDF가 됩니다. 기록은 ‘3번 블록 지난달 기공 불합격’처럼 말로 찾습니다. LLM이 없어도 규칙 검색과 템플릿으로 돌아갑니다.</a:t>
            </a:r>
          </a:p>
        </p:txBody>
      </p:sp>
      <p:sp>
        <p:nvSpPr>
          <p:cNvPr id="30" name="Rounded Rectangle 29"/>
          <p:cNvSpPr/>
          <p:nvPr/>
        </p:nvSpPr>
        <p:spPr>
          <a:xfrm>
            <a:off x="14461236" y="3035808"/>
            <a:ext cx="2894076" cy="1399031"/>
          </a:xfrm>
          <a:prstGeom prst="roundRect">
            <a:avLst>
              <a:gd name="adj" fmla="val 6000"/>
            </a:avLst>
          </a:prstGeom>
          <a:solidFill>
            <a:srgbClr val="F2F5FA"/>
          </a:solidFill>
          <a:ln>
            <a:noFill/>
          </a:ln>
        </p:spPr>
        <p:txBody>
          <a:bodyPr rtlCol="0" anchor="ctr"/>
          <a:lstStyle/>
          <a:p/>
        </p:txBody>
      </p:sp>
      <p:sp>
        <p:nvSpPr>
          <p:cNvPr id="31" name="TextBox 30"/>
          <p:cNvSpPr txBox="1"/>
          <p:nvPr/>
        </p:nvSpPr>
        <p:spPr>
          <a:xfrm>
            <a:off x="14625828" y="3145536"/>
            <a:ext cx="2564892" cy="274320"/>
          </a:xfrm>
          <a:prstGeom prst="rect">
            <a:avLst/>
          </a:prstGeom>
          <a:noFill/>
        </p:spPr>
        <p:txBody>
          <a:bodyPr wrap="square" anchor="t" lIns="0" rIns="0" tIns="0" bIns="0">
            <a:spAutoFit/>
          </a:bodyPr>
          <a:lstStyle/>
          <a:p>
            <a:pPr algn="l">
              <a:lnSpc>
                <a:spcPct val="112000"/>
              </a:lnSpc>
            </a:pPr>
            <a:r>
              <a:rPr sz="1250" b="1" i="0">
                <a:solidFill>
                  <a:srgbClr val="0B2A6B"/>
                </a:solidFill>
                <a:latin typeface="Pretendard"/>
                <a:ea typeface="Pretendard"/>
                <a:cs typeface="Pretendard"/>
              </a:rPr>
              <a:t>④ 검색되는 기록과 데이터 쌓기</a:t>
            </a:r>
          </a:p>
        </p:txBody>
      </p:sp>
      <p:sp>
        <p:nvSpPr>
          <p:cNvPr id="32" name="TextBox 31"/>
          <p:cNvSpPr txBox="1"/>
          <p:nvPr/>
        </p:nvSpPr>
        <p:spPr>
          <a:xfrm>
            <a:off x="14625828" y="3429000"/>
            <a:ext cx="2564892" cy="941831"/>
          </a:xfrm>
          <a:prstGeom prst="rect">
            <a:avLst/>
          </a:prstGeom>
          <a:noFill/>
        </p:spPr>
        <p:txBody>
          <a:bodyPr wrap="square" anchor="t" lIns="0" rIns="0" tIns="0" bIns="0">
            <a:spAutoFit/>
          </a:bodyPr>
          <a:lstStyle/>
          <a:p>
            <a:pPr algn="l">
              <a:lnSpc>
                <a:spcPct val="110000"/>
              </a:lnSpc>
            </a:pPr>
            <a:r>
              <a:rPr sz="1100" b="0" i="0">
                <a:solidFill>
                  <a:srgbClr val="1F2A44"/>
                </a:solidFill>
                <a:latin typeface="Pretendard"/>
                <a:ea typeface="Pretendard"/>
                <a:cs typeface="Pretendard"/>
              </a:rPr>
              <a:t>승인한 기록을 데이터베이스에 쌓고, 조건 검색과 CSV 내보내기를 지원합니다. 채택했거나 직접 그린 결함 상자는 학습용 라벨로 내보내고, 기각한 것은 헛짚음 신호로 셉니다. 재학습은 따로 할 일이고, 데이터는 밖으로 나가지 않습니다.</a:t>
            </a:r>
          </a:p>
        </p:txBody>
      </p:sp>
      <p:sp>
        <p:nvSpPr>
          <p:cNvPr id="33" name="Rounded Rectangle 32"/>
          <p:cNvSpPr/>
          <p:nvPr/>
        </p:nvSpPr>
        <p:spPr>
          <a:xfrm>
            <a:off x="4800600" y="4892040"/>
            <a:ext cx="7452360" cy="4361688"/>
          </a:xfrm>
          <a:prstGeom prst="roundRect">
            <a:avLst>
              <a:gd name="adj" fmla="val 3500"/>
            </a:avLst>
          </a:prstGeom>
          <a:solidFill>
            <a:srgbClr val="FFFFFF"/>
          </a:solidFill>
          <a:ln w="9525">
            <a:solidFill>
              <a:srgbClr val="D9E0EC"/>
            </a:solidFill>
          </a:ln>
        </p:spPr>
        <p:txBody>
          <a:bodyPr rtlCol="0" anchor="ctr"/>
          <a:lstStyle/>
          <a:p/>
        </p:txBody>
      </p:sp>
      <p:sp>
        <p:nvSpPr>
          <p:cNvPr id="34" name="Oval 33"/>
          <p:cNvSpPr/>
          <p:nvPr/>
        </p:nvSpPr>
        <p:spPr>
          <a:xfrm>
            <a:off x="5120640" y="5248656"/>
            <a:ext cx="146304" cy="146304"/>
          </a:xfrm>
          <a:prstGeom prst="ellipse">
            <a:avLst/>
          </a:prstGeom>
          <a:solidFill>
            <a:srgbClr val="4FD0F5"/>
          </a:solidFill>
          <a:ln>
            <a:noFill/>
          </a:ln>
        </p:spPr>
        <p:txBody>
          <a:bodyPr rtlCol="0" anchor="ctr"/>
          <a:lstStyle/>
          <a:p>
            <a:pPr algn="ctr"/>
          </a:p>
        </p:txBody>
      </p:sp>
      <p:sp>
        <p:nvSpPr>
          <p:cNvPr id="35" name="TextBox 34"/>
          <p:cNvSpPr txBox="1"/>
          <p:nvPr/>
        </p:nvSpPr>
        <p:spPr>
          <a:xfrm>
            <a:off x="5367527" y="5148072"/>
            <a:ext cx="6565392" cy="384048"/>
          </a:xfrm>
          <a:prstGeom prst="rect">
            <a:avLst/>
          </a:prstGeom>
          <a:noFill/>
        </p:spPr>
        <p:txBody>
          <a:bodyPr wrap="square" anchor="t" lIns="0" rIns="0" tIns="0" bIns="0">
            <a:spAutoFit/>
          </a:bodyPr>
          <a:lstStyle/>
          <a:p>
            <a:pPr algn="l">
              <a:lnSpc>
                <a:spcPct val="112000"/>
              </a:lnSpc>
            </a:pPr>
            <a:r>
              <a:rPr sz="2000" b="1" i="0">
                <a:solidFill>
                  <a:srgbClr val="0B2A6B"/>
                </a:solidFill>
                <a:latin typeface="Pretendard"/>
                <a:ea typeface="Pretendard"/>
                <a:cs typeface="Pretendard"/>
              </a:rPr>
              <a:t>적용 AI 기술</a:t>
            </a:r>
          </a:p>
        </p:txBody>
      </p:sp>
      <p:sp>
        <p:nvSpPr>
          <p:cNvPr id="36" name="Rounded Rectangle 35"/>
          <p:cNvSpPr/>
          <p:nvPr/>
        </p:nvSpPr>
        <p:spPr>
          <a:xfrm>
            <a:off x="5120640" y="5605272"/>
            <a:ext cx="3305556" cy="1719072"/>
          </a:xfrm>
          <a:prstGeom prst="roundRect">
            <a:avLst>
              <a:gd name="adj" fmla="val 6000"/>
            </a:avLst>
          </a:prstGeom>
          <a:solidFill>
            <a:srgbClr val="F2F5FA"/>
          </a:solidFill>
          <a:ln>
            <a:noFill/>
          </a:ln>
        </p:spPr>
        <p:txBody>
          <a:bodyPr rtlCol="0" anchor="ctr"/>
          <a:lstStyle/>
          <a:p/>
        </p:txBody>
      </p:sp>
      <p:sp>
        <p:nvSpPr>
          <p:cNvPr id="37" name="TextBox 36"/>
          <p:cNvSpPr txBox="1"/>
          <p:nvPr/>
        </p:nvSpPr>
        <p:spPr>
          <a:xfrm>
            <a:off x="5276088" y="5705856"/>
            <a:ext cx="2994660" cy="274320"/>
          </a:xfrm>
          <a:prstGeom prst="rect">
            <a:avLst/>
          </a:prstGeom>
          <a:noFill/>
        </p:spPr>
        <p:txBody>
          <a:bodyPr wrap="square" anchor="t" lIns="0" rIns="0" tIns="0" bIns="0">
            <a:spAutoFit/>
          </a:bodyPr>
          <a:lstStyle/>
          <a:p>
            <a:pPr algn="l">
              <a:lnSpc>
                <a:spcPct val="112000"/>
              </a:lnSpc>
            </a:pPr>
            <a:r>
              <a:rPr sz="1250" b="1" i="0">
                <a:solidFill>
                  <a:srgbClr val="0B2A6B"/>
                </a:solidFill>
                <a:latin typeface="Pretendard"/>
                <a:ea typeface="Pretendard"/>
                <a:cs typeface="Pretendard"/>
              </a:rPr>
              <a:t>결함 후보 탐지</a:t>
            </a:r>
          </a:p>
        </p:txBody>
      </p:sp>
      <p:sp>
        <p:nvSpPr>
          <p:cNvPr id="38" name="TextBox 37"/>
          <p:cNvSpPr txBox="1"/>
          <p:nvPr/>
        </p:nvSpPr>
        <p:spPr>
          <a:xfrm>
            <a:off x="5276088" y="5989320"/>
            <a:ext cx="2994660" cy="1261872"/>
          </a:xfrm>
          <a:prstGeom prst="rect">
            <a:avLst/>
          </a:prstGeom>
          <a:noFill/>
        </p:spPr>
        <p:txBody>
          <a:bodyPr wrap="square" anchor="t" lIns="0" rIns="0" tIns="0" bIns="0">
            <a:spAutoFit/>
          </a:bodyPr>
          <a:lstStyle/>
          <a:p>
            <a:pPr algn="l">
              <a:lnSpc>
                <a:spcPct val="110000"/>
              </a:lnSpc>
            </a:pPr>
            <a:r>
              <a:rPr sz="1050" b="0" i="0">
                <a:solidFill>
                  <a:srgbClr val="1F2A44"/>
                </a:solidFill>
                <a:latin typeface="Pretendard"/>
                <a:ea typeface="Pretendard"/>
                <a:cs typeface="Pretendard"/>
              </a:rPr>
              <a:t>Ultralytics YOLO를 씁니다(</a:t>
            </a:r>
            <a:r>
              <a:rPr sz="1050" b="1" i="0">
                <a:solidFill>
                  <a:srgbClr val="1F2A44"/>
                </a:solidFill>
                <a:latin typeface="Pretendard"/>
                <a:ea typeface="Pretendard"/>
                <a:cs typeface="Pretendard"/>
              </a:rPr>
              <a:t>YOLO26s</a:t>
            </a:r>
            <a:r>
              <a:rPr sz="1050" b="0" i="0">
                <a:solidFill>
                  <a:srgbClr val="1F2A44"/>
                </a:solidFill>
                <a:latin typeface="Pretendard"/>
                <a:ea typeface="Pretendard"/>
                <a:cs typeface="Pretendard"/>
              </a:rPr>
              <a:t> 권장, 2026.01 공개[1], v8·v11 호환). AGPL-3.0 라이선스라 사내 배포 때는 유료 라이선스나 다른 모델이 필요합니다. </a:t>
            </a:r>
            <a:r>
              <a:rPr sz="1050" b="1" i="0">
                <a:solidFill>
                  <a:srgbClr val="1F2A44"/>
                </a:solidFill>
                <a:latin typeface="Pretendard"/>
                <a:ea typeface="Pretendard"/>
                <a:cs typeface="Pretendard"/>
              </a:rPr>
              <a:t>지금은 대체용 OpenCV 탐지기</a:t>
            </a:r>
            <a:r>
              <a:rPr sz="1050" b="0" i="0">
                <a:solidFill>
                  <a:srgbClr val="1F2A44"/>
                </a:solidFill>
                <a:latin typeface="Pretendard"/>
                <a:ea typeface="Pretendard"/>
                <a:cs typeface="Pretendard"/>
              </a:rPr>
              <a:t>가 돌아갑니다. 합성 필름 6장의 결함 14개를 모두 찾았고, 장당 헛짚음은 3.8건이었습니다(신뢰도 기준 0.5). 가중치와 ultralytics 8.4 이상을 넣으면 자동으로 바뀝니다.</a:t>
            </a:r>
          </a:p>
        </p:txBody>
      </p:sp>
      <p:sp>
        <p:nvSpPr>
          <p:cNvPr id="39" name="Rounded Rectangle 38"/>
          <p:cNvSpPr/>
          <p:nvPr/>
        </p:nvSpPr>
        <p:spPr>
          <a:xfrm>
            <a:off x="8627364" y="5605272"/>
            <a:ext cx="3305556" cy="1719072"/>
          </a:xfrm>
          <a:prstGeom prst="roundRect">
            <a:avLst>
              <a:gd name="adj" fmla="val 6000"/>
            </a:avLst>
          </a:prstGeom>
          <a:solidFill>
            <a:srgbClr val="F2F5FA"/>
          </a:solidFill>
          <a:ln>
            <a:noFill/>
          </a:ln>
        </p:spPr>
        <p:txBody>
          <a:bodyPr rtlCol="0" anchor="ctr"/>
          <a:lstStyle/>
          <a:p/>
        </p:txBody>
      </p:sp>
      <p:sp>
        <p:nvSpPr>
          <p:cNvPr id="40" name="TextBox 39"/>
          <p:cNvSpPr txBox="1"/>
          <p:nvPr/>
        </p:nvSpPr>
        <p:spPr>
          <a:xfrm>
            <a:off x="8782812" y="5705856"/>
            <a:ext cx="2994660" cy="274320"/>
          </a:xfrm>
          <a:prstGeom prst="rect">
            <a:avLst/>
          </a:prstGeom>
          <a:noFill/>
        </p:spPr>
        <p:txBody>
          <a:bodyPr wrap="square" anchor="t" lIns="0" rIns="0" tIns="0" bIns="0">
            <a:spAutoFit/>
          </a:bodyPr>
          <a:lstStyle/>
          <a:p>
            <a:pPr algn="l">
              <a:lnSpc>
                <a:spcPct val="112000"/>
              </a:lnSpc>
            </a:pPr>
            <a:r>
              <a:rPr sz="1250" b="1" i="0">
                <a:solidFill>
                  <a:srgbClr val="0B2A6B"/>
                </a:solidFill>
                <a:latin typeface="Pretendard"/>
                <a:ea typeface="Pretendard"/>
                <a:cs typeface="Pretendard"/>
              </a:rPr>
              <a:t>보고서·검색 LLM(로컬 우선)</a:t>
            </a:r>
          </a:p>
        </p:txBody>
      </p:sp>
      <p:sp>
        <p:nvSpPr>
          <p:cNvPr id="41" name="TextBox 40"/>
          <p:cNvSpPr txBox="1"/>
          <p:nvPr/>
        </p:nvSpPr>
        <p:spPr>
          <a:xfrm>
            <a:off x="8782812" y="5989320"/>
            <a:ext cx="2994660" cy="1261872"/>
          </a:xfrm>
          <a:prstGeom prst="rect">
            <a:avLst/>
          </a:prstGeom>
          <a:noFill/>
        </p:spPr>
        <p:txBody>
          <a:bodyPr wrap="square" anchor="t" lIns="0" rIns="0" tIns="0" bIns="0">
            <a:spAutoFit/>
          </a:bodyPr>
          <a:lstStyle/>
          <a:p>
            <a:pPr algn="l">
              <a:lnSpc>
                <a:spcPct val="110000"/>
              </a:lnSpc>
            </a:pPr>
            <a:r>
              <a:rPr sz="1050" b="0" i="0">
                <a:solidFill>
                  <a:srgbClr val="1F2A44"/>
                </a:solidFill>
                <a:latin typeface="Pretendard"/>
                <a:ea typeface="Pretendard"/>
                <a:cs typeface="Pretendard"/>
              </a:rPr>
              <a:t>기본은 </a:t>
            </a:r>
            <a:r>
              <a:rPr sz="1050" b="1" i="0">
                <a:solidFill>
                  <a:srgbClr val="1F2A44"/>
                </a:solidFill>
                <a:latin typeface="Pretendard"/>
                <a:ea typeface="Pretendard"/>
                <a:cs typeface="Pretendard"/>
              </a:rPr>
              <a:t>사무실 PC 안에서 도는 LLM</a:t>
            </a:r>
            <a:r>
              <a:rPr sz="1050" b="0" i="0">
                <a:solidFill>
                  <a:srgbClr val="1F2A44"/>
                </a:solidFill>
                <a:latin typeface="Pretendard"/>
                <a:ea typeface="Pretendard"/>
                <a:cs typeface="Pretendard"/>
              </a:rPr>
              <a:t>이거나 오프라인 템플릿입니다(Ollama·vLLM[3]). 한국어 모델은 EXAONE(코드 기본값 3.5)[4]과 HyperCLOVA X SEED[5]를 봅니다. EXAONE은 연구·비상업 라이선스라 상용 배포 때는 바꿉니다. 클라우드는 </a:t>
            </a:r>
            <a:r>
              <a:rPr sz="1050" b="1" i="0">
                <a:solidFill>
                  <a:srgbClr val="1F2A44"/>
                </a:solidFill>
                <a:latin typeface="Pretendard"/>
                <a:ea typeface="Pretendard"/>
                <a:cs typeface="Pretendard"/>
              </a:rPr>
              <a:t>사용자가 직접 켤 때만</a:t>
            </a:r>
            <a:r>
              <a:rPr sz="1050" b="0" i="0">
                <a:solidFill>
                  <a:srgbClr val="1F2A44"/>
                </a:solidFill>
                <a:latin typeface="Pretendard"/>
                <a:ea typeface="Pretendard"/>
                <a:cs typeface="Pretendard"/>
              </a:rPr>
              <a:t> 씁니다(기본 Claude Sonnet 5[3]). 사진과 실명, 파일 경로는 보내지 않고 보낼 내용을 미리 보여 줍니다.</a:t>
            </a:r>
          </a:p>
        </p:txBody>
      </p:sp>
      <p:sp>
        <p:nvSpPr>
          <p:cNvPr id="42" name="Rounded Rectangle 41"/>
          <p:cNvSpPr/>
          <p:nvPr/>
        </p:nvSpPr>
        <p:spPr>
          <a:xfrm>
            <a:off x="5120640" y="7434071"/>
            <a:ext cx="3305556" cy="1243584"/>
          </a:xfrm>
          <a:prstGeom prst="roundRect">
            <a:avLst>
              <a:gd name="adj" fmla="val 6000"/>
            </a:avLst>
          </a:prstGeom>
          <a:solidFill>
            <a:srgbClr val="F2F5FA"/>
          </a:solidFill>
          <a:ln>
            <a:noFill/>
          </a:ln>
        </p:spPr>
        <p:txBody>
          <a:bodyPr rtlCol="0" anchor="ctr"/>
          <a:lstStyle/>
          <a:p/>
        </p:txBody>
      </p:sp>
      <p:sp>
        <p:nvSpPr>
          <p:cNvPr id="43" name="TextBox 42"/>
          <p:cNvSpPr txBox="1"/>
          <p:nvPr/>
        </p:nvSpPr>
        <p:spPr>
          <a:xfrm>
            <a:off x="5276088" y="7534655"/>
            <a:ext cx="2994660" cy="274320"/>
          </a:xfrm>
          <a:prstGeom prst="rect">
            <a:avLst/>
          </a:prstGeom>
          <a:noFill/>
        </p:spPr>
        <p:txBody>
          <a:bodyPr wrap="square" anchor="t" lIns="0" rIns="0" tIns="0" bIns="0">
            <a:spAutoFit/>
          </a:bodyPr>
          <a:lstStyle/>
          <a:p>
            <a:pPr algn="l">
              <a:lnSpc>
                <a:spcPct val="112000"/>
              </a:lnSpc>
            </a:pPr>
            <a:r>
              <a:rPr sz="1250" b="1" i="0">
                <a:solidFill>
                  <a:srgbClr val="0B2A6B"/>
                </a:solidFill>
                <a:latin typeface="Pretendard"/>
                <a:ea typeface="Pretendard"/>
                <a:cs typeface="Pretendard"/>
              </a:rPr>
              <a:t>합격 여부 판정(일부러 AI를 안 씁니다)</a:t>
            </a:r>
          </a:p>
        </p:txBody>
      </p:sp>
      <p:sp>
        <p:nvSpPr>
          <p:cNvPr id="44" name="TextBox 43"/>
          <p:cNvSpPr txBox="1"/>
          <p:nvPr/>
        </p:nvSpPr>
        <p:spPr>
          <a:xfrm>
            <a:off x="5276088" y="7818119"/>
            <a:ext cx="2994660" cy="786384"/>
          </a:xfrm>
          <a:prstGeom prst="rect">
            <a:avLst/>
          </a:prstGeom>
          <a:noFill/>
        </p:spPr>
        <p:txBody>
          <a:bodyPr wrap="square" anchor="t" lIns="0" rIns="0" tIns="0" bIns="0">
            <a:spAutoFit/>
          </a:bodyPr>
          <a:lstStyle/>
          <a:p>
            <a:pPr algn="l">
              <a:lnSpc>
                <a:spcPct val="110000"/>
              </a:lnSpc>
            </a:pPr>
            <a:r>
              <a:rPr sz="1050" b="0" i="0">
                <a:solidFill>
                  <a:srgbClr val="1F2A44"/>
                </a:solidFill>
                <a:latin typeface="Pretendard"/>
                <a:ea typeface="Pretendard"/>
                <a:cs typeface="Pretendard"/>
              </a:rPr>
              <a:t>규칙이 판정합니다. ISO 10675-1의 RT 합격 기준과 ISO 5817의 용접 품질 등급 틀을 본뜬 기준표 두 벌을 화면에서 고릅니다. 등급 B·C·D가 허용 레벨 1·2·3과 짝을 이루고, 100mm 구간과 기공 면적률을 함께 봅니다. 실제 수치는 선급 지침을 확인한 뒤 바꿔 끼웁니다.</a:t>
            </a:r>
          </a:p>
        </p:txBody>
      </p:sp>
      <p:sp>
        <p:nvSpPr>
          <p:cNvPr id="45" name="Rounded Rectangle 44"/>
          <p:cNvSpPr/>
          <p:nvPr/>
        </p:nvSpPr>
        <p:spPr>
          <a:xfrm>
            <a:off x="8627364" y="7434071"/>
            <a:ext cx="3305556" cy="1243584"/>
          </a:xfrm>
          <a:prstGeom prst="roundRect">
            <a:avLst>
              <a:gd name="adj" fmla="val 6000"/>
            </a:avLst>
          </a:prstGeom>
          <a:solidFill>
            <a:srgbClr val="F2F5FA"/>
          </a:solidFill>
          <a:ln>
            <a:noFill/>
          </a:ln>
        </p:spPr>
        <p:txBody>
          <a:bodyPr rtlCol="0" anchor="ctr"/>
          <a:lstStyle/>
          <a:p/>
        </p:txBody>
      </p:sp>
      <p:sp>
        <p:nvSpPr>
          <p:cNvPr id="46" name="TextBox 45"/>
          <p:cNvSpPr txBox="1"/>
          <p:nvPr/>
        </p:nvSpPr>
        <p:spPr>
          <a:xfrm>
            <a:off x="8782812" y="7534655"/>
            <a:ext cx="2994660" cy="274320"/>
          </a:xfrm>
          <a:prstGeom prst="rect">
            <a:avLst/>
          </a:prstGeom>
          <a:noFill/>
        </p:spPr>
        <p:txBody>
          <a:bodyPr wrap="square" anchor="t" lIns="0" rIns="0" tIns="0" bIns="0">
            <a:spAutoFit/>
          </a:bodyPr>
          <a:lstStyle/>
          <a:p>
            <a:pPr algn="l">
              <a:lnSpc>
                <a:spcPct val="112000"/>
              </a:lnSpc>
            </a:pPr>
            <a:r>
              <a:rPr sz="1250" b="1" i="0">
                <a:solidFill>
                  <a:srgbClr val="0B2A6B"/>
                </a:solidFill>
                <a:latin typeface="Pretendard"/>
                <a:ea typeface="Pretendard"/>
                <a:cs typeface="Pretendard"/>
              </a:rPr>
              <a:t>개발 도구</a:t>
            </a:r>
          </a:p>
        </p:txBody>
      </p:sp>
      <p:sp>
        <p:nvSpPr>
          <p:cNvPr id="47" name="TextBox 46"/>
          <p:cNvSpPr txBox="1"/>
          <p:nvPr/>
        </p:nvSpPr>
        <p:spPr>
          <a:xfrm>
            <a:off x="8782812" y="7818119"/>
            <a:ext cx="2994660" cy="786384"/>
          </a:xfrm>
          <a:prstGeom prst="rect">
            <a:avLst/>
          </a:prstGeom>
          <a:noFill/>
        </p:spPr>
        <p:txBody>
          <a:bodyPr wrap="square" anchor="t" lIns="0" rIns="0" tIns="0" bIns="0">
            <a:spAutoFit/>
          </a:bodyPr>
          <a:lstStyle/>
          <a:p>
            <a:pPr algn="l">
              <a:lnSpc>
                <a:spcPct val="110000"/>
              </a:lnSpc>
            </a:pPr>
            <a:r>
              <a:rPr sz="1050" b="1" i="0">
                <a:solidFill>
                  <a:srgbClr val="1F2A44"/>
                </a:solidFill>
                <a:latin typeface="Pretendard"/>
                <a:ea typeface="Pretendard"/>
                <a:cs typeface="Pretendard"/>
              </a:rPr>
              <a:t>Claude Code</a:t>
            </a:r>
            <a:r>
              <a:rPr sz="1050" b="0" i="0">
                <a:solidFill>
                  <a:srgbClr val="1F2A44"/>
                </a:solidFill>
                <a:latin typeface="Pretendard"/>
                <a:ea typeface="Pretendard"/>
                <a:cs typeface="Pretendard"/>
              </a:rPr>
              <a:t>로 설계와 구현, 코드 점검을 했습니다(자동 테스트 281건). 본선에서는 해커톤이 지원하는 Claude Max 플랜으로 더 다듬겠습니다.</a:t>
            </a:r>
          </a:p>
        </p:txBody>
      </p:sp>
      <p:sp>
        <p:nvSpPr>
          <p:cNvPr id="48" name="Rounded Rectangle 47"/>
          <p:cNvSpPr/>
          <p:nvPr/>
        </p:nvSpPr>
        <p:spPr>
          <a:xfrm>
            <a:off x="5120640" y="8787384"/>
            <a:ext cx="6812280" cy="402336"/>
          </a:xfrm>
          <a:prstGeom prst="roundRect">
            <a:avLst>
              <a:gd name="adj" fmla="val 6000"/>
            </a:avLst>
          </a:prstGeom>
          <a:solidFill>
            <a:srgbClr val="F2F5FA"/>
          </a:solidFill>
          <a:ln>
            <a:noFill/>
          </a:ln>
        </p:spPr>
        <p:txBody>
          <a:bodyPr rtlCol="0" anchor="ctr"/>
          <a:lstStyle/>
          <a:p/>
        </p:txBody>
      </p:sp>
      <p:sp>
        <p:nvSpPr>
          <p:cNvPr id="49" name="TextBox 48"/>
          <p:cNvSpPr txBox="1"/>
          <p:nvPr/>
        </p:nvSpPr>
        <p:spPr>
          <a:xfrm>
            <a:off x="5276088" y="8878824"/>
            <a:ext cx="6501384" cy="265176"/>
          </a:xfrm>
          <a:prstGeom prst="rect">
            <a:avLst/>
          </a:prstGeom>
          <a:noFill/>
        </p:spPr>
        <p:txBody>
          <a:bodyPr wrap="square" anchor="ctr" lIns="0" rIns="0" tIns="0" bIns="0">
            <a:spAutoFit/>
          </a:bodyPr>
          <a:lstStyle/>
          <a:p>
            <a:pPr algn="l">
              <a:lnSpc>
                <a:spcPct val="112000"/>
              </a:lnSpc>
            </a:pPr>
            <a:r>
              <a:rPr sz="1000" b="1" i="0">
                <a:solidFill>
                  <a:srgbClr val="1F2A44"/>
                </a:solidFill>
                <a:latin typeface="Pretendard"/>
                <a:ea typeface="Pretendard"/>
                <a:cs typeface="Pretendard"/>
              </a:rPr>
              <a:t>기술 스택</a:t>
            </a:r>
            <a:r>
              <a:rPr sz="1000" b="0" i="0">
                <a:solidFill>
                  <a:srgbClr val="1F2A44"/>
                </a:solidFill>
                <a:latin typeface="Pretendard"/>
                <a:ea typeface="Pretendard"/>
                <a:cs typeface="Pretendard"/>
              </a:rPr>
              <a:t>  Python 3.11 · Streamlit 1.63[10] · OpenCV · SQLite · reportlab · 합성 필름 생성기 · Docker · 더블클릭 실행</a:t>
            </a:r>
          </a:p>
        </p:txBody>
      </p:sp>
      <p:sp>
        <p:nvSpPr>
          <p:cNvPr id="50" name="Rounded Rectangle 49"/>
          <p:cNvSpPr/>
          <p:nvPr/>
        </p:nvSpPr>
        <p:spPr>
          <a:xfrm>
            <a:off x="12527280" y="4892040"/>
            <a:ext cx="5148071" cy="4361688"/>
          </a:xfrm>
          <a:prstGeom prst="roundRect">
            <a:avLst>
              <a:gd name="adj" fmla="val 3500"/>
            </a:avLst>
          </a:prstGeom>
          <a:solidFill>
            <a:srgbClr val="FFFFFF"/>
          </a:solidFill>
          <a:ln w="9525">
            <a:solidFill>
              <a:srgbClr val="D9E0EC"/>
            </a:solidFill>
          </a:ln>
        </p:spPr>
        <p:txBody>
          <a:bodyPr rtlCol="0" anchor="ctr"/>
          <a:lstStyle/>
          <a:p/>
        </p:txBody>
      </p:sp>
      <p:sp>
        <p:nvSpPr>
          <p:cNvPr id="51" name="Oval 50"/>
          <p:cNvSpPr/>
          <p:nvPr/>
        </p:nvSpPr>
        <p:spPr>
          <a:xfrm>
            <a:off x="12847320" y="5248656"/>
            <a:ext cx="146304" cy="146304"/>
          </a:xfrm>
          <a:prstGeom prst="ellipse">
            <a:avLst/>
          </a:prstGeom>
          <a:solidFill>
            <a:srgbClr val="4FD0F5"/>
          </a:solidFill>
          <a:ln>
            <a:noFill/>
          </a:ln>
        </p:spPr>
        <p:txBody>
          <a:bodyPr rtlCol="0" anchor="ctr"/>
          <a:lstStyle/>
          <a:p>
            <a:pPr algn="ctr"/>
          </a:p>
        </p:txBody>
      </p:sp>
      <p:sp>
        <p:nvSpPr>
          <p:cNvPr id="52" name="TextBox 51"/>
          <p:cNvSpPr txBox="1"/>
          <p:nvPr/>
        </p:nvSpPr>
        <p:spPr>
          <a:xfrm>
            <a:off x="13094208" y="5148072"/>
            <a:ext cx="4261103" cy="384048"/>
          </a:xfrm>
          <a:prstGeom prst="rect">
            <a:avLst/>
          </a:prstGeom>
          <a:noFill/>
        </p:spPr>
        <p:txBody>
          <a:bodyPr wrap="square" anchor="t" lIns="0" rIns="0" tIns="0" bIns="0">
            <a:spAutoFit/>
          </a:bodyPr>
          <a:lstStyle/>
          <a:p>
            <a:pPr algn="l">
              <a:lnSpc>
                <a:spcPct val="112000"/>
              </a:lnSpc>
            </a:pPr>
            <a:r>
              <a:rPr sz="2000" b="1" i="0">
                <a:solidFill>
                  <a:srgbClr val="0B2A6B"/>
                </a:solidFill>
                <a:latin typeface="Pretendard"/>
                <a:ea typeface="Pretendard"/>
                <a:cs typeface="Pretendard"/>
              </a:rPr>
              <a:t>차별점</a:t>
            </a:r>
          </a:p>
        </p:txBody>
      </p:sp>
      <p:sp>
        <p:nvSpPr>
          <p:cNvPr id="53" name="TextBox 52"/>
          <p:cNvSpPr txBox="1"/>
          <p:nvPr/>
        </p:nvSpPr>
        <p:spPr>
          <a:xfrm>
            <a:off x="12847320" y="5641848"/>
            <a:ext cx="4507991" cy="3447287"/>
          </a:xfrm>
          <a:prstGeom prst="rect">
            <a:avLst/>
          </a:prstGeom>
          <a:noFill/>
        </p:spPr>
        <p:txBody>
          <a:bodyPr wrap="square" anchor="t" lIns="0" rIns="0" tIns="0" bIns="0">
            <a:spAutoFit/>
          </a:bodyPr>
          <a:lstStyle/>
          <a:p>
            <a:pPr marL="160654" indent="-160654">
              <a:lnSpc>
                <a:spcPct val="114000"/>
              </a:lnSpc>
              <a:spcAft>
                <a:spcPts val="300"/>
              </a:spcAft>
              <a:buClr>
                <a:srgbClr val="4FD0F5"/>
              </a:buClr>
              <a:buFont typeface="Arial"/>
              <a:buChar char="•"/>
            </a:pPr>
            <a:r>
              <a:rPr sz="1100" b="1" i="0">
                <a:solidFill>
                  <a:srgbClr val="1F2A44"/>
                </a:solidFill>
                <a:latin typeface="Pretendard"/>
                <a:ea typeface="Pretendard"/>
                <a:cs typeface="Pretendard"/>
              </a:rPr>
              <a:t>결함을 찾는 것만으로는 새롭지 않습니다.</a:t>
            </a:r>
            <a:r>
              <a:rPr sz="1100" b="0" i="0">
                <a:solidFill>
                  <a:srgbClr val="1F2A44"/>
                </a:solidFill>
                <a:latin typeface="Pretendard"/>
                <a:ea typeface="Pretendard"/>
                <a:cs typeface="Pretendard"/>
              </a:rPr>
              <a:t> 두산에너빌리티의 자사 적용, 코드비전의 RT AI 판독 플랫폼(2024.10 전시)[6], 핀란드 Trueflaw의 조선소 협업(2022.02)[7], DNV와 광저우조선의 공동개발(2019.12)[8]이 이미 있습니다. 새로운 점은 판독원의 하루 전체를 </a:t>
            </a:r>
            <a:r>
              <a:rPr sz="1100" b="1" i="0">
                <a:solidFill>
                  <a:srgbClr val="1F2A44"/>
                </a:solidFill>
                <a:latin typeface="Pretendard"/>
                <a:ea typeface="Pretendard"/>
                <a:cs typeface="Pretendard"/>
              </a:rPr>
              <a:t>하나로 잇는 것</a:t>
            </a:r>
            <a:r>
              <a:rPr sz="1100" b="0" i="0">
                <a:solidFill>
                  <a:srgbClr val="1F2A44"/>
                </a:solidFill>
                <a:latin typeface="Pretendard"/>
                <a:ea typeface="Pretendard"/>
                <a:cs typeface="Pretendard"/>
              </a:rPr>
              <a:t>입니다.</a:t>
            </a:r>
          </a:p>
          <a:p>
            <a:pPr marL="160654" indent="-160654">
              <a:lnSpc>
                <a:spcPct val="114000"/>
              </a:lnSpc>
              <a:spcAft>
                <a:spcPts val="300"/>
              </a:spcAft>
              <a:buClr>
                <a:srgbClr val="4FD0F5"/>
              </a:buClr>
              <a:buFont typeface="Arial"/>
              <a:buChar char="•"/>
            </a:pPr>
            <a:r>
              <a:rPr sz="1100" b="1" i="0">
                <a:solidFill>
                  <a:srgbClr val="1F2A44"/>
                </a:solidFill>
                <a:latin typeface="Pretendard"/>
                <a:ea typeface="Pretendard"/>
                <a:cs typeface="Pretendard"/>
              </a:rPr>
              <a:t>한화오션(당시 대우조선해양) 디지털 RT와의 차이</a:t>
            </a:r>
            <a:r>
              <a:rPr sz="1100" b="0" i="0">
                <a:solidFill>
                  <a:srgbClr val="1F2A44"/>
                </a:solidFill>
                <a:latin typeface="Pretendard"/>
                <a:ea typeface="Pretendard"/>
                <a:cs typeface="Pretendard"/>
              </a:rPr>
              <a:t>도 분명합니다. 그때 것은 검사 로봇(2020.11)과 필름리스 RT(2021.07), 같은 시기 국책과제를 묶은 특정 조선소 안의 체계였고, 선급 비대면 승인은 다섯 곳과 ‘함께 만들기로 한’ 협약 단계였습니다[2]. 이 제안은 검사업체와 조선소가 같이 쓰는 설치형이고, 판정을 규칙과 자격자에게 맡기면서 조항 번호와 100mm 구간을 기록에 남깁니다.</a:t>
            </a:r>
          </a:p>
          <a:p>
            <a:pPr marL="160654" indent="-160654">
              <a:lnSpc>
                <a:spcPct val="114000"/>
              </a:lnSpc>
              <a:spcAft>
                <a:spcPts val="300"/>
              </a:spcAft>
              <a:buClr>
                <a:srgbClr val="4FD0F5"/>
              </a:buClr>
              <a:buFont typeface="Arial"/>
              <a:buChar char="•"/>
            </a:pPr>
            <a:r>
              <a:rPr sz="1100" b="1" i="0">
                <a:solidFill>
                  <a:srgbClr val="1F2A44"/>
                </a:solidFill>
                <a:latin typeface="Pretendard"/>
                <a:ea typeface="Pretendard"/>
                <a:cs typeface="Pretendard"/>
              </a:rPr>
              <a:t>AI는 판정하지 않습니다.</a:t>
            </a:r>
            <a:r>
              <a:rPr sz="1100" b="0" i="0">
                <a:solidFill>
                  <a:srgbClr val="1F2A44"/>
                </a:solidFill>
                <a:latin typeface="Pretendard"/>
                <a:ea typeface="Pretendard"/>
                <a:cs typeface="Pretendard"/>
              </a:rPr>
              <a:t> DNV도 2019.12에 탐지는 AI, 최종 승인은 사람으로 역할을 나눴고[8], AI 판독을 선급이 규칙으로 승인한 공개 사례는 2026.09 기준 확인되지 않습니다. 그래서 규칙이 바뀌길 기다리지 않고 </a:t>
            </a:r>
            <a:r>
              <a:rPr sz="1100" b="1" i="0">
                <a:solidFill>
                  <a:srgbClr val="1F2A44"/>
                </a:solidFill>
                <a:latin typeface="Pretendard"/>
                <a:ea typeface="Pretendard"/>
                <a:cs typeface="Pretendard"/>
              </a:rPr>
              <a:t>지금 규칙 안에서 보조 도구로 바로 쓸 수 있습니다</a:t>
            </a:r>
            <a:r>
              <a:rPr sz="1100" b="0" i="0">
                <a:solidFill>
                  <a:srgbClr val="1F2A44"/>
                </a:solidFill>
                <a:latin typeface="Pretendard"/>
                <a:ea typeface="Pretendard"/>
                <a:cs typeface="Pretendard"/>
              </a:rPr>
              <a:t>(UR W33 §3.3·§6.1.2·§8.5)[9].</a:t>
            </a:r>
          </a:p>
          <a:p>
            <a:pPr marL="160654" indent="-160654">
              <a:lnSpc>
                <a:spcPct val="114000"/>
              </a:lnSpc>
              <a:spcAft>
                <a:spcPts val="300"/>
              </a:spcAft>
              <a:buClr>
                <a:srgbClr val="4FD0F5"/>
              </a:buClr>
              <a:buFont typeface="Arial"/>
              <a:buChar char="•"/>
            </a:pPr>
            <a:r>
              <a:rPr sz="1100" b="0" i="0">
                <a:solidFill>
                  <a:srgbClr val="1F2A44"/>
                </a:solidFill>
                <a:latin typeface="Pretendard"/>
                <a:ea typeface="Pretendard"/>
                <a:cs typeface="Pretendard"/>
              </a:rPr>
              <a:t>픽셀을 mm로 바꾸는 일은 </a:t>
            </a:r>
            <a:r>
              <a:rPr sz="1100" b="1" i="0">
                <a:solidFill>
                  <a:srgbClr val="1F2A44"/>
                </a:solidFill>
                <a:latin typeface="Pretendard"/>
                <a:ea typeface="Pretendard"/>
                <a:cs typeface="Pretendard"/>
              </a:rPr>
              <a:t>판독원의 클릭 두 번</a:t>
            </a:r>
            <a:r>
              <a:rPr sz="1100" b="0" i="0">
                <a:solidFill>
                  <a:srgbClr val="1F2A44"/>
                </a:solidFill>
                <a:latin typeface="Pretendard"/>
                <a:ea typeface="Pretendard"/>
                <a:cs typeface="Pretendard"/>
              </a:rPr>
              <a:t>으로 정합니다. AI가 어림잡지 않습니다. 보안 기본값도 로컬이고, 클라우드는 사용자가 켜야만 켜집니다.</a:t>
            </a:r>
          </a:p>
        </p:txBody>
      </p:sp>
      <p:sp>
        <p:nvSpPr>
          <p:cNvPr id="54" name="TextBox 53"/>
          <p:cNvSpPr txBox="1"/>
          <p:nvPr/>
        </p:nvSpPr>
        <p:spPr>
          <a:xfrm>
            <a:off x="4800600" y="9299448"/>
            <a:ext cx="12874752" cy="502920"/>
          </a:xfrm>
          <a:prstGeom prst="rect">
            <a:avLst/>
          </a:prstGeom>
          <a:noFill/>
        </p:spPr>
        <p:txBody>
          <a:bodyPr wrap="square" anchor="t" lIns="0" rIns="0" tIns="0" bIns="0">
            <a:spAutoFit/>
          </a:bodyPr>
          <a:lstStyle/>
          <a:p>
            <a:pPr algn="l">
              <a:lnSpc>
                <a:spcPct val="108000"/>
              </a:lnSpc>
            </a:pPr>
            <a:r>
              <a:rPr sz="850" b="0" i="0">
                <a:solidFill>
                  <a:srgbClr val="5B6B8C"/>
                </a:solidFill>
                <a:latin typeface="Pretendard"/>
                <a:ea typeface="Pretendard"/>
                <a:cs typeface="Pretendard"/>
              </a:rPr>
              <a:t>참고  [1] Ultralytics 8.4.0 릴리스·PyPI(2026.01.14, AGPL-3.0)  ·  [2] 데일리안·CCTV뉴스 2021.07.02† · 황훈규 외 2021.02† · KISTI TRKO202200005836†  ·  [3] Anthropic 모델 문서 · Ollama/vLLM API 문서  ·  [4] LG AI연구원 EXAONE README·LICENSE(2026.04.09)  ·  [5] NAVER HyperCLOVA X SEED Think 보도자료(2025.12.26)†  ·  [6] 헬로티 2024.10 코드비전†  ·  [7] Trueflaw LinkedIn 2022.02(Meyer Turku 조선소·DEKRA 협업)†  ·  [8] DNV GL×GSI 보도자료(2019.12)†  ·  [9] IACS UR W33 Rev.1/Corr.1(2021) §3.3·§6.1.2·§8.5  ·  [10] Streamlit PyPI 1.63.0(2026.09.01)  ·  탐지 수치는 합성 필름 6장을 직접 측정한 값입니다  ·  †는 검색 요약으로 확인한 자료입니다.</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2F5FA"/>
        </a:solidFill>
        <a:effectLst/>
      </p:bgPr>
    </p:bg>
    <p:spTree>
      <p:nvGrpSpPr>
        <p:cNvPr id="1" name=""/>
        <p:cNvGrpSpPr/>
        <p:nvPr/>
      </p:nvGrpSpPr>
      <p:grpSpPr>
        <a:xfrm>
          <a:off x="0" y="0"/>
          <a:ext cx="0" cy="0"/>
          <a:chOff x="0" y="0"/>
          <a:chExt cx="0" cy="0"/>
        </a:xfrm>
      </p:grpSpPr>
      <p:sp>
        <p:nvSpPr>
          <p:cNvPr id="2" name="Shape 0"/>
          <p:cNvSpPr/>
          <p:nvPr/>
        </p:nvSpPr>
        <p:spPr>
          <a:xfrm>
            <a:off x="0" y="0"/>
            <a:ext cx="4191000" cy="10287000"/>
          </a:xfrm>
          <a:prstGeom prst="rect">
            <a:avLst/>
          </a:prstGeom>
          <a:solidFill>
            <a:srgbClr val="0B2A6B"/>
          </a:solidFill>
          <a:ln/>
        </p:spPr>
        <p:txBody>
          <a:bodyPr/>
          <a:lstStyle/>
          <a:p>
            <a:endParaRPr lang="ko-KR" altLang="en-US"/>
          </a:p>
        </p:txBody>
      </p:sp>
      <p:sp>
        <p:nvSpPr>
          <p:cNvPr id="3" name="Text 1"/>
          <p:cNvSpPr/>
          <p:nvPr/>
        </p:nvSpPr>
        <p:spPr>
          <a:xfrm>
            <a:off x="571500" y="685800"/>
            <a:ext cx="911126" cy="603796"/>
          </a:xfrm>
          <a:prstGeom prst="rect">
            <a:avLst/>
          </a:prstGeom>
          <a:noFill/>
          <a:ln/>
        </p:spPr>
        <p:txBody>
          <a:bodyPr wrap="square" lIns="25400" tIns="25400" rIns="25400" bIns="25400" rtlCol="0" anchor="t">
            <a:normAutofit/>
          </a:bodyPr>
          <a:lstStyle/>
          <a:p>
            <a:pPr marL="0" indent="0" algn="l">
              <a:lnSpc>
                <a:spcPct val="77143"/>
              </a:lnSpc>
              <a:buNone/>
            </a:pPr>
            <a:r>
              <a:rPr lang="en-US" sz="4950" b="1" dirty="0">
                <a:solidFill>
                  <a:srgbClr val="4FD0F5"/>
                </a:solidFill>
                <a:latin typeface="Pretendard" pitchFamily="34" charset="0"/>
                <a:ea typeface="Pretendard" pitchFamily="34" charset="-122"/>
                <a:cs typeface="Pretendard" pitchFamily="34" charset="-120"/>
              </a:rPr>
              <a:t>03</a:t>
            </a:r>
            <a:endParaRPr lang="en-US" sz="4950" dirty="0"/>
          </a:p>
        </p:txBody>
      </p:sp>
      <p:sp>
        <p:nvSpPr>
          <p:cNvPr id="4" name="Shape 2"/>
          <p:cNvSpPr/>
          <p:nvPr/>
        </p:nvSpPr>
        <p:spPr>
          <a:xfrm>
            <a:off x="1635026" y="1028700"/>
            <a:ext cx="533400" cy="28575"/>
          </a:xfrm>
          <a:prstGeom prst="rect">
            <a:avLst/>
          </a:prstGeom>
          <a:solidFill>
            <a:srgbClr val="7FDCFF">
              <a:alpha val="50000"/>
            </a:srgbClr>
          </a:solidFill>
          <a:ln/>
        </p:spPr>
        <p:txBody>
          <a:bodyPr/>
          <a:lstStyle/>
          <a:p>
            <a:endParaRPr lang="ko-KR" altLang="en-US"/>
          </a:p>
        </p:txBody>
      </p:sp>
      <p:sp>
        <p:nvSpPr>
          <p:cNvPr id="5" name="Text 3"/>
          <p:cNvSpPr/>
          <p:nvPr/>
        </p:nvSpPr>
        <p:spPr>
          <a:xfrm>
            <a:off x="571500" y="1556296"/>
            <a:ext cx="3520440" cy="563761"/>
          </a:xfrm>
          <a:prstGeom prst="rect">
            <a:avLst/>
          </a:prstGeom>
          <a:noFill/>
          <a:ln/>
        </p:spPr>
        <p:txBody>
          <a:bodyPr wrap="square" lIns="25400" tIns="25400" rIns="25400" bIns="25400" rtlCol="0" anchor="t">
            <a:normAutofit/>
          </a:bodyPr>
          <a:lstStyle/>
          <a:p>
            <a:pPr marL="0" indent="0" algn="l">
              <a:lnSpc>
                <a:spcPct val="102222"/>
              </a:lnSpc>
              <a:buNone/>
            </a:pPr>
            <a:r>
              <a:rPr lang="en-US" sz="3450" b="1" kern="0" spc="-69" dirty="0">
                <a:solidFill>
                  <a:srgbClr val="FFFFFF"/>
                </a:solidFill>
                <a:latin typeface="Pretendard" pitchFamily="34" charset="0"/>
                <a:ea typeface="Pretendard" pitchFamily="34" charset="-122"/>
                <a:cs typeface="Pretendard" pitchFamily="34" charset="-120"/>
              </a:rPr>
              <a:t>구현 계획</a:t>
            </a:r>
            <a:endParaRPr lang="en-US" sz="3450" dirty="0"/>
          </a:p>
        </p:txBody>
      </p:sp>
      <p:sp>
        <p:nvSpPr>
          <p:cNvPr id="6" name="Shape 4"/>
          <p:cNvSpPr/>
          <p:nvPr/>
        </p:nvSpPr>
        <p:spPr>
          <a:xfrm>
            <a:off x="571500" y="2386757"/>
            <a:ext cx="3200400" cy="19050"/>
          </a:xfrm>
          <a:prstGeom prst="rect">
            <a:avLst/>
          </a:prstGeom>
          <a:solidFill>
            <a:srgbClr val="7FDCFF">
              <a:alpha val="35000"/>
            </a:srgbClr>
          </a:solidFill>
          <a:ln/>
        </p:spPr>
        <p:txBody>
          <a:bodyPr/>
          <a:lstStyle/>
          <a:p>
            <a:endParaRPr lang="ko-KR" altLang="en-US"/>
          </a:p>
        </p:txBody>
      </p:sp>
      <p:sp>
        <p:nvSpPr>
          <p:cNvPr id="7" name="Text 5"/>
          <p:cNvSpPr/>
          <p:nvPr/>
        </p:nvSpPr>
        <p:spPr>
          <a:xfrm>
            <a:off x="571500" y="2653457"/>
            <a:ext cx="3520440" cy="333375"/>
          </a:xfrm>
          <a:prstGeom prst="rect">
            <a:avLst/>
          </a:prstGeom>
          <a:noFill/>
          <a:ln/>
        </p:spPr>
        <p:txBody>
          <a:bodyPr wrap="square" lIns="25400" tIns="25400" rIns="25400" bIns="25400" rtlCol="0" anchor="t">
            <a:normAutofit/>
          </a:bodyPr>
          <a:lstStyle/>
          <a:p>
            <a:pPr marL="0" indent="0" algn="l">
              <a:buNone/>
            </a:pPr>
            <a:r>
              <a:rPr lang="en-US" sz="2025" b="1" dirty="0">
                <a:solidFill>
                  <a:srgbClr val="7FDCFF"/>
                </a:solidFill>
                <a:latin typeface="Pretendard" pitchFamily="34" charset="0"/>
                <a:ea typeface="Pretendard" pitchFamily="34" charset="-122"/>
                <a:cs typeface="Pretendard" pitchFamily="34" charset="-120"/>
              </a:rPr>
              <a:t>주요 기능(MVP)</a:t>
            </a:r>
            <a:endParaRPr lang="en-US" sz="2025" dirty="0"/>
          </a:p>
        </p:txBody>
      </p:sp>
      <p:sp>
        <p:nvSpPr>
          <p:cNvPr id="8" name="Text 6"/>
          <p:cNvSpPr/>
          <p:nvPr/>
        </p:nvSpPr>
        <p:spPr>
          <a:xfrm>
            <a:off x="571500" y="3024932"/>
            <a:ext cx="3296412" cy="723900"/>
          </a:xfrm>
          <a:prstGeom prst="rect">
            <a:avLst/>
          </a:prstGeom>
          <a:noFill/>
          <a:ln/>
        </p:spPr>
        <p:txBody>
          <a:bodyPr wrap="square" lIns="25400" tIns="25400" rIns="25400" bIns="25400" rtlCol="0" anchor="t">
            <a:normAutofit/>
          </a:bodyPr>
          <a:lstStyle/>
          <a:p>
            <a:pPr marL="0" indent="0" algn="l">
              <a:lnSpc>
                <a:spcPct val="124138"/>
              </a:lnSpc>
              <a:buNone/>
            </a:pPr>
            <a:r>
              <a:rPr lang="en-US" sz="1800" dirty="0">
                <a:solidFill>
                  <a:srgbClr val="FFFFFF">
                    <a:alpha val="72000"/>
                  </a:srgbClr>
                </a:solidFill>
                <a:latin typeface="Pretendard" pitchFamily="34" charset="0"/>
                <a:ea typeface="Pretendard" pitchFamily="34" charset="-122"/>
                <a:cs typeface="Pretendard" pitchFamily="34" charset="-120"/>
              </a:rPr>
              <a:t>본선까지 반드시 동작하도록 구현할 핵심 기능 중심으로 기재</a:t>
            </a:r>
            <a:endParaRPr lang="en-US" sz="1800" dirty="0"/>
          </a:p>
        </p:txBody>
      </p:sp>
      <p:sp>
        <p:nvSpPr>
          <p:cNvPr id="9" name="Text 7"/>
          <p:cNvSpPr/>
          <p:nvPr/>
        </p:nvSpPr>
        <p:spPr>
          <a:xfrm>
            <a:off x="571500" y="3920282"/>
            <a:ext cx="3520440" cy="333375"/>
          </a:xfrm>
          <a:prstGeom prst="rect">
            <a:avLst/>
          </a:prstGeom>
          <a:noFill/>
          <a:ln/>
        </p:spPr>
        <p:txBody>
          <a:bodyPr wrap="square" lIns="25400" tIns="25400" rIns="25400" bIns="25400" rtlCol="0" anchor="t">
            <a:normAutofit/>
          </a:bodyPr>
          <a:lstStyle/>
          <a:p>
            <a:pPr marL="0" indent="0" algn="l">
              <a:buNone/>
            </a:pPr>
            <a:r>
              <a:rPr lang="en-US" sz="2025" b="1" dirty="0">
                <a:solidFill>
                  <a:srgbClr val="7FDCFF"/>
                </a:solidFill>
                <a:latin typeface="Pretendard" pitchFamily="34" charset="0"/>
                <a:ea typeface="Pretendard" pitchFamily="34" charset="-122"/>
                <a:cs typeface="Pretendard" pitchFamily="34" charset="-120"/>
              </a:rPr>
              <a:t>개발 범위</a:t>
            </a:r>
            <a:endParaRPr lang="en-US" sz="2025" dirty="0"/>
          </a:p>
        </p:txBody>
      </p:sp>
      <p:sp>
        <p:nvSpPr>
          <p:cNvPr id="10" name="Text 8"/>
          <p:cNvSpPr/>
          <p:nvPr/>
        </p:nvSpPr>
        <p:spPr>
          <a:xfrm>
            <a:off x="571500" y="4291757"/>
            <a:ext cx="3296412" cy="723900"/>
          </a:xfrm>
          <a:prstGeom prst="rect">
            <a:avLst/>
          </a:prstGeom>
          <a:noFill/>
          <a:ln/>
        </p:spPr>
        <p:txBody>
          <a:bodyPr wrap="square" lIns="25400" tIns="25400" rIns="25400" bIns="25400" rtlCol="0" anchor="t">
            <a:normAutofit/>
          </a:bodyPr>
          <a:lstStyle/>
          <a:p>
            <a:pPr marL="0" indent="0" algn="l">
              <a:lnSpc>
                <a:spcPct val="124138"/>
              </a:lnSpc>
              <a:buNone/>
            </a:pPr>
            <a:r>
              <a:rPr lang="en-US" sz="1800" dirty="0">
                <a:solidFill>
                  <a:srgbClr val="FFFFFF">
                    <a:alpha val="72000"/>
                  </a:srgbClr>
                </a:solidFill>
                <a:latin typeface="Pretendard" pitchFamily="34" charset="0"/>
                <a:ea typeface="Pretendard" pitchFamily="34" charset="-122"/>
                <a:cs typeface="Pretendard" pitchFamily="34" charset="-120"/>
              </a:rPr>
              <a:t>본선까지 구현할 범위와 제외할 범위를 구분하여 기재</a:t>
            </a:r>
            <a:endParaRPr lang="en-US" sz="1800" dirty="0"/>
          </a:p>
        </p:txBody>
      </p:sp>
      <p:sp>
        <p:nvSpPr>
          <p:cNvPr id="11" name="Text 9"/>
          <p:cNvSpPr/>
          <p:nvPr/>
        </p:nvSpPr>
        <p:spPr>
          <a:xfrm>
            <a:off x="571500" y="5187107"/>
            <a:ext cx="3520440" cy="333375"/>
          </a:xfrm>
          <a:prstGeom prst="rect">
            <a:avLst/>
          </a:prstGeom>
          <a:noFill/>
          <a:ln/>
        </p:spPr>
        <p:txBody>
          <a:bodyPr wrap="square" lIns="25400" tIns="25400" rIns="25400" bIns="25400" rtlCol="0" anchor="t">
            <a:normAutofit/>
          </a:bodyPr>
          <a:lstStyle/>
          <a:p>
            <a:pPr marL="0" indent="0" algn="l">
              <a:buNone/>
            </a:pPr>
            <a:r>
              <a:rPr lang="en-US" sz="2025" b="1" dirty="0">
                <a:solidFill>
                  <a:srgbClr val="7FDCFF"/>
                </a:solidFill>
                <a:latin typeface="Pretendard" pitchFamily="34" charset="0"/>
                <a:ea typeface="Pretendard" pitchFamily="34" charset="-122"/>
                <a:cs typeface="Pretendard" pitchFamily="34" charset="-120"/>
              </a:rPr>
              <a:t>팀원별 역할 분담</a:t>
            </a:r>
            <a:endParaRPr lang="en-US" sz="2025" dirty="0"/>
          </a:p>
        </p:txBody>
      </p:sp>
      <p:sp>
        <p:nvSpPr>
          <p:cNvPr id="12" name="Text 10"/>
          <p:cNvSpPr/>
          <p:nvPr/>
        </p:nvSpPr>
        <p:spPr>
          <a:xfrm>
            <a:off x="571500" y="5558582"/>
            <a:ext cx="3296412" cy="723900"/>
          </a:xfrm>
          <a:prstGeom prst="rect">
            <a:avLst/>
          </a:prstGeom>
          <a:noFill/>
          <a:ln/>
        </p:spPr>
        <p:txBody>
          <a:bodyPr wrap="square" lIns="25400" tIns="25400" rIns="25400" bIns="25400" rtlCol="0" anchor="t">
            <a:normAutofit/>
          </a:bodyPr>
          <a:lstStyle/>
          <a:p>
            <a:pPr marL="0" indent="0" algn="l">
              <a:lnSpc>
                <a:spcPct val="124138"/>
              </a:lnSpc>
              <a:buNone/>
            </a:pPr>
            <a:r>
              <a:rPr lang="en-US" sz="1800" dirty="0">
                <a:solidFill>
                  <a:srgbClr val="FFFFFF">
                    <a:alpha val="72000"/>
                  </a:srgbClr>
                </a:solidFill>
                <a:latin typeface="Pretendard" pitchFamily="34" charset="0"/>
                <a:ea typeface="Pretendard" pitchFamily="34" charset="-122"/>
                <a:cs typeface="Pretendard" pitchFamily="34" charset="-120"/>
              </a:rPr>
              <a:t>기획 / 개발 / 데이터 / 디자인 등 담당 영역과 보유 기술 스택</a:t>
            </a:r>
            <a:endParaRPr lang="en-US" sz="1800" dirty="0"/>
          </a:p>
        </p:txBody>
      </p:sp>
      <p:sp>
        <p:nvSpPr>
          <p:cNvPr id="13" name="Text 11"/>
          <p:cNvSpPr/>
          <p:nvPr/>
        </p:nvSpPr>
        <p:spPr>
          <a:xfrm>
            <a:off x="571500" y="6453932"/>
            <a:ext cx="3520440" cy="333375"/>
          </a:xfrm>
          <a:prstGeom prst="rect">
            <a:avLst/>
          </a:prstGeom>
          <a:noFill/>
          <a:ln/>
        </p:spPr>
        <p:txBody>
          <a:bodyPr wrap="square" lIns="25400" tIns="25400" rIns="25400" bIns="25400" rtlCol="0" anchor="t">
            <a:normAutofit/>
          </a:bodyPr>
          <a:lstStyle/>
          <a:p>
            <a:pPr marL="0" indent="0" algn="l">
              <a:buNone/>
            </a:pPr>
            <a:r>
              <a:rPr lang="en-US" sz="2025" b="1" dirty="0">
                <a:solidFill>
                  <a:srgbClr val="7FDCFF"/>
                </a:solidFill>
                <a:latin typeface="Pretendard" pitchFamily="34" charset="0"/>
                <a:ea typeface="Pretendard" pitchFamily="34" charset="-122"/>
                <a:cs typeface="Pretendard" pitchFamily="34" charset="-120"/>
              </a:rPr>
              <a:t>시연 시나리오</a:t>
            </a:r>
            <a:endParaRPr lang="en-US" sz="2025" dirty="0"/>
          </a:p>
        </p:txBody>
      </p:sp>
      <p:sp>
        <p:nvSpPr>
          <p:cNvPr id="14" name="Text 12"/>
          <p:cNvSpPr/>
          <p:nvPr/>
        </p:nvSpPr>
        <p:spPr>
          <a:xfrm>
            <a:off x="571500" y="6825407"/>
            <a:ext cx="3296412" cy="723900"/>
          </a:xfrm>
          <a:prstGeom prst="rect">
            <a:avLst/>
          </a:prstGeom>
          <a:noFill/>
          <a:ln/>
        </p:spPr>
        <p:txBody>
          <a:bodyPr wrap="square" lIns="25400" tIns="25400" rIns="25400" bIns="25400" rtlCol="0" anchor="t">
            <a:normAutofit/>
          </a:bodyPr>
          <a:lstStyle/>
          <a:p>
            <a:pPr marL="0" indent="0" algn="l">
              <a:lnSpc>
                <a:spcPct val="124138"/>
              </a:lnSpc>
              <a:buNone/>
            </a:pPr>
            <a:r>
              <a:rPr lang="en-US" sz="1800" dirty="0">
                <a:solidFill>
                  <a:srgbClr val="FFFFFF">
                    <a:alpha val="72000"/>
                  </a:srgbClr>
                </a:solidFill>
                <a:latin typeface="Pretendard" pitchFamily="34" charset="0"/>
                <a:ea typeface="Pretendard" pitchFamily="34" charset="-122"/>
                <a:cs typeface="Pretendard" pitchFamily="34" charset="-120"/>
              </a:rPr>
              <a:t>본선 발표에서 실제로 시연할 동작 흐름</a:t>
            </a:r>
            <a:endParaRPr lang="en-US" sz="1800" dirty="0"/>
          </a:p>
        </p:txBody>
      </p:sp>
      <p:sp>
        <p:nvSpPr>
          <p:cNvPr id="15" name="Shape 13"/>
          <p:cNvSpPr/>
          <p:nvPr/>
        </p:nvSpPr>
        <p:spPr>
          <a:xfrm>
            <a:off x="4800600" y="1057275"/>
            <a:ext cx="12877800" cy="19050"/>
          </a:xfrm>
          <a:prstGeom prst="rect">
            <a:avLst/>
          </a:prstGeom>
          <a:solidFill>
            <a:srgbClr val="0B2A6B"/>
          </a:solidFill>
          <a:ln/>
        </p:spPr>
        <p:txBody>
          <a:bodyPr/>
          <a:lstStyle/>
          <a:p>
            <a:endParaRPr lang="ko-KR" altLang="en-US"/>
          </a:p>
        </p:txBody>
      </p:sp>
      <p:sp>
        <p:nvSpPr>
          <p:cNvPr id="16" name="Text 14"/>
          <p:cNvSpPr/>
          <p:nvPr/>
        </p:nvSpPr>
        <p:spPr>
          <a:xfrm>
            <a:off x="4800600" y="571500"/>
            <a:ext cx="852041" cy="333375"/>
          </a:xfrm>
          <a:prstGeom prst="rect">
            <a:avLst/>
          </a:prstGeom>
          <a:noFill/>
          <a:ln/>
        </p:spPr>
        <p:txBody>
          <a:bodyPr wrap="square" lIns="25400" tIns="25400" rIns="25400" bIns="25400" rtlCol="0" anchor="t">
            <a:normAutofit/>
          </a:bodyPr>
          <a:lstStyle/>
          <a:p>
            <a:pPr marL="0" indent="0" algn="l">
              <a:buNone/>
            </a:pPr>
            <a:r>
              <a:rPr lang="en-US" sz="1950" b="1" kern="0" spc="351" dirty="0">
                <a:solidFill>
                  <a:srgbClr val="0B2A6B"/>
                </a:solidFill>
                <a:latin typeface="Pretendard" pitchFamily="34" charset="0"/>
                <a:ea typeface="Pretendard" pitchFamily="34" charset="-122"/>
                <a:cs typeface="Pretendard" pitchFamily="34" charset="-120"/>
              </a:rPr>
              <a:t>작성란</a:t>
            </a:r>
            <a:endParaRPr lang="en-US" sz="1950" dirty="0"/>
          </a:p>
        </p:txBody>
      </p:sp>
      <p:sp>
        <p:nvSpPr>
          <p:cNvPr id="17" name="Text 15"/>
          <p:cNvSpPr/>
          <p:nvPr/>
        </p:nvSpPr>
        <p:spPr>
          <a:xfrm>
            <a:off x="15119449" y="571500"/>
            <a:ext cx="2814846" cy="333375"/>
          </a:xfrm>
          <a:prstGeom prst="rect">
            <a:avLst/>
          </a:prstGeom>
          <a:noFill/>
          <a:ln/>
        </p:spPr>
        <p:txBody>
          <a:bodyPr wrap="square" lIns="25400" tIns="25400" rIns="25400" bIns="25400" rtlCol="0" anchor="t">
            <a:normAutofit/>
          </a:bodyPr>
          <a:lstStyle/>
          <a:p>
            <a:pPr marL="0" indent="0" algn="l">
              <a:buNone/>
            </a:pPr>
            <a:r>
              <a:rPr lang="en-US" sz="1950" b="1" dirty="0">
                <a:solidFill>
                  <a:srgbClr val="8B9AB5"/>
                </a:solidFill>
                <a:latin typeface="Pretendard" pitchFamily="34" charset="0"/>
                <a:ea typeface="Pretendard" pitchFamily="34" charset="-122"/>
                <a:cs typeface="Pretendard" pitchFamily="34" charset="-120"/>
              </a:rPr>
              <a:t>2026 K-조선 해커톤 · 04</a:t>
            </a:r>
            <a:endParaRPr lang="en-US" sz="1950" dirty="0"/>
          </a:p>
        </p:txBody>
      </p:sp>
      <p:sp>
        <p:nvSpPr>
          <p:cNvPr id="18" name="Rounded Rectangle 17"/>
          <p:cNvSpPr/>
          <p:nvPr/>
        </p:nvSpPr>
        <p:spPr>
          <a:xfrm>
            <a:off x="4800600" y="1371600"/>
            <a:ext cx="7818120" cy="3154680"/>
          </a:xfrm>
          <a:prstGeom prst="roundRect">
            <a:avLst>
              <a:gd name="adj" fmla="val 3500"/>
            </a:avLst>
          </a:prstGeom>
          <a:solidFill>
            <a:srgbClr val="FFFFFF"/>
          </a:solidFill>
          <a:ln w="9525">
            <a:solidFill>
              <a:srgbClr val="D9E0EC"/>
            </a:solidFill>
          </a:ln>
        </p:spPr>
        <p:txBody>
          <a:bodyPr rtlCol="0" anchor="ctr"/>
          <a:lstStyle/>
          <a:p/>
        </p:txBody>
      </p:sp>
      <p:sp>
        <p:nvSpPr>
          <p:cNvPr id="19" name="Oval 18"/>
          <p:cNvSpPr/>
          <p:nvPr/>
        </p:nvSpPr>
        <p:spPr>
          <a:xfrm>
            <a:off x="5120640" y="1746504"/>
            <a:ext cx="146304" cy="146304"/>
          </a:xfrm>
          <a:prstGeom prst="ellipse">
            <a:avLst/>
          </a:prstGeom>
          <a:solidFill>
            <a:srgbClr val="4FD0F5"/>
          </a:solidFill>
          <a:ln>
            <a:noFill/>
          </a:ln>
        </p:spPr>
        <p:txBody>
          <a:bodyPr rtlCol="0" anchor="ctr"/>
          <a:lstStyle/>
          <a:p>
            <a:pPr algn="ctr"/>
          </a:p>
        </p:txBody>
      </p:sp>
      <p:sp>
        <p:nvSpPr>
          <p:cNvPr id="20" name="TextBox 19"/>
          <p:cNvSpPr txBox="1"/>
          <p:nvPr/>
        </p:nvSpPr>
        <p:spPr>
          <a:xfrm>
            <a:off x="5367527" y="1645920"/>
            <a:ext cx="6931152" cy="384048"/>
          </a:xfrm>
          <a:prstGeom prst="rect">
            <a:avLst/>
          </a:prstGeom>
          <a:noFill/>
        </p:spPr>
        <p:txBody>
          <a:bodyPr wrap="square" anchor="t" lIns="0" rIns="0" tIns="0" bIns="0">
            <a:spAutoFit/>
          </a:bodyPr>
          <a:lstStyle/>
          <a:p>
            <a:pPr algn="l">
              <a:lnSpc>
                <a:spcPct val="112000"/>
              </a:lnSpc>
            </a:pPr>
            <a:r>
              <a:rPr sz="2000" b="1" i="0">
                <a:solidFill>
                  <a:srgbClr val="0B2A6B"/>
                </a:solidFill>
                <a:latin typeface="Pretendard"/>
                <a:ea typeface="Pretendard"/>
                <a:cs typeface="Pretendard"/>
              </a:rPr>
              <a:t>주요 기능(MVP)</a:t>
            </a:r>
          </a:p>
        </p:txBody>
      </p:sp>
      <p:sp>
        <p:nvSpPr>
          <p:cNvPr id="21" name="Rounded Rectangle 20"/>
          <p:cNvSpPr/>
          <p:nvPr/>
        </p:nvSpPr>
        <p:spPr>
          <a:xfrm>
            <a:off x="5120640" y="2148840"/>
            <a:ext cx="3451860" cy="347472"/>
          </a:xfrm>
          <a:prstGeom prst="roundRect">
            <a:avLst>
              <a:gd name="adj" fmla="val 50000"/>
            </a:avLst>
          </a:prstGeom>
          <a:solidFill>
            <a:srgbClr val="4FD0F5"/>
          </a:solidFill>
          <a:ln>
            <a:noFill/>
          </a:ln>
        </p:spPr>
        <p:txBody>
          <a:bodyPr rtlCol="0" anchor="ctr" lIns="73152" rIns="73152" tIns="0" bIns="0"/>
          <a:lstStyle/>
          <a:p>
            <a:pPr algn="ctr"/>
            <a:r>
              <a:rPr sz="1150" b="1" i="0">
                <a:solidFill>
                  <a:srgbClr val="0B2A6B"/>
                </a:solidFill>
                <a:latin typeface="Pretendard"/>
                <a:ea typeface="Pretendard"/>
                <a:cs typeface="Pretendard"/>
              </a:rPr>
              <a:t>지금 돌아가는 프로토타입(2026.09 기준)</a:t>
            </a:r>
          </a:p>
        </p:txBody>
      </p:sp>
      <p:sp>
        <p:nvSpPr>
          <p:cNvPr id="22" name="TextBox 21"/>
          <p:cNvSpPr txBox="1"/>
          <p:nvPr/>
        </p:nvSpPr>
        <p:spPr>
          <a:xfrm>
            <a:off x="5120640" y="2606040"/>
            <a:ext cx="3451860" cy="1783080"/>
          </a:xfrm>
          <a:prstGeom prst="rect">
            <a:avLst/>
          </a:prstGeom>
          <a:noFill/>
        </p:spPr>
        <p:txBody>
          <a:bodyPr wrap="square" anchor="t" lIns="0" rIns="0" tIns="0" bIns="0">
            <a:spAutoFit/>
          </a:bodyPr>
          <a:lstStyle/>
          <a:p>
            <a:pPr marL="167957" indent="-167957">
              <a:lnSpc>
                <a:spcPct val="114000"/>
              </a:lnSpc>
              <a:spcAft>
                <a:spcPts val="300"/>
              </a:spcAft>
              <a:buClr>
                <a:srgbClr val="4FD0F5"/>
              </a:buClr>
              <a:buFont typeface="Arial"/>
              <a:buChar char="•"/>
            </a:pPr>
            <a:r>
              <a:rPr sz="1150" b="0" i="0">
                <a:solidFill>
                  <a:srgbClr val="1F2A44"/>
                </a:solidFill>
                <a:latin typeface="Pretendard"/>
                <a:ea typeface="Pretendard"/>
                <a:cs typeface="Pretendard"/>
              </a:rPr>
              <a:t>사무실 PC에서 도는 웹앱입니다. 탐지부터 측정, 판정, 보고서, PDF, 기록까지 끊기지 않고 돌아갑니다. 로컬 LLM을 먼저 쓰고 말로도 검색됩니다.</a:t>
            </a:r>
          </a:p>
          <a:p>
            <a:pPr marL="167957" indent="-167957">
              <a:lnSpc>
                <a:spcPct val="114000"/>
              </a:lnSpc>
              <a:spcAft>
                <a:spcPts val="300"/>
              </a:spcAft>
              <a:buClr>
                <a:srgbClr val="4FD0F5"/>
              </a:buClr>
              <a:buFont typeface="Arial"/>
              <a:buChar char="•"/>
            </a:pPr>
            <a:r>
              <a:rPr sz="1150" b="0" i="0">
                <a:solidFill>
                  <a:srgbClr val="1F2A44"/>
                </a:solidFill>
                <a:latin typeface="Pretendard"/>
                <a:ea typeface="Pretendard"/>
                <a:cs typeface="Pretendard"/>
              </a:rPr>
              <a:t>자동 테스트 281건을 통과했습니다. 합성 필름으로 전 과정을 자동으로 점검합니다[1].</a:t>
            </a:r>
          </a:p>
          <a:p>
            <a:pPr marL="167957" indent="-167957">
              <a:lnSpc>
                <a:spcPct val="114000"/>
              </a:lnSpc>
              <a:spcAft>
                <a:spcPts val="300"/>
              </a:spcAft>
              <a:buClr>
                <a:srgbClr val="4FD0F5"/>
              </a:buClr>
              <a:buFont typeface="Arial"/>
              <a:buChar char="•"/>
            </a:pPr>
            <a:r>
              <a:rPr sz="1150" b="0" i="0">
                <a:solidFill>
                  <a:srgbClr val="1F2A44"/>
                </a:solidFill>
                <a:latin typeface="Pretendard"/>
                <a:ea typeface="Pretendard"/>
                <a:cs typeface="Pretendard"/>
              </a:rPr>
              <a:t>판정식은 세 가지입니다. 누적 길이와 기공 면적률은 100mm 구간 중 가장 나쁜 구간으로 봅니다. 기준표 판본을 고르면 판정표와 PDF, 기록에 그대로 적히고, 선급 보고 항목 25개 중 채운 개수도 보여 줍니다.</a:t>
            </a:r>
          </a:p>
        </p:txBody>
      </p:sp>
      <p:sp>
        <p:nvSpPr>
          <p:cNvPr id="23" name="Rounded Rectangle 22"/>
          <p:cNvSpPr/>
          <p:nvPr/>
        </p:nvSpPr>
        <p:spPr>
          <a:xfrm>
            <a:off x="8846820" y="2148840"/>
            <a:ext cx="3451860" cy="347472"/>
          </a:xfrm>
          <a:prstGeom prst="roundRect">
            <a:avLst>
              <a:gd name="adj" fmla="val 50000"/>
            </a:avLst>
          </a:prstGeom>
          <a:solidFill>
            <a:srgbClr val="0B2A6B"/>
          </a:solidFill>
          <a:ln>
            <a:noFill/>
          </a:ln>
        </p:spPr>
        <p:txBody>
          <a:bodyPr rtlCol="0" anchor="ctr" lIns="73152" rIns="73152" tIns="0" bIns="0"/>
          <a:lstStyle/>
          <a:p>
            <a:pPr algn="ctr"/>
            <a:r>
              <a:rPr sz="1150" b="1" i="0">
                <a:solidFill>
                  <a:srgbClr val="FFFFFF"/>
                </a:solidFill>
                <a:latin typeface="Pretendard"/>
                <a:ea typeface="Pretendard"/>
                <a:cs typeface="Pretendard"/>
              </a:rPr>
              <a:t>본선까지 꼭 돌릴 것(안 될 때 대안 포함)</a:t>
            </a:r>
          </a:p>
        </p:txBody>
      </p:sp>
      <p:sp>
        <p:nvSpPr>
          <p:cNvPr id="24" name="TextBox 23"/>
          <p:cNvSpPr txBox="1"/>
          <p:nvPr/>
        </p:nvSpPr>
        <p:spPr>
          <a:xfrm>
            <a:off x="8846820" y="2606040"/>
            <a:ext cx="3451860" cy="1783080"/>
          </a:xfrm>
          <a:prstGeom prst="rect">
            <a:avLst/>
          </a:prstGeom>
          <a:noFill/>
        </p:spPr>
        <p:txBody>
          <a:bodyPr wrap="square" anchor="t" lIns="0" rIns="0" tIns="0" bIns="0">
            <a:spAutoFit/>
          </a:bodyPr>
          <a:lstStyle/>
          <a:p>
            <a:pPr marL="167957" indent="-167957">
              <a:lnSpc>
                <a:spcPct val="114000"/>
              </a:lnSpc>
              <a:spcAft>
                <a:spcPts val="300"/>
              </a:spcAft>
              <a:buClr>
                <a:srgbClr val="4FD0F5"/>
              </a:buClr>
              <a:buFont typeface="Arial"/>
              <a:buChar char="•"/>
            </a:pPr>
            <a:r>
              <a:rPr sz="1150" b="0" i="0">
                <a:solidFill>
                  <a:srgbClr val="1F2A44"/>
                </a:solidFill>
                <a:latin typeface="Pretendard"/>
                <a:ea typeface="Pretendard"/>
                <a:cs typeface="Pretendard"/>
              </a:rPr>
              <a:t>YOLO26s 학습 가중치를 올립니다. 안 되면 RIAWELC로 사전학습하고 GDXray로 검증하며, 그래도 안 되면 지금 탐지기로 시연합니다.</a:t>
            </a:r>
          </a:p>
          <a:p>
            <a:pPr marL="167957" indent="-167957">
              <a:lnSpc>
                <a:spcPct val="114000"/>
              </a:lnSpc>
              <a:spcAft>
                <a:spcPts val="300"/>
              </a:spcAft>
              <a:buClr>
                <a:srgbClr val="4FD0F5"/>
              </a:buClr>
              <a:buFont typeface="Arial"/>
              <a:buChar char="•"/>
            </a:pPr>
            <a:r>
              <a:rPr sz="1150" b="0" i="0">
                <a:solidFill>
                  <a:srgbClr val="1F2A44"/>
                </a:solidFill>
                <a:latin typeface="Pretendard"/>
                <a:ea typeface="Pretendard"/>
                <a:cs typeface="Pretendard"/>
              </a:rPr>
              <a:t>기준표의 실제 수치를 확정합니다(선급 지침·멘토링). 안 되면 공개 규격 구조의 데모 수치를 쓰고 조항 번호로 구분합니다.</a:t>
            </a:r>
          </a:p>
          <a:p>
            <a:pPr marL="167957" indent="-167957">
              <a:lnSpc>
                <a:spcPct val="114000"/>
              </a:lnSpc>
              <a:spcAft>
                <a:spcPts val="300"/>
              </a:spcAft>
              <a:buClr>
                <a:srgbClr val="4FD0F5"/>
              </a:buClr>
              <a:buFont typeface="Arial"/>
              <a:buChar char="•"/>
            </a:pPr>
            <a:r>
              <a:rPr sz="1150" b="0" i="0">
                <a:solidFill>
                  <a:srgbClr val="1F2A44"/>
                </a:solidFill>
                <a:latin typeface="Pretendard"/>
                <a:ea typeface="Pretendard"/>
                <a:cs typeface="Pretendard"/>
              </a:rPr>
              <a:t>현직 판독원에게 보고서 양식을 확인받습니다. 안 되면 선급 규칙(UR W33 §8)의 필수 항목으로 자체 점검합니다[2].</a:t>
            </a:r>
          </a:p>
        </p:txBody>
      </p:sp>
      <p:sp>
        <p:nvSpPr>
          <p:cNvPr id="25" name="Rounded Rectangle 24"/>
          <p:cNvSpPr/>
          <p:nvPr/>
        </p:nvSpPr>
        <p:spPr>
          <a:xfrm>
            <a:off x="12893040" y="1371600"/>
            <a:ext cx="4782311" cy="3154680"/>
          </a:xfrm>
          <a:prstGeom prst="roundRect">
            <a:avLst>
              <a:gd name="adj" fmla="val 3500"/>
            </a:avLst>
          </a:prstGeom>
          <a:solidFill>
            <a:srgbClr val="FFFFFF"/>
          </a:solidFill>
          <a:ln w="9525">
            <a:solidFill>
              <a:srgbClr val="D9E0EC"/>
            </a:solidFill>
          </a:ln>
        </p:spPr>
        <p:txBody>
          <a:bodyPr rtlCol="0" anchor="ctr"/>
          <a:lstStyle/>
          <a:p/>
        </p:txBody>
      </p:sp>
      <p:sp>
        <p:nvSpPr>
          <p:cNvPr id="26" name="Oval 25"/>
          <p:cNvSpPr/>
          <p:nvPr/>
        </p:nvSpPr>
        <p:spPr>
          <a:xfrm>
            <a:off x="13213080" y="1746504"/>
            <a:ext cx="146304" cy="146304"/>
          </a:xfrm>
          <a:prstGeom prst="ellipse">
            <a:avLst/>
          </a:prstGeom>
          <a:solidFill>
            <a:srgbClr val="4FD0F5"/>
          </a:solidFill>
          <a:ln>
            <a:noFill/>
          </a:ln>
        </p:spPr>
        <p:txBody>
          <a:bodyPr rtlCol="0" anchor="ctr"/>
          <a:lstStyle/>
          <a:p>
            <a:pPr algn="ctr"/>
          </a:p>
        </p:txBody>
      </p:sp>
      <p:sp>
        <p:nvSpPr>
          <p:cNvPr id="27" name="TextBox 26"/>
          <p:cNvSpPr txBox="1"/>
          <p:nvPr/>
        </p:nvSpPr>
        <p:spPr>
          <a:xfrm>
            <a:off x="13459968" y="1645920"/>
            <a:ext cx="3895343" cy="384048"/>
          </a:xfrm>
          <a:prstGeom prst="rect">
            <a:avLst/>
          </a:prstGeom>
          <a:noFill/>
        </p:spPr>
        <p:txBody>
          <a:bodyPr wrap="square" anchor="t" lIns="0" rIns="0" tIns="0" bIns="0">
            <a:spAutoFit/>
          </a:bodyPr>
          <a:lstStyle/>
          <a:p>
            <a:pPr algn="l">
              <a:lnSpc>
                <a:spcPct val="112000"/>
              </a:lnSpc>
            </a:pPr>
            <a:r>
              <a:rPr sz="2000" b="1" i="0">
                <a:solidFill>
                  <a:srgbClr val="0B2A6B"/>
                </a:solidFill>
                <a:latin typeface="Pretendard"/>
                <a:ea typeface="Pretendard"/>
                <a:cs typeface="Pretendard"/>
              </a:rPr>
              <a:t>개발 범위</a:t>
            </a:r>
          </a:p>
        </p:txBody>
      </p:sp>
      <p:sp>
        <p:nvSpPr>
          <p:cNvPr id="28" name="Rounded Rectangle 27"/>
          <p:cNvSpPr/>
          <p:nvPr/>
        </p:nvSpPr>
        <p:spPr>
          <a:xfrm>
            <a:off x="13213080" y="2148840"/>
            <a:ext cx="1234440" cy="310896"/>
          </a:xfrm>
          <a:prstGeom prst="roundRect">
            <a:avLst>
              <a:gd name="adj" fmla="val 50000"/>
            </a:avLst>
          </a:prstGeom>
          <a:solidFill>
            <a:srgbClr val="E3F6FD"/>
          </a:solidFill>
          <a:ln>
            <a:noFill/>
          </a:ln>
        </p:spPr>
        <p:txBody>
          <a:bodyPr rtlCol="0" anchor="ctr" lIns="73152" rIns="73152" tIns="0" bIns="0"/>
          <a:lstStyle/>
          <a:p>
            <a:pPr algn="ctr"/>
            <a:r>
              <a:rPr sz="1150" b="1" i="0">
                <a:solidFill>
                  <a:srgbClr val="0B2A6B"/>
                </a:solidFill>
                <a:latin typeface="Pretendard"/>
                <a:ea typeface="Pretendard"/>
                <a:cs typeface="Pretendard"/>
              </a:rPr>
              <a:t>포함</a:t>
            </a:r>
          </a:p>
        </p:txBody>
      </p:sp>
      <p:sp>
        <p:nvSpPr>
          <p:cNvPr id="29" name="TextBox 28"/>
          <p:cNvSpPr txBox="1"/>
          <p:nvPr/>
        </p:nvSpPr>
        <p:spPr>
          <a:xfrm>
            <a:off x="13213080" y="2560320"/>
            <a:ext cx="1956815" cy="1828800"/>
          </a:xfrm>
          <a:prstGeom prst="rect">
            <a:avLst/>
          </a:prstGeom>
          <a:noFill/>
        </p:spPr>
        <p:txBody>
          <a:bodyPr wrap="square" anchor="t" lIns="0" rIns="0" tIns="0" bIns="0">
            <a:spAutoFit/>
          </a:bodyPr>
          <a:lstStyle/>
          <a:p>
            <a:pPr marL="167957" indent="-167957">
              <a:lnSpc>
                <a:spcPct val="114000"/>
              </a:lnSpc>
              <a:spcAft>
                <a:spcPts val="400"/>
              </a:spcAft>
              <a:buClr>
                <a:srgbClr val="4FD0F5"/>
              </a:buClr>
              <a:buFont typeface="Arial"/>
              <a:buChar char="•"/>
            </a:pPr>
            <a:r>
              <a:rPr sz="1150" b="0" i="0">
                <a:solidFill>
                  <a:srgbClr val="1F2A44"/>
                </a:solidFill>
                <a:latin typeface="Pretendard"/>
                <a:ea typeface="Pretendard"/>
                <a:cs typeface="Pretendard"/>
              </a:rPr>
              <a:t>네 기능(두 번째 눈, 클릭 두 번 자와 규칙 판정, 보고서, 기록)과 말로 검색</a:t>
            </a:r>
          </a:p>
          <a:p>
            <a:pPr marL="167957" indent="-167957">
              <a:lnSpc>
                <a:spcPct val="114000"/>
              </a:lnSpc>
              <a:spcAft>
                <a:spcPts val="400"/>
              </a:spcAft>
              <a:buClr>
                <a:srgbClr val="4FD0F5"/>
              </a:buClr>
              <a:buFont typeface="Arial"/>
              <a:buChar char="•"/>
            </a:pPr>
            <a:r>
              <a:rPr sz="1150" b="0" i="0">
                <a:solidFill>
                  <a:srgbClr val="1F2A44"/>
                </a:solidFill>
                <a:latin typeface="Pretendard"/>
                <a:ea typeface="Pretendard"/>
                <a:cs typeface="Pretendard"/>
              </a:rPr>
              <a:t>YOLO 학습과 GDXray 교차 검증 수치(검출률, 장당 헛짚음) 공개</a:t>
            </a:r>
          </a:p>
          <a:p>
            <a:pPr marL="167957" indent="-167957">
              <a:lnSpc>
                <a:spcPct val="114000"/>
              </a:lnSpc>
              <a:spcAft>
                <a:spcPts val="400"/>
              </a:spcAft>
              <a:buClr>
                <a:srgbClr val="4FD0F5"/>
              </a:buClr>
              <a:buFont typeface="Arial"/>
              <a:buChar char="•"/>
            </a:pPr>
            <a:r>
              <a:rPr sz="1150" b="0" i="0">
                <a:solidFill>
                  <a:srgbClr val="1F2A44"/>
                </a:solidFill>
                <a:latin typeface="Pretendard"/>
                <a:ea typeface="Pretendard"/>
                <a:cs typeface="Pretendard"/>
              </a:rPr>
              <a:t>인터넷 없이 쓰는 시연 모드, PDF·CSV·JSON 백업</a:t>
            </a:r>
          </a:p>
        </p:txBody>
      </p:sp>
      <p:sp>
        <p:nvSpPr>
          <p:cNvPr id="30" name="Rounded Rectangle 29"/>
          <p:cNvSpPr/>
          <p:nvPr/>
        </p:nvSpPr>
        <p:spPr>
          <a:xfrm>
            <a:off x="15398496" y="2148840"/>
            <a:ext cx="1234440" cy="310896"/>
          </a:xfrm>
          <a:prstGeom prst="roundRect">
            <a:avLst>
              <a:gd name="adj" fmla="val 50000"/>
            </a:avLst>
          </a:prstGeom>
          <a:solidFill>
            <a:srgbClr val="E8EDF7"/>
          </a:solidFill>
          <a:ln>
            <a:noFill/>
          </a:ln>
        </p:spPr>
        <p:txBody>
          <a:bodyPr rtlCol="0" anchor="ctr" lIns="73152" rIns="73152" tIns="0" bIns="0"/>
          <a:lstStyle/>
          <a:p>
            <a:pPr algn="ctr"/>
            <a:r>
              <a:rPr sz="1150" b="1" i="0">
                <a:solidFill>
                  <a:srgbClr val="5B6B8C"/>
                </a:solidFill>
                <a:latin typeface="Pretendard"/>
                <a:ea typeface="Pretendard"/>
                <a:cs typeface="Pretendard"/>
              </a:rPr>
              <a:t>제외 (로드맵)</a:t>
            </a:r>
          </a:p>
        </p:txBody>
      </p:sp>
      <p:sp>
        <p:nvSpPr>
          <p:cNvPr id="31" name="TextBox 30"/>
          <p:cNvSpPr txBox="1"/>
          <p:nvPr/>
        </p:nvSpPr>
        <p:spPr>
          <a:xfrm>
            <a:off x="15398496" y="2560320"/>
            <a:ext cx="1956815" cy="1828800"/>
          </a:xfrm>
          <a:prstGeom prst="rect">
            <a:avLst/>
          </a:prstGeom>
          <a:noFill/>
        </p:spPr>
        <p:txBody>
          <a:bodyPr wrap="square" anchor="t" lIns="0" rIns="0" tIns="0" bIns="0">
            <a:spAutoFit/>
          </a:bodyPr>
          <a:lstStyle/>
          <a:p>
            <a:pPr marL="167957" indent="-167957">
              <a:lnSpc>
                <a:spcPct val="114000"/>
              </a:lnSpc>
              <a:spcAft>
                <a:spcPts val="400"/>
              </a:spcAft>
              <a:buClr>
                <a:srgbClr val="4FD0F5"/>
              </a:buClr>
              <a:buFont typeface="Arial"/>
              <a:buChar char="•"/>
            </a:pPr>
            <a:r>
              <a:rPr sz="1150" b="0" i="0">
                <a:solidFill>
                  <a:srgbClr val="1F2A44"/>
                </a:solidFill>
                <a:latin typeface="Pretendard"/>
                <a:ea typeface="Pretendard"/>
                <a:cs typeface="Pretendard"/>
              </a:rPr>
              <a:t>조립 불량 예방 기능, 휴대폰 촬영 측정, AR 고글</a:t>
            </a:r>
          </a:p>
          <a:p>
            <a:pPr marL="167957" indent="-167957">
              <a:lnSpc>
                <a:spcPct val="114000"/>
              </a:lnSpc>
              <a:spcAft>
                <a:spcPts val="400"/>
              </a:spcAft>
              <a:buClr>
                <a:srgbClr val="4FD0F5"/>
              </a:buClr>
              <a:buFont typeface="Arial"/>
              <a:buChar char="•"/>
            </a:pPr>
            <a:r>
              <a:rPr sz="1150" b="0" i="0">
                <a:solidFill>
                  <a:srgbClr val="1F2A44"/>
                </a:solidFill>
                <a:latin typeface="Pretendard"/>
                <a:ea typeface="Pretendard"/>
                <a:cs typeface="Pretendard"/>
              </a:rPr>
              <a:t>검사 지점 추천(어디를 찍을지는 선급과 선주, 품질부서 권한)</a:t>
            </a:r>
          </a:p>
          <a:p>
            <a:pPr marL="167957" indent="-167957">
              <a:lnSpc>
                <a:spcPct val="114000"/>
              </a:lnSpc>
              <a:spcAft>
                <a:spcPts val="400"/>
              </a:spcAft>
              <a:buClr>
                <a:srgbClr val="4FD0F5"/>
              </a:buClr>
              <a:buFont typeface="Arial"/>
              <a:buChar char="•"/>
            </a:pPr>
            <a:r>
              <a:rPr sz="1150" b="0" i="0">
                <a:solidFill>
                  <a:srgbClr val="1F2A44"/>
                </a:solidFill>
                <a:latin typeface="Pretendard"/>
                <a:ea typeface="Pretendard"/>
                <a:cs typeface="Pretendard"/>
              </a:rPr>
              <a:t>재학습 자동화, 초음파 판독, 조선소 현장 시범 적용은 로드맵</a:t>
            </a:r>
          </a:p>
        </p:txBody>
      </p:sp>
      <p:sp>
        <p:nvSpPr>
          <p:cNvPr id="32" name="Rounded Rectangle 31"/>
          <p:cNvSpPr/>
          <p:nvPr/>
        </p:nvSpPr>
        <p:spPr>
          <a:xfrm>
            <a:off x="4800600" y="4754880"/>
            <a:ext cx="7818120" cy="1508760"/>
          </a:xfrm>
          <a:prstGeom prst="roundRect">
            <a:avLst>
              <a:gd name="adj" fmla="val 3500"/>
            </a:avLst>
          </a:prstGeom>
          <a:solidFill>
            <a:srgbClr val="FFFFFF"/>
          </a:solidFill>
          <a:ln w="9525">
            <a:solidFill>
              <a:srgbClr val="D9E0EC"/>
            </a:solidFill>
          </a:ln>
        </p:spPr>
        <p:txBody>
          <a:bodyPr rtlCol="0" anchor="ctr"/>
          <a:lstStyle/>
          <a:p/>
        </p:txBody>
      </p:sp>
      <p:sp>
        <p:nvSpPr>
          <p:cNvPr id="33" name="Oval 32"/>
          <p:cNvSpPr/>
          <p:nvPr/>
        </p:nvSpPr>
        <p:spPr>
          <a:xfrm>
            <a:off x="5120640" y="5038344"/>
            <a:ext cx="146304" cy="146304"/>
          </a:xfrm>
          <a:prstGeom prst="ellipse">
            <a:avLst/>
          </a:prstGeom>
          <a:solidFill>
            <a:srgbClr val="4FD0F5"/>
          </a:solidFill>
          <a:ln>
            <a:noFill/>
          </a:ln>
        </p:spPr>
        <p:txBody>
          <a:bodyPr rtlCol="0" anchor="ctr"/>
          <a:lstStyle/>
          <a:p>
            <a:pPr algn="ctr"/>
          </a:p>
        </p:txBody>
      </p:sp>
      <p:sp>
        <p:nvSpPr>
          <p:cNvPr id="34" name="TextBox 33"/>
          <p:cNvSpPr txBox="1"/>
          <p:nvPr/>
        </p:nvSpPr>
        <p:spPr>
          <a:xfrm>
            <a:off x="5367527" y="4937760"/>
            <a:ext cx="6931152" cy="384048"/>
          </a:xfrm>
          <a:prstGeom prst="rect">
            <a:avLst/>
          </a:prstGeom>
          <a:noFill/>
        </p:spPr>
        <p:txBody>
          <a:bodyPr wrap="square" anchor="t" lIns="0" rIns="0" tIns="0" bIns="0">
            <a:spAutoFit/>
          </a:bodyPr>
          <a:lstStyle/>
          <a:p>
            <a:pPr algn="l">
              <a:lnSpc>
                <a:spcPct val="112000"/>
              </a:lnSpc>
            </a:pPr>
            <a:r>
              <a:rPr sz="1700" b="1" i="0">
                <a:solidFill>
                  <a:srgbClr val="0B2A6B"/>
                </a:solidFill>
                <a:latin typeface="Pretendard"/>
                <a:ea typeface="Pretendard"/>
                <a:cs typeface="Pretendard"/>
              </a:rPr>
              <a:t>팀원별 역할 분담</a:t>
            </a:r>
          </a:p>
        </p:txBody>
      </p:sp>
      <p:sp>
        <p:nvSpPr>
          <p:cNvPr id="35" name="TextBox 34"/>
          <p:cNvSpPr txBox="1"/>
          <p:nvPr/>
        </p:nvSpPr>
        <p:spPr>
          <a:xfrm>
            <a:off x="5120640" y="5321808"/>
            <a:ext cx="7178040" cy="868680"/>
          </a:xfrm>
          <a:prstGeom prst="rect">
            <a:avLst/>
          </a:prstGeom>
          <a:noFill/>
        </p:spPr>
        <p:txBody>
          <a:bodyPr wrap="square" anchor="t" lIns="0" rIns="0" tIns="0" bIns="0">
            <a:spAutoFit/>
          </a:bodyPr>
          <a:lstStyle/>
          <a:p>
            <a:pPr marL="167957" indent="-167957">
              <a:lnSpc>
                <a:spcPct val="114000"/>
              </a:lnSpc>
              <a:spcAft>
                <a:spcPts val="200"/>
              </a:spcAft>
              <a:buClr>
                <a:srgbClr val="4FD0F5"/>
              </a:buClr>
              <a:buFont typeface="Arial"/>
              <a:buChar char="•"/>
            </a:pPr>
            <a:r>
              <a:rPr sz="1150" b="1" i="0">
                <a:solidFill>
                  <a:srgbClr val="1F2A44"/>
                </a:solidFill>
                <a:latin typeface="Pretendard"/>
                <a:ea typeface="Pretendard"/>
                <a:cs typeface="Pretendard"/>
              </a:rPr>
              <a:t>1인 참가</a:t>
            </a:r>
            <a:r>
              <a:rPr sz="1150" b="0" i="0">
                <a:solidFill>
                  <a:srgbClr val="1F2A44"/>
                </a:solidFill>
                <a:latin typeface="Pretendard"/>
                <a:ea typeface="Pretendard"/>
                <a:cs typeface="Pretendard"/>
              </a:rPr>
              <a:t>입니다. 기획과 개발, 데이터, 디자인을 모두 맡습니다.</a:t>
            </a:r>
          </a:p>
          <a:p>
            <a:pPr marL="167957" indent="-167957">
              <a:lnSpc>
                <a:spcPct val="114000"/>
              </a:lnSpc>
              <a:spcAft>
                <a:spcPts val="200"/>
              </a:spcAft>
              <a:buClr>
                <a:srgbClr val="4FD0F5"/>
              </a:buClr>
              <a:buFont typeface="Arial"/>
              <a:buChar char="•"/>
            </a:pPr>
            <a:r>
              <a:rPr sz="1150" b="0" i="0">
                <a:solidFill>
                  <a:srgbClr val="1F2A44"/>
                </a:solidFill>
                <a:latin typeface="Pretendard"/>
                <a:ea typeface="Pretendard"/>
                <a:cs typeface="Pretendard"/>
              </a:rPr>
              <a:t>경험은 YOLO 결함 탐지(랩실)와 LLM 파이프라인 시제품입니다. Python, Streamlit, OpenCV, SQLite를 씁니다.</a:t>
            </a:r>
          </a:p>
          <a:p>
            <a:pPr marL="167957" indent="-167957">
              <a:lnSpc>
                <a:spcPct val="114000"/>
              </a:lnSpc>
              <a:spcAft>
                <a:spcPts val="200"/>
              </a:spcAft>
              <a:buClr>
                <a:srgbClr val="4FD0F5"/>
              </a:buClr>
              <a:buFont typeface="Arial"/>
              <a:buChar char="•"/>
            </a:pPr>
            <a:r>
              <a:rPr sz="1150" b="0" i="0">
                <a:solidFill>
                  <a:srgbClr val="1F2A44"/>
                </a:solidFill>
                <a:latin typeface="Pretendard"/>
                <a:ea typeface="Pretendard"/>
                <a:cs typeface="Pretendard"/>
              </a:rPr>
              <a:t>본선에서는 멘토링 네 번으로 기준 원문과 보고서 양식, 모델 성능과 화면을 보완하겠습니다.</a:t>
            </a:r>
          </a:p>
        </p:txBody>
      </p:sp>
      <p:sp>
        <p:nvSpPr>
          <p:cNvPr id="36" name="Rounded Rectangle 35"/>
          <p:cNvSpPr/>
          <p:nvPr/>
        </p:nvSpPr>
        <p:spPr>
          <a:xfrm>
            <a:off x="4800600" y="6492240"/>
            <a:ext cx="7818120" cy="2761487"/>
          </a:xfrm>
          <a:prstGeom prst="roundRect">
            <a:avLst>
              <a:gd name="adj" fmla="val 3500"/>
            </a:avLst>
          </a:prstGeom>
          <a:solidFill>
            <a:srgbClr val="FFFFFF"/>
          </a:solidFill>
          <a:ln w="9525">
            <a:solidFill>
              <a:srgbClr val="D9E0EC"/>
            </a:solidFill>
          </a:ln>
        </p:spPr>
        <p:txBody>
          <a:bodyPr rtlCol="0" anchor="ctr"/>
          <a:lstStyle/>
          <a:p/>
        </p:txBody>
      </p:sp>
      <p:sp>
        <p:nvSpPr>
          <p:cNvPr id="37" name="Oval 36"/>
          <p:cNvSpPr/>
          <p:nvPr/>
        </p:nvSpPr>
        <p:spPr>
          <a:xfrm>
            <a:off x="5120640" y="6821424"/>
            <a:ext cx="146304" cy="146304"/>
          </a:xfrm>
          <a:prstGeom prst="ellipse">
            <a:avLst/>
          </a:prstGeom>
          <a:solidFill>
            <a:srgbClr val="4FD0F5"/>
          </a:solidFill>
          <a:ln>
            <a:noFill/>
          </a:ln>
        </p:spPr>
        <p:txBody>
          <a:bodyPr rtlCol="0" anchor="ctr"/>
          <a:lstStyle/>
          <a:p>
            <a:pPr algn="ctr"/>
          </a:p>
        </p:txBody>
      </p:sp>
      <p:sp>
        <p:nvSpPr>
          <p:cNvPr id="38" name="TextBox 37"/>
          <p:cNvSpPr txBox="1"/>
          <p:nvPr/>
        </p:nvSpPr>
        <p:spPr>
          <a:xfrm>
            <a:off x="5367527" y="6720840"/>
            <a:ext cx="6931152" cy="384048"/>
          </a:xfrm>
          <a:prstGeom prst="rect">
            <a:avLst/>
          </a:prstGeom>
          <a:noFill/>
        </p:spPr>
        <p:txBody>
          <a:bodyPr wrap="square" anchor="t" lIns="0" rIns="0" tIns="0" bIns="0">
            <a:spAutoFit/>
          </a:bodyPr>
          <a:lstStyle/>
          <a:p>
            <a:pPr algn="l">
              <a:lnSpc>
                <a:spcPct val="112000"/>
              </a:lnSpc>
            </a:pPr>
            <a:r>
              <a:rPr sz="1800" b="1" i="0">
                <a:solidFill>
                  <a:srgbClr val="0B2A6B"/>
                </a:solidFill>
                <a:latin typeface="Pretendard"/>
                <a:ea typeface="Pretendard"/>
                <a:cs typeface="Pretendard"/>
              </a:rPr>
              <a:t>시연 시나리오</a:t>
            </a:r>
          </a:p>
        </p:txBody>
      </p:sp>
      <p:sp>
        <p:nvSpPr>
          <p:cNvPr id="39" name="Rounded Rectangle 38"/>
          <p:cNvSpPr/>
          <p:nvPr/>
        </p:nvSpPr>
        <p:spPr>
          <a:xfrm>
            <a:off x="5120640" y="7114031"/>
            <a:ext cx="1657350" cy="731520"/>
          </a:xfrm>
          <a:prstGeom prst="roundRect">
            <a:avLst>
              <a:gd name="adj" fmla="val 8000"/>
            </a:avLst>
          </a:prstGeom>
          <a:solidFill>
            <a:srgbClr val="F2F5FA"/>
          </a:solidFill>
          <a:ln>
            <a:noFill/>
          </a:ln>
        </p:spPr>
        <p:txBody>
          <a:bodyPr rtlCol="0" anchor="ctr"/>
          <a:lstStyle/>
          <a:p/>
        </p:txBody>
      </p:sp>
      <p:sp>
        <p:nvSpPr>
          <p:cNvPr id="40" name="Rounded Rectangle 39"/>
          <p:cNvSpPr/>
          <p:nvPr/>
        </p:nvSpPr>
        <p:spPr>
          <a:xfrm>
            <a:off x="5230368" y="7214616"/>
            <a:ext cx="310896" cy="310896"/>
          </a:xfrm>
          <a:prstGeom prst="roundRect">
            <a:avLst>
              <a:gd name="adj" fmla="val 50000"/>
            </a:avLst>
          </a:prstGeom>
          <a:solidFill>
            <a:srgbClr val="0B2A6B"/>
          </a:solidFill>
          <a:ln>
            <a:noFill/>
          </a:ln>
        </p:spPr>
        <p:txBody>
          <a:bodyPr rtlCol="0" anchor="ctr" lIns="73152" rIns="73152" tIns="0" bIns="0"/>
          <a:lstStyle/>
          <a:p>
            <a:pPr algn="ctr"/>
            <a:r>
              <a:rPr sz="1100" b="1" i="0">
                <a:solidFill>
                  <a:srgbClr val="FFFFFF"/>
                </a:solidFill>
                <a:latin typeface="Pretendard"/>
                <a:ea typeface="Pretendard"/>
                <a:cs typeface="Pretendard"/>
              </a:rPr>
              <a:t>1</a:t>
            </a:r>
          </a:p>
        </p:txBody>
      </p:sp>
      <p:sp>
        <p:nvSpPr>
          <p:cNvPr id="41" name="TextBox 40"/>
          <p:cNvSpPr txBox="1"/>
          <p:nvPr/>
        </p:nvSpPr>
        <p:spPr>
          <a:xfrm>
            <a:off x="5623559" y="7187183"/>
            <a:ext cx="1062990" cy="621792"/>
          </a:xfrm>
          <a:prstGeom prst="rect">
            <a:avLst/>
          </a:prstGeom>
          <a:noFill/>
        </p:spPr>
        <p:txBody>
          <a:bodyPr wrap="square" anchor="t" lIns="0" rIns="0" tIns="0" bIns="0">
            <a:spAutoFit/>
          </a:bodyPr>
          <a:lstStyle/>
          <a:p>
            <a:pPr algn="l">
              <a:lnSpc>
                <a:spcPct val="108000"/>
              </a:lnSpc>
            </a:pPr>
            <a:r>
              <a:rPr sz="1100" b="0" i="0">
                <a:solidFill>
                  <a:srgbClr val="1F2A44"/>
                </a:solidFill>
                <a:latin typeface="Pretendard"/>
                <a:ea typeface="Pretendard"/>
                <a:cs typeface="Pretendard"/>
              </a:rPr>
              <a:t>스캔한 필름 사진 열기, 대비 높이기</a:t>
            </a:r>
          </a:p>
        </p:txBody>
      </p:sp>
      <p:sp>
        <p:nvSpPr>
          <p:cNvPr id="42" name="Rounded Rectangle 41"/>
          <p:cNvSpPr/>
          <p:nvPr/>
        </p:nvSpPr>
        <p:spPr>
          <a:xfrm>
            <a:off x="6960870" y="7114031"/>
            <a:ext cx="1657350" cy="731520"/>
          </a:xfrm>
          <a:prstGeom prst="roundRect">
            <a:avLst>
              <a:gd name="adj" fmla="val 8000"/>
            </a:avLst>
          </a:prstGeom>
          <a:solidFill>
            <a:srgbClr val="F2F5FA"/>
          </a:solidFill>
          <a:ln>
            <a:noFill/>
          </a:ln>
        </p:spPr>
        <p:txBody>
          <a:bodyPr rtlCol="0" anchor="ctr"/>
          <a:lstStyle/>
          <a:p/>
        </p:txBody>
      </p:sp>
      <p:sp>
        <p:nvSpPr>
          <p:cNvPr id="43" name="Rounded Rectangle 42"/>
          <p:cNvSpPr/>
          <p:nvPr/>
        </p:nvSpPr>
        <p:spPr>
          <a:xfrm>
            <a:off x="7070598" y="7214616"/>
            <a:ext cx="310896" cy="310896"/>
          </a:xfrm>
          <a:prstGeom prst="roundRect">
            <a:avLst>
              <a:gd name="adj" fmla="val 50000"/>
            </a:avLst>
          </a:prstGeom>
          <a:solidFill>
            <a:srgbClr val="0B2A6B"/>
          </a:solidFill>
          <a:ln>
            <a:noFill/>
          </a:ln>
        </p:spPr>
        <p:txBody>
          <a:bodyPr rtlCol="0" anchor="ctr" lIns="73152" rIns="73152" tIns="0" bIns="0"/>
          <a:lstStyle/>
          <a:p>
            <a:pPr algn="ctr"/>
            <a:r>
              <a:rPr sz="1100" b="1" i="0">
                <a:solidFill>
                  <a:srgbClr val="FFFFFF"/>
                </a:solidFill>
                <a:latin typeface="Pretendard"/>
                <a:ea typeface="Pretendard"/>
                <a:cs typeface="Pretendard"/>
              </a:rPr>
              <a:t>2</a:t>
            </a:r>
          </a:p>
        </p:txBody>
      </p:sp>
      <p:sp>
        <p:nvSpPr>
          <p:cNvPr id="44" name="TextBox 43"/>
          <p:cNvSpPr txBox="1"/>
          <p:nvPr/>
        </p:nvSpPr>
        <p:spPr>
          <a:xfrm>
            <a:off x="7463790" y="7187183"/>
            <a:ext cx="1062990" cy="621792"/>
          </a:xfrm>
          <a:prstGeom prst="rect">
            <a:avLst/>
          </a:prstGeom>
          <a:noFill/>
        </p:spPr>
        <p:txBody>
          <a:bodyPr wrap="square" anchor="t" lIns="0" rIns="0" tIns="0" bIns="0">
            <a:spAutoFit/>
          </a:bodyPr>
          <a:lstStyle/>
          <a:p>
            <a:pPr algn="l">
              <a:lnSpc>
                <a:spcPct val="108000"/>
              </a:lnSpc>
            </a:pPr>
            <a:r>
              <a:rPr sz="1100" b="0" i="0">
                <a:solidFill>
                  <a:srgbClr val="1F2A44"/>
                </a:solidFill>
                <a:latin typeface="Pretendard"/>
                <a:ea typeface="Pretendard"/>
                <a:cs typeface="Pretendard"/>
              </a:rPr>
              <a:t>AI 후보 표시, 종류 확정해 채택하거나 기각</a:t>
            </a:r>
          </a:p>
        </p:txBody>
      </p:sp>
      <p:sp>
        <p:nvSpPr>
          <p:cNvPr id="45" name="Rounded Rectangle 44"/>
          <p:cNvSpPr/>
          <p:nvPr/>
        </p:nvSpPr>
        <p:spPr>
          <a:xfrm>
            <a:off x="8801100" y="7114031"/>
            <a:ext cx="1657350" cy="731520"/>
          </a:xfrm>
          <a:prstGeom prst="roundRect">
            <a:avLst>
              <a:gd name="adj" fmla="val 8000"/>
            </a:avLst>
          </a:prstGeom>
          <a:solidFill>
            <a:srgbClr val="F2F5FA"/>
          </a:solidFill>
          <a:ln>
            <a:noFill/>
          </a:ln>
        </p:spPr>
        <p:txBody>
          <a:bodyPr rtlCol="0" anchor="ctr"/>
          <a:lstStyle/>
          <a:p/>
        </p:txBody>
      </p:sp>
      <p:sp>
        <p:nvSpPr>
          <p:cNvPr id="46" name="Rounded Rectangle 45"/>
          <p:cNvSpPr/>
          <p:nvPr/>
        </p:nvSpPr>
        <p:spPr>
          <a:xfrm>
            <a:off x="8910828" y="7214616"/>
            <a:ext cx="310896" cy="310896"/>
          </a:xfrm>
          <a:prstGeom prst="roundRect">
            <a:avLst>
              <a:gd name="adj" fmla="val 50000"/>
            </a:avLst>
          </a:prstGeom>
          <a:solidFill>
            <a:srgbClr val="0B2A6B"/>
          </a:solidFill>
          <a:ln>
            <a:noFill/>
          </a:ln>
        </p:spPr>
        <p:txBody>
          <a:bodyPr rtlCol="0" anchor="ctr" lIns="73152" rIns="73152" tIns="0" bIns="0"/>
          <a:lstStyle/>
          <a:p>
            <a:pPr algn="ctr"/>
            <a:r>
              <a:rPr sz="1100" b="1" i="0">
                <a:solidFill>
                  <a:srgbClr val="FFFFFF"/>
                </a:solidFill>
                <a:latin typeface="Pretendard"/>
                <a:ea typeface="Pretendard"/>
                <a:cs typeface="Pretendard"/>
              </a:rPr>
              <a:t>3</a:t>
            </a:r>
          </a:p>
        </p:txBody>
      </p:sp>
      <p:sp>
        <p:nvSpPr>
          <p:cNvPr id="47" name="TextBox 46"/>
          <p:cNvSpPr txBox="1"/>
          <p:nvPr/>
        </p:nvSpPr>
        <p:spPr>
          <a:xfrm>
            <a:off x="9304020" y="7187183"/>
            <a:ext cx="1062990" cy="621792"/>
          </a:xfrm>
          <a:prstGeom prst="rect">
            <a:avLst/>
          </a:prstGeom>
          <a:noFill/>
        </p:spPr>
        <p:txBody>
          <a:bodyPr wrap="square" anchor="t" lIns="0" rIns="0" tIns="0" bIns="0">
            <a:spAutoFit/>
          </a:bodyPr>
          <a:lstStyle/>
          <a:p>
            <a:pPr algn="l">
              <a:lnSpc>
                <a:spcPct val="108000"/>
              </a:lnSpc>
            </a:pPr>
            <a:r>
              <a:rPr sz="1100" b="0" i="0">
                <a:solidFill>
                  <a:srgbClr val="1F2A44"/>
                </a:solidFill>
                <a:latin typeface="Pretendard"/>
                <a:ea typeface="Pretendard"/>
                <a:cs typeface="Pretendard"/>
              </a:rPr>
              <a:t>납마커 양 끝 클릭해 mm/픽셀 확정</a:t>
            </a:r>
          </a:p>
        </p:txBody>
      </p:sp>
      <p:sp>
        <p:nvSpPr>
          <p:cNvPr id="48" name="Rounded Rectangle 47"/>
          <p:cNvSpPr/>
          <p:nvPr/>
        </p:nvSpPr>
        <p:spPr>
          <a:xfrm>
            <a:off x="10641330" y="7114031"/>
            <a:ext cx="1657350" cy="731520"/>
          </a:xfrm>
          <a:prstGeom prst="roundRect">
            <a:avLst>
              <a:gd name="adj" fmla="val 8000"/>
            </a:avLst>
          </a:prstGeom>
          <a:solidFill>
            <a:srgbClr val="F2F5FA"/>
          </a:solidFill>
          <a:ln>
            <a:noFill/>
          </a:ln>
        </p:spPr>
        <p:txBody>
          <a:bodyPr rtlCol="0" anchor="ctr"/>
          <a:lstStyle/>
          <a:p/>
        </p:txBody>
      </p:sp>
      <p:sp>
        <p:nvSpPr>
          <p:cNvPr id="49" name="Rounded Rectangle 48"/>
          <p:cNvSpPr/>
          <p:nvPr/>
        </p:nvSpPr>
        <p:spPr>
          <a:xfrm>
            <a:off x="10751057" y="7214616"/>
            <a:ext cx="310896" cy="310896"/>
          </a:xfrm>
          <a:prstGeom prst="roundRect">
            <a:avLst>
              <a:gd name="adj" fmla="val 50000"/>
            </a:avLst>
          </a:prstGeom>
          <a:solidFill>
            <a:srgbClr val="0B2A6B"/>
          </a:solidFill>
          <a:ln>
            <a:noFill/>
          </a:ln>
        </p:spPr>
        <p:txBody>
          <a:bodyPr rtlCol="0" anchor="ctr" lIns="73152" rIns="73152" tIns="0" bIns="0"/>
          <a:lstStyle/>
          <a:p>
            <a:pPr algn="ctr"/>
            <a:r>
              <a:rPr sz="1100" b="1" i="0">
                <a:solidFill>
                  <a:srgbClr val="FFFFFF"/>
                </a:solidFill>
                <a:latin typeface="Pretendard"/>
                <a:ea typeface="Pretendard"/>
                <a:cs typeface="Pretendard"/>
              </a:rPr>
              <a:t>4</a:t>
            </a:r>
          </a:p>
        </p:txBody>
      </p:sp>
      <p:sp>
        <p:nvSpPr>
          <p:cNvPr id="50" name="TextBox 49"/>
          <p:cNvSpPr txBox="1"/>
          <p:nvPr/>
        </p:nvSpPr>
        <p:spPr>
          <a:xfrm>
            <a:off x="11144250" y="7187183"/>
            <a:ext cx="1062990" cy="621792"/>
          </a:xfrm>
          <a:prstGeom prst="rect">
            <a:avLst/>
          </a:prstGeom>
          <a:noFill/>
        </p:spPr>
        <p:txBody>
          <a:bodyPr wrap="square" anchor="t" lIns="0" rIns="0" tIns="0" bIns="0">
            <a:spAutoFit/>
          </a:bodyPr>
          <a:lstStyle/>
          <a:p>
            <a:pPr algn="l">
              <a:lnSpc>
                <a:spcPct val="108000"/>
              </a:lnSpc>
            </a:pPr>
            <a:r>
              <a:rPr sz="1100" b="0" i="0">
                <a:solidFill>
                  <a:srgbClr val="1F2A44"/>
                </a:solidFill>
                <a:latin typeface="Pretendard"/>
                <a:ea typeface="Pretendard"/>
                <a:cs typeface="Pretendard"/>
              </a:rPr>
              <a:t>결함 양 끝 클릭해 크기 확정</a:t>
            </a:r>
          </a:p>
        </p:txBody>
      </p:sp>
      <p:sp>
        <p:nvSpPr>
          <p:cNvPr id="51" name="Rounded Rectangle 50"/>
          <p:cNvSpPr/>
          <p:nvPr/>
        </p:nvSpPr>
        <p:spPr>
          <a:xfrm>
            <a:off x="5120640" y="7955279"/>
            <a:ext cx="1657350" cy="731520"/>
          </a:xfrm>
          <a:prstGeom prst="roundRect">
            <a:avLst>
              <a:gd name="adj" fmla="val 8000"/>
            </a:avLst>
          </a:prstGeom>
          <a:solidFill>
            <a:srgbClr val="F2F5FA"/>
          </a:solidFill>
          <a:ln>
            <a:noFill/>
          </a:ln>
        </p:spPr>
        <p:txBody>
          <a:bodyPr rtlCol="0" anchor="ctr"/>
          <a:lstStyle/>
          <a:p/>
        </p:txBody>
      </p:sp>
      <p:sp>
        <p:nvSpPr>
          <p:cNvPr id="52" name="Rounded Rectangle 51"/>
          <p:cNvSpPr/>
          <p:nvPr/>
        </p:nvSpPr>
        <p:spPr>
          <a:xfrm>
            <a:off x="5230368" y="8055863"/>
            <a:ext cx="310896" cy="310896"/>
          </a:xfrm>
          <a:prstGeom prst="roundRect">
            <a:avLst>
              <a:gd name="adj" fmla="val 50000"/>
            </a:avLst>
          </a:prstGeom>
          <a:solidFill>
            <a:srgbClr val="0B2A6B"/>
          </a:solidFill>
          <a:ln>
            <a:noFill/>
          </a:ln>
        </p:spPr>
        <p:txBody>
          <a:bodyPr rtlCol="0" anchor="ctr" lIns="73152" rIns="73152" tIns="0" bIns="0"/>
          <a:lstStyle/>
          <a:p>
            <a:pPr algn="ctr"/>
            <a:r>
              <a:rPr sz="1100" b="1" i="0">
                <a:solidFill>
                  <a:srgbClr val="FFFFFF"/>
                </a:solidFill>
                <a:latin typeface="Pretendard"/>
                <a:ea typeface="Pretendard"/>
                <a:cs typeface="Pretendard"/>
              </a:rPr>
              <a:t>5</a:t>
            </a:r>
          </a:p>
        </p:txBody>
      </p:sp>
      <p:sp>
        <p:nvSpPr>
          <p:cNvPr id="53" name="TextBox 52"/>
          <p:cNvSpPr txBox="1"/>
          <p:nvPr/>
        </p:nvSpPr>
        <p:spPr>
          <a:xfrm>
            <a:off x="5623559" y="8028431"/>
            <a:ext cx="1062990" cy="621792"/>
          </a:xfrm>
          <a:prstGeom prst="rect">
            <a:avLst/>
          </a:prstGeom>
          <a:noFill/>
        </p:spPr>
        <p:txBody>
          <a:bodyPr wrap="square" anchor="t" lIns="0" rIns="0" tIns="0" bIns="0">
            <a:spAutoFit/>
          </a:bodyPr>
          <a:lstStyle/>
          <a:p>
            <a:pPr algn="l">
              <a:lnSpc>
                <a:spcPct val="108000"/>
              </a:lnSpc>
            </a:pPr>
            <a:r>
              <a:rPr sz="1100" b="0" i="0">
                <a:solidFill>
                  <a:srgbClr val="1F2A44"/>
                </a:solidFill>
                <a:latin typeface="Pretendard"/>
                <a:ea typeface="Pretendard"/>
                <a:cs typeface="Pretendard"/>
              </a:rPr>
              <a:t>판정 실행, 길이·누적·면적률과 근거 조항 확인</a:t>
            </a:r>
          </a:p>
        </p:txBody>
      </p:sp>
      <p:sp>
        <p:nvSpPr>
          <p:cNvPr id="54" name="Rounded Rectangle 53"/>
          <p:cNvSpPr/>
          <p:nvPr/>
        </p:nvSpPr>
        <p:spPr>
          <a:xfrm>
            <a:off x="6960870" y="7955279"/>
            <a:ext cx="1657350" cy="731520"/>
          </a:xfrm>
          <a:prstGeom prst="roundRect">
            <a:avLst>
              <a:gd name="adj" fmla="val 8000"/>
            </a:avLst>
          </a:prstGeom>
          <a:solidFill>
            <a:srgbClr val="F2F5FA"/>
          </a:solidFill>
          <a:ln>
            <a:noFill/>
          </a:ln>
        </p:spPr>
        <p:txBody>
          <a:bodyPr rtlCol="0" anchor="ctr"/>
          <a:lstStyle/>
          <a:p/>
        </p:txBody>
      </p:sp>
      <p:sp>
        <p:nvSpPr>
          <p:cNvPr id="55" name="Rounded Rectangle 54"/>
          <p:cNvSpPr/>
          <p:nvPr/>
        </p:nvSpPr>
        <p:spPr>
          <a:xfrm>
            <a:off x="7070598" y="8055863"/>
            <a:ext cx="310896" cy="310896"/>
          </a:xfrm>
          <a:prstGeom prst="roundRect">
            <a:avLst>
              <a:gd name="adj" fmla="val 50000"/>
            </a:avLst>
          </a:prstGeom>
          <a:solidFill>
            <a:srgbClr val="0B2A6B"/>
          </a:solidFill>
          <a:ln>
            <a:noFill/>
          </a:ln>
        </p:spPr>
        <p:txBody>
          <a:bodyPr rtlCol="0" anchor="ctr" lIns="73152" rIns="73152" tIns="0" bIns="0"/>
          <a:lstStyle/>
          <a:p>
            <a:pPr algn="ctr"/>
            <a:r>
              <a:rPr sz="1100" b="1" i="0">
                <a:solidFill>
                  <a:srgbClr val="FFFFFF"/>
                </a:solidFill>
                <a:latin typeface="Pretendard"/>
                <a:ea typeface="Pretendard"/>
                <a:cs typeface="Pretendard"/>
              </a:rPr>
              <a:t>6</a:t>
            </a:r>
          </a:p>
        </p:txBody>
      </p:sp>
      <p:sp>
        <p:nvSpPr>
          <p:cNvPr id="56" name="TextBox 55"/>
          <p:cNvSpPr txBox="1"/>
          <p:nvPr/>
        </p:nvSpPr>
        <p:spPr>
          <a:xfrm>
            <a:off x="7463790" y="8028431"/>
            <a:ext cx="1062990" cy="621792"/>
          </a:xfrm>
          <a:prstGeom prst="rect">
            <a:avLst/>
          </a:prstGeom>
          <a:noFill/>
        </p:spPr>
        <p:txBody>
          <a:bodyPr wrap="square" anchor="t" lIns="0" rIns="0" tIns="0" bIns="0">
            <a:spAutoFit/>
          </a:bodyPr>
          <a:lstStyle/>
          <a:p>
            <a:pPr algn="l">
              <a:lnSpc>
                <a:spcPct val="108000"/>
              </a:lnSpc>
            </a:pPr>
            <a:r>
              <a:rPr sz="1100" b="0" i="0">
                <a:solidFill>
                  <a:srgbClr val="1F2A44"/>
                </a:solidFill>
                <a:latin typeface="Pretendard"/>
                <a:ea typeface="Pretendard"/>
                <a:cs typeface="Pretendard"/>
              </a:rPr>
              <a:t>보고서 초안 만들고 고쳐서 승인, PDF 저장</a:t>
            </a:r>
          </a:p>
        </p:txBody>
      </p:sp>
      <p:sp>
        <p:nvSpPr>
          <p:cNvPr id="57" name="Rounded Rectangle 56"/>
          <p:cNvSpPr/>
          <p:nvPr/>
        </p:nvSpPr>
        <p:spPr>
          <a:xfrm>
            <a:off x="8801100" y="7955279"/>
            <a:ext cx="1657350" cy="731520"/>
          </a:xfrm>
          <a:prstGeom prst="roundRect">
            <a:avLst>
              <a:gd name="adj" fmla="val 8000"/>
            </a:avLst>
          </a:prstGeom>
          <a:solidFill>
            <a:srgbClr val="F2F5FA"/>
          </a:solidFill>
          <a:ln>
            <a:noFill/>
          </a:ln>
        </p:spPr>
        <p:txBody>
          <a:bodyPr rtlCol="0" anchor="ctr"/>
          <a:lstStyle/>
          <a:p/>
        </p:txBody>
      </p:sp>
      <p:sp>
        <p:nvSpPr>
          <p:cNvPr id="58" name="Rounded Rectangle 57"/>
          <p:cNvSpPr/>
          <p:nvPr/>
        </p:nvSpPr>
        <p:spPr>
          <a:xfrm>
            <a:off x="8910828" y="8055863"/>
            <a:ext cx="310896" cy="310896"/>
          </a:xfrm>
          <a:prstGeom prst="roundRect">
            <a:avLst>
              <a:gd name="adj" fmla="val 50000"/>
            </a:avLst>
          </a:prstGeom>
          <a:solidFill>
            <a:srgbClr val="0B2A6B"/>
          </a:solidFill>
          <a:ln>
            <a:noFill/>
          </a:ln>
        </p:spPr>
        <p:txBody>
          <a:bodyPr rtlCol="0" anchor="ctr" lIns="73152" rIns="73152" tIns="0" bIns="0"/>
          <a:lstStyle/>
          <a:p>
            <a:pPr algn="ctr"/>
            <a:r>
              <a:rPr sz="1100" b="1" i="0">
                <a:solidFill>
                  <a:srgbClr val="FFFFFF"/>
                </a:solidFill>
                <a:latin typeface="Pretendard"/>
                <a:ea typeface="Pretendard"/>
                <a:cs typeface="Pretendard"/>
              </a:rPr>
              <a:t>7</a:t>
            </a:r>
          </a:p>
        </p:txBody>
      </p:sp>
      <p:sp>
        <p:nvSpPr>
          <p:cNvPr id="59" name="TextBox 58"/>
          <p:cNvSpPr txBox="1"/>
          <p:nvPr/>
        </p:nvSpPr>
        <p:spPr>
          <a:xfrm>
            <a:off x="9304020" y="8028431"/>
            <a:ext cx="1062990" cy="621792"/>
          </a:xfrm>
          <a:prstGeom prst="rect">
            <a:avLst/>
          </a:prstGeom>
          <a:noFill/>
        </p:spPr>
        <p:txBody>
          <a:bodyPr wrap="square" anchor="t" lIns="0" rIns="0" tIns="0" bIns="0">
            <a:spAutoFit/>
          </a:bodyPr>
          <a:lstStyle/>
          <a:p>
            <a:pPr algn="l">
              <a:lnSpc>
                <a:spcPct val="108000"/>
              </a:lnSpc>
            </a:pPr>
            <a:r>
              <a:rPr sz="1100" b="0" i="0">
                <a:solidFill>
                  <a:srgbClr val="1F2A44"/>
                </a:solidFill>
                <a:latin typeface="Pretendard"/>
                <a:ea typeface="Pretendard"/>
                <a:cs typeface="Pretendard"/>
              </a:rPr>
              <a:t>말로 ‘3번 블록 기공 이력’ 검색</a:t>
            </a:r>
          </a:p>
        </p:txBody>
      </p:sp>
      <p:sp>
        <p:nvSpPr>
          <p:cNvPr id="60" name="Rounded Rectangle 59"/>
          <p:cNvSpPr/>
          <p:nvPr/>
        </p:nvSpPr>
        <p:spPr>
          <a:xfrm>
            <a:off x="10641330" y="7955279"/>
            <a:ext cx="1657350" cy="731520"/>
          </a:xfrm>
          <a:prstGeom prst="roundRect">
            <a:avLst>
              <a:gd name="adj" fmla="val 8000"/>
            </a:avLst>
          </a:prstGeom>
          <a:solidFill>
            <a:srgbClr val="F2F5FA"/>
          </a:solidFill>
          <a:ln>
            <a:noFill/>
          </a:ln>
        </p:spPr>
        <p:txBody>
          <a:bodyPr rtlCol="0" anchor="ctr"/>
          <a:lstStyle/>
          <a:p/>
        </p:txBody>
      </p:sp>
      <p:sp>
        <p:nvSpPr>
          <p:cNvPr id="61" name="Rounded Rectangle 60"/>
          <p:cNvSpPr/>
          <p:nvPr/>
        </p:nvSpPr>
        <p:spPr>
          <a:xfrm>
            <a:off x="10751057" y="8055863"/>
            <a:ext cx="310896" cy="310896"/>
          </a:xfrm>
          <a:prstGeom prst="roundRect">
            <a:avLst>
              <a:gd name="adj" fmla="val 50000"/>
            </a:avLst>
          </a:prstGeom>
          <a:solidFill>
            <a:srgbClr val="0B2A6B"/>
          </a:solidFill>
          <a:ln>
            <a:noFill/>
          </a:ln>
        </p:spPr>
        <p:txBody>
          <a:bodyPr rtlCol="0" anchor="ctr" lIns="73152" rIns="73152" tIns="0" bIns="0"/>
          <a:lstStyle/>
          <a:p>
            <a:pPr algn="ctr"/>
            <a:r>
              <a:rPr sz="1100" b="1" i="0">
                <a:solidFill>
                  <a:srgbClr val="FFFFFF"/>
                </a:solidFill>
                <a:latin typeface="Pretendard"/>
                <a:ea typeface="Pretendard"/>
                <a:cs typeface="Pretendard"/>
              </a:rPr>
              <a:t>8</a:t>
            </a:r>
          </a:p>
        </p:txBody>
      </p:sp>
      <p:sp>
        <p:nvSpPr>
          <p:cNvPr id="62" name="TextBox 61"/>
          <p:cNvSpPr txBox="1"/>
          <p:nvPr/>
        </p:nvSpPr>
        <p:spPr>
          <a:xfrm>
            <a:off x="11144250" y="8028431"/>
            <a:ext cx="1062990" cy="621792"/>
          </a:xfrm>
          <a:prstGeom prst="rect">
            <a:avLst/>
          </a:prstGeom>
          <a:noFill/>
        </p:spPr>
        <p:txBody>
          <a:bodyPr wrap="square" anchor="t" lIns="0" rIns="0" tIns="0" bIns="0">
            <a:spAutoFit/>
          </a:bodyPr>
          <a:lstStyle/>
          <a:p>
            <a:pPr algn="l">
              <a:lnSpc>
                <a:spcPct val="108000"/>
              </a:lnSpc>
            </a:pPr>
            <a:r>
              <a:rPr sz="1100" b="0" i="0">
                <a:solidFill>
                  <a:srgbClr val="1F2A44"/>
                </a:solidFill>
                <a:latin typeface="Pretendard"/>
                <a:ea typeface="Pretendard"/>
                <a:cs typeface="Pretendard"/>
              </a:rPr>
              <a:t>채택률과 놓침 지표 확인, 학습 라벨 내보내기</a:t>
            </a:r>
          </a:p>
        </p:txBody>
      </p:sp>
      <p:sp>
        <p:nvSpPr>
          <p:cNvPr id="63" name="TextBox 62"/>
          <p:cNvSpPr txBox="1"/>
          <p:nvPr/>
        </p:nvSpPr>
        <p:spPr>
          <a:xfrm>
            <a:off x="5120640" y="8796528"/>
            <a:ext cx="7178040" cy="411480"/>
          </a:xfrm>
          <a:prstGeom prst="rect">
            <a:avLst/>
          </a:prstGeom>
          <a:noFill/>
        </p:spPr>
        <p:txBody>
          <a:bodyPr wrap="square" anchor="t" lIns="0" rIns="0" tIns="0" bIns="0">
            <a:spAutoFit/>
          </a:bodyPr>
          <a:lstStyle/>
          <a:p>
            <a:pPr algn="l">
              <a:lnSpc>
                <a:spcPct val="108000"/>
              </a:lnSpc>
            </a:pPr>
            <a:r>
              <a:rPr sz="950" b="0" i="0">
                <a:solidFill>
                  <a:srgbClr val="5B6B8C"/>
                </a:solidFill>
                <a:latin typeface="Pretendard"/>
                <a:ea typeface="Pretendard"/>
                <a:cs typeface="Pretendard"/>
              </a:rPr>
              <a:t>균열이 있는 불합격 1건과 흠 없는 합격 1건을 합성 RT 필름으로 시연합니다. 실제 필름은 현장 보안 때문에 기간 안에 구하기 어렵습니다. 화면의 후보 상자는 대체 탐지기 결과이고, 측정에 쓴 신뢰도 기준 0.5는 프로그램 내부값입니다.</a:t>
            </a:r>
          </a:p>
        </p:txBody>
      </p:sp>
      <p:sp>
        <p:nvSpPr>
          <p:cNvPr id="64" name="Rounded Rectangle 63"/>
          <p:cNvSpPr/>
          <p:nvPr/>
        </p:nvSpPr>
        <p:spPr>
          <a:xfrm>
            <a:off x="12893040" y="4754880"/>
            <a:ext cx="4782311" cy="4498847"/>
          </a:xfrm>
          <a:prstGeom prst="roundRect">
            <a:avLst>
              <a:gd name="adj" fmla="val 3500"/>
            </a:avLst>
          </a:prstGeom>
          <a:solidFill>
            <a:srgbClr val="FFFFFF"/>
          </a:solidFill>
          <a:ln w="9525">
            <a:solidFill>
              <a:srgbClr val="D9E0EC"/>
            </a:solidFill>
          </a:ln>
        </p:spPr>
        <p:txBody>
          <a:bodyPr rtlCol="0" anchor="ctr"/>
          <a:lstStyle/>
          <a:p/>
        </p:txBody>
      </p:sp>
      <p:sp>
        <p:nvSpPr>
          <p:cNvPr id="65" name="TextBox 64"/>
          <p:cNvSpPr txBox="1"/>
          <p:nvPr/>
        </p:nvSpPr>
        <p:spPr>
          <a:xfrm>
            <a:off x="13213080" y="4983480"/>
            <a:ext cx="4142231" cy="292608"/>
          </a:xfrm>
          <a:prstGeom prst="rect">
            <a:avLst/>
          </a:prstGeom>
          <a:noFill/>
        </p:spPr>
        <p:txBody>
          <a:bodyPr wrap="square" anchor="t" lIns="0" rIns="0" tIns="0" bIns="0">
            <a:spAutoFit/>
          </a:bodyPr>
          <a:lstStyle/>
          <a:p>
            <a:pPr algn="l">
              <a:lnSpc>
                <a:spcPct val="112000"/>
              </a:lnSpc>
            </a:pPr>
            <a:r>
              <a:rPr sz="1400" b="1" i="0">
                <a:solidFill>
                  <a:srgbClr val="0B2A6B"/>
                </a:solidFill>
                <a:latin typeface="Pretendard"/>
                <a:ea typeface="Pretendard"/>
                <a:cs typeface="Pretendard"/>
              </a:rPr>
              <a:t>동작 프로토타입 화면</a:t>
            </a:r>
          </a:p>
        </p:txBody>
      </p:sp>
      <p:pic>
        <p:nvPicPr>
          <p:cNvPr id="66" name="Picture 65" descr="app_shot.png"/>
          <p:cNvPicPr>
            <a:picLocks noChangeAspect="1"/>
          </p:cNvPicPr>
          <p:nvPr/>
        </p:nvPicPr>
        <p:blipFill>
          <a:blip r:embed="rId3"/>
          <a:stretch>
            <a:fillRect/>
          </a:stretch>
        </p:blipFill>
        <p:spPr>
          <a:xfrm>
            <a:off x="13213080" y="5376672"/>
            <a:ext cx="4142231" cy="3264407"/>
          </a:xfrm>
          <a:prstGeom prst="rect">
            <a:avLst/>
          </a:prstGeom>
          <a:ln w="9525">
            <a:solidFill>
              <a:srgbClr val="D9E0EC"/>
            </a:solidFill>
          </a:ln>
        </p:spPr>
      </p:pic>
      <p:sp>
        <p:nvSpPr>
          <p:cNvPr id="67" name="TextBox 66"/>
          <p:cNvSpPr txBox="1"/>
          <p:nvPr/>
        </p:nvSpPr>
        <p:spPr>
          <a:xfrm>
            <a:off x="13213080" y="8686800"/>
            <a:ext cx="4142231" cy="457200"/>
          </a:xfrm>
          <a:prstGeom prst="rect">
            <a:avLst/>
          </a:prstGeom>
          <a:noFill/>
        </p:spPr>
        <p:txBody>
          <a:bodyPr wrap="square" anchor="t" lIns="0" rIns="0" tIns="0" bIns="0">
            <a:spAutoFit/>
          </a:bodyPr>
          <a:lstStyle/>
          <a:p>
            <a:pPr algn="l">
              <a:lnSpc>
                <a:spcPct val="112000"/>
              </a:lnSpc>
            </a:pPr>
            <a:r>
              <a:rPr sz="1050" b="0" i="0">
                <a:solidFill>
                  <a:srgbClr val="5B6B8C"/>
                </a:solidFill>
                <a:latin typeface="Pretendard"/>
                <a:ea typeface="Pretendard"/>
                <a:cs typeface="Pretendard"/>
              </a:rPr>
              <a:t>앱 실제 화면(2026.09.09판) · 합성 RT 필름에 AI 후보를 주황색으로 표시 · 왼쪽은 클릭 도구, 아래는 결함 후보 목록(종류 확정·채택·기각)</a:t>
            </a:r>
          </a:p>
        </p:txBody>
      </p:sp>
      <p:sp>
        <p:nvSpPr>
          <p:cNvPr id="68" name="TextBox 67"/>
          <p:cNvSpPr txBox="1"/>
          <p:nvPr/>
        </p:nvSpPr>
        <p:spPr>
          <a:xfrm>
            <a:off x="4800600" y="9299448"/>
            <a:ext cx="12874752" cy="502920"/>
          </a:xfrm>
          <a:prstGeom prst="rect">
            <a:avLst/>
          </a:prstGeom>
          <a:noFill/>
        </p:spPr>
        <p:txBody>
          <a:bodyPr wrap="square" anchor="t" lIns="0" rIns="0" tIns="0" bIns="0">
            <a:spAutoFit/>
          </a:bodyPr>
          <a:lstStyle/>
          <a:p>
            <a:pPr algn="l">
              <a:lnSpc>
                <a:spcPct val="108000"/>
              </a:lnSpc>
            </a:pPr>
            <a:r>
              <a:rPr sz="850" b="0" i="0">
                <a:solidFill>
                  <a:srgbClr val="5B6B8C"/>
                </a:solidFill>
                <a:latin typeface="Pretendard"/>
                <a:ea typeface="Pretendard"/>
                <a:cs typeface="Pretendard"/>
              </a:rPr>
              <a:t>참고  [1] rt-workbench 저장소(2026.09 기준: 자동 테스트 tests/ · 전 과정 점검 scripts/demo_e2e.py · 탐지 측정 scripts/eval_detector.py)  ·  [2] IACS UR W33 Rev.1/Corr.1(2021) §8.2·§8.5  ·  화면은 앱을 실제로 캡처한 것입니다(2026.09.09판).</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2F5FA"/>
        </a:solidFill>
        <a:effectLst/>
      </p:bgPr>
    </p:bg>
    <p:spTree>
      <p:nvGrpSpPr>
        <p:cNvPr id="1" name=""/>
        <p:cNvGrpSpPr/>
        <p:nvPr/>
      </p:nvGrpSpPr>
      <p:grpSpPr>
        <a:xfrm>
          <a:off x="0" y="0"/>
          <a:ext cx="0" cy="0"/>
          <a:chOff x="0" y="0"/>
          <a:chExt cx="0" cy="0"/>
        </a:xfrm>
      </p:grpSpPr>
      <p:sp>
        <p:nvSpPr>
          <p:cNvPr id="2" name="Shape 0"/>
          <p:cNvSpPr/>
          <p:nvPr/>
        </p:nvSpPr>
        <p:spPr>
          <a:xfrm>
            <a:off x="0" y="0"/>
            <a:ext cx="4191000" cy="10287000"/>
          </a:xfrm>
          <a:prstGeom prst="rect">
            <a:avLst/>
          </a:prstGeom>
          <a:solidFill>
            <a:srgbClr val="0B2A6B"/>
          </a:solidFill>
          <a:ln/>
        </p:spPr>
        <p:txBody>
          <a:bodyPr/>
          <a:lstStyle/>
          <a:p>
            <a:endParaRPr lang="ko-KR" altLang="en-US"/>
          </a:p>
        </p:txBody>
      </p:sp>
      <p:sp>
        <p:nvSpPr>
          <p:cNvPr id="3" name="Text 1"/>
          <p:cNvSpPr/>
          <p:nvPr/>
        </p:nvSpPr>
        <p:spPr>
          <a:xfrm>
            <a:off x="571500" y="685800"/>
            <a:ext cx="924669" cy="603796"/>
          </a:xfrm>
          <a:prstGeom prst="rect">
            <a:avLst/>
          </a:prstGeom>
          <a:noFill/>
          <a:ln/>
        </p:spPr>
        <p:txBody>
          <a:bodyPr wrap="square" lIns="25400" tIns="25400" rIns="25400" bIns="25400" rtlCol="0" anchor="t">
            <a:normAutofit/>
          </a:bodyPr>
          <a:lstStyle/>
          <a:p>
            <a:pPr marL="0" indent="0" algn="l">
              <a:lnSpc>
                <a:spcPct val="77143"/>
              </a:lnSpc>
              <a:buNone/>
            </a:pPr>
            <a:r>
              <a:rPr lang="en-US" sz="4950" b="1" dirty="0">
                <a:solidFill>
                  <a:srgbClr val="4FD0F5"/>
                </a:solidFill>
                <a:latin typeface="Pretendard" pitchFamily="34" charset="0"/>
                <a:ea typeface="Pretendard" pitchFamily="34" charset="-122"/>
                <a:cs typeface="Pretendard" pitchFamily="34" charset="-120"/>
              </a:rPr>
              <a:t>04</a:t>
            </a:r>
            <a:endParaRPr lang="en-US" sz="4950" dirty="0"/>
          </a:p>
        </p:txBody>
      </p:sp>
      <p:sp>
        <p:nvSpPr>
          <p:cNvPr id="4" name="Shape 2"/>
          <p:cNvSpPr/>
          <p:nvPr/>
        </p:nvSpPr>
        <p:spPr>
          <a:xfrm>
            <a:off x="1648569" y="1028700"/>
            <a:ext cx="533400" cy="28575"/>
          </a:xfrm>
          <a:prstGeom prst="rect">
            <a:avLst/>
          </a:prstGeom>
          <a:solidFill>
            <a:srgbClr val="7FDCFF">
              <a:alpha val="50000"/>
            </a:srgbClr>
          </a:solidFill>
          <a:ln/>
        </p:spPr>
        <p:txBody>
          <a:bodyPr/>
          <a:lstStyle/>
          <a:p>
            <a:endParaRPr lang="ko-KR" altLang="en-US"/>
          </a:p>
        </p:txBody>
      </p:sp>
      <p:sp>
        <p:nvSpPr>
          <p:cNvPr id="5" name="Text 3"/>
          <p:cNvSpPr/>
          <p:nvPr/>
        </p:nvSpPr>
        <p:spPr>
          <a:xfrm>
            <a:off x="571500" y="1613446"/>
            <a:ext cx="3296412" cy="1089422"/>
          </a:xfrm>
          <a:prstGeom prst="rect">
            <a:avLst/>
          </a:prstGeom>
          <a:noFill/>
          <a:ln/>
        </p:spPr>
        <p:txBody>
          <a:bodyPr wrap="square" lIns="25400" tIns="25400" rIns="25400" bIns="25400" rtlCol="0" anchor="t">
            <a:normAutofit lnSpcReduction="10000"/>
          </a:bodyPr>
          <a:lstStyle/>
          <a:p>
            <a:pPr marL="0" indent="0" algn="l">
              <a:lnSpc>
                <a:spcPct val="102222"/>
              </a:lnSpc>
              <a:buNone/>
            </a:pPr>
            <a:r>
              <a:rPr lang="en-US" sz="3450" b="1" kern="0" spc="-69" dirty="0">
                <a:solidFill>
                  <a:srgbClr val="FFFFFF"/>
                </a:solidFill>
                <a:latin typeface="Pretendard" pitchFamily="34" charset="0"/>
                <a:ea typeface="Pretendard" pitchFamily="34" charset="-122"/>
                <a:cs typeface="Pretendard" pitchFamily="34" charset="-120"/>
              </a:rPr>
              <a:t>필요 </a:t>
            </a:r>
            <a:r>
              <a:rPr lang="en-US" sz="3450" b="1" kern="0" spc="-69" dirty="0" err="1">
                <a:solidFill>
                  <a:srgbClr val="FFFFFF"/>
                </a:solidFill>
                <a:latin typeface="Pretendard" pitchFamily="34" charset="0"/>
                <a:ea typeface="Pretendard" pitchFamily="34" charset="-122"/>
                <a:cs typeface="Pretendard" pitchFamily="34" charset="-120"/>
              </a:rPr>
              <a:t>데이터</a:t>
            </a:r>
            <a:r>
              <a:rPr lang="en-US" sz="3450" b="1" kern="0" spc="-69" dirty="0">
                <a:solidFill>
                  <a:srgbClr val="FFFFFF"/>
                </a:solidFill>
                <a:latin typeface="Pretendard" pitchFamily="34" charset="0"/>
                <a:ea typeface="Pretendard" pitchFamily="34" charset="-122"/>
                <a:cs typeface="Pretendard" pitchFamily="34" charset="-120"/>
              </a:rPr>
              <a:t> 및</a:t>
            </a:r>
          </a:p>
          <a:p>
            <a:pPr marL="0" indent="0" algn="l">
              <a:lnSpc>
                <a:spcPct val="102222"/>
              </a:lnSpc>
              <a:buNone/>
            </a:pPr>
            <a:r>
              <a:rPr lang="en-US" sz="3450" b="1" kern="0" spc="-69" dirty="0" err="1">
                <a:solidFill>
                  <a:srgbClr val="FFFFFF"/>
                </a:solidFill>
                <a:latin typeface="Pretendard" pitchFamily="34" charset="0"/>
                <a:ea typeface="Pretendard" pitchFamily="34" charset="-122"/>
                <a:cs typeface="Pretendard" pitchFamily="34" charset="-120"/>
              </a:rPr>
              <a:t>확보</a:t>
            </a:r>
            <a:r>
              <a:rPr lang="en-US" sz="3450" b="1" kern="0" spc="-69" dirty="0">
                <a:solidFill>
                  <a:srgbClr val="FFFFFF"/>
                </a:solidFill>
                <a:latin typeface="Pretendard" pitchFamily="34" charset="0"/>
                <a:ea typeface="Pretendard" pitchFamily="34" charset="-122"/>
                <a:cs typeface="Pretendard" pitchFamily="34" charset="-120"/>
              </a:rPr>
              <a:t> 방안</a:t>
            </a:r>
            <a:endParaRPr lang="en-US" sz="3450" dirty="0"/>
          </a:p>
        </p:txBody>
      </p:sp>
      <p:sp>
        <p:nvSpPr>
          <p:cNvPr id="6" name="Shape 4"/>
          <p:cNvSpPr/>
          <p:nvPr/>
        </p:nvSpPr>
        <p:spPr>
          <a:xfrm>
            <a:off x="571500" y="3026718"/>
            <a:ext cx="3200400" cy="19050"/>
          </a:xfrm>
          <a:prstGeom prst="rect">
            <a:avLst/>
          </a:prstGeom>
          <a:solidFill>
            <a:srgbClr val="7FDCFF">
              <a:alpha val="35000"/>
            </a:srgbClr>
          </a:solidFill>
          <a:ln/>
        </p:spPr>
        <p:txBody>
          <a:bodyPr/>
          <a:lstStyle/>
          <a:p>
            <a:endParaRPr lang="ko-KR" altLang="en-US"/>
          </a:p>
        </p:txBody>
      </p:sp>
      <p:sp>
        <p:nvSpPr>
          <p:cNvPr id="7" name="Text 5"/>
          <p:cNvSpPr/>
          <p:nvPr/>
        </p:nvSpPr>
        <p:spPr>
          <a:xfrm>
            <a:off x="571500" y="3312468"/>
            <a:ext cx="3520440" cy="333375"/>
          </a:xfrm>
          <a:prstGeom prst="rect">
            <a:avLst/>
          </a:prstGeom>
          <a:noFill/>
          <a:ln/>
        </p:spPr>
        <p:txBody>
          <a:bodyPr wrap="square" lIns="25400" tIns="25400" rIns="25400" bIns="25400" rtlCol="0" anchor="t">
            <a:normAutofit/>
          </a:bodyPr>
          <a:lstStyle/>
          <a:p>
            <a:pPr marL="0" indent="0" algn="l">
              <a:buNone/>
            </a:pPr>
            <a:r>
              <a:rPr lang="en-US" sz="2025" b="1" dirty="0">
                <a:solidFill>
                  <a:srgbClr val="7FDCFF"/>
                </a:solidFill>
                <a:latin typeface="Pretendard" pitchFamily="34" charset="0"/>
                <a:ea typeface="Pretendard" pitchFamily="34" charset="-122"/>
                <a:cs typeface="Pretendard" pitchFamily="34" charset="-120"/>
              </a:rPr>
              <a:t>활용 예정 데이터</a:t>
            </a:r>
            <a:endParaRPr lang="en-US" sz="2025" dirty="0"/>
          </a:p>
        </p:txBody>
      </p:sp>
      <p:sp>
        <p:nvSpPr>
          <p:cNvPr id="8" name="Text 6"/>
          <p:cNvSpPr/>
          <p:nvPr/>
        </p:nvSpPr>
        <p:spPr>
          <a:xfrm>
            <a:off x="571500" y="3702993"/>
            <a:ext cx="3296412" cy="700980"/>
          </a:xfrm>
          <a:prstGeom prst="rect">
            <a:avLst/>
          </a:prstGeom>
          <a:noFill/>
          <a:ln/>
        </p:spPr>
        <p:txBody>
          <a:bodyPr wrap="square" lIns="25400" tIns="25400" rIns="25400" bIns="25400" rtlCol="0" anchor="t">
            <a:normAutofit/>
          </a:bodyPr>
          <a:lstStyle/>
          <a:p>
            <a:pPr marL="0" indent="0" algn="l">
              <a:lnSpc>
                <a:spcPct val="120000"/>
              </a:lnSpc>
              <a:buNone/>
            </a:pPr>
            <a:r>
              <a:rPr lang="en-US" sz="1800" dirty="0">
                <a:solidFill>
                  <a:srgbClr val="FFFFFF">
                    <a:alpha val="72000"/>
                  </a:srgbClr>
                </a:solidFill>
                <a:latin typeface="Pretendard" pitchFamily="34" charset="0"/>
                <a:ea typeface="Pretendard" pitchFamily="34" charset="-122"/>
                <a:cs typeface="Pretendard" pitchFamily="34" charset="-120"/>
              </a:rPr>
              <a:t>데이터 유형·형태·규모(예: 설비 센서 로그, 도면 이미지, 텍스트 문서 등)</a:t>
            </a:r>
            <a:endParaRPr lang="en-US" sz="1800" dirty="0"/>
          </a:p>
        </p:txBody>
      </p:sp>
      <p:sp>
        <p:nvSpPr>
          <p:cNvPr id="9" name="Text 7"/>
          <p:cNvSpPr/>
          <p:nvPr/>
        </p:nvSpPr>
        <p:spPr>
          <a:xfrm>
            <a:off x="571500" y="4613523"/>
            <a:ext cx="3520440" cy="333375"/>
          </a:xfrm>
          <a:prstGeom prst="rect">
            <a:avLst/>
          </a:prstGeom>
          <a:noFill/>
          <a:ln/>
        </p:spPr>
        <p:txBody>
          <a:bodyPr wrap="square" lIns="25400" tIns="25400" rIns="25400" bIns="25400" rtlCol="0" anchor="t">
            <a:normAutofit/>
          </a:bodyPr>
          <a:lstStyle/>
          <a:p>
            <a:pPr marL="0" indent="0" algn="l">
              <a:buNone/>
            </a:pPr>
            <a:r>
              <a:rPr lang="en-US" sz="2025" b="1" dirty="0">
                <a:solidFill>
                  <a:srgbClr val="7FDCFF"/>
                </a:solidFill>
                <a:latin typeface="Pretendard" pitchFamily="34" charset="0"/>
                <a:ea typeface="Pretendard" pitchFamily="34" charset="-122"/>
                <a:cs typeface="Pretendard" pitchFamily="34" charset="-120"/>
              </a:rPr>
              <a:t>확보 방법</a:t>
            </a:r>
            <a:endParaRPr lang="en-US" sz="2025" dirty="0"/>
          </a:p>
        </p:txBody>
      </p:sp>
      <p:sp>
        <p:nvSpPr>
          <p:cNvPr id="10" name="Text 8"/>
          <p:cNvSpPr/>
          <p:nvPr/>
        </p:nvSpPr>
        <p:spPr>
          <a:xfrm>
            <a:off x="571500" y="5004048"/>
            <a:ext cx="3296412" cy="700980"/>
          </a:xfrm>
          <a:prstGeom prst="rect">
            <a:avLst/>
          </a:prstGeom>
          <a:noFill/>
          <a:ln/>
        </p:spPr>
        <p:txBody>
          <a:bodyPr wrap="square" lIns="25400" tIns="25400" rIns="25400" bIns="25400" rtlCol="0" anchor="t">
            <a:normAutofit/>
          </a:bodyPr>
          <a:lstStyle/>
          <a:p>
            <a:pPr marL="0" indent="0" algn="l">
              <a:lnSpc>
                <a:spcPct val="120000"/>
              </a:lnSpc>
              <a:buNone/>
            </a:pPr>
            <a:r>
              <a:rPr lang="en-US" sz="1800" dirty="0">
                <a:solidFill>
                  <a:srgbClr val="FFFFFF">
                    <a:alpha val="72000"/>
                  </a:srgbClr>
                </a:solidFill>
                <a:latin typeface="Pretendard" pitchFamily="34" charset="0"/>
                <a:ea typeface="Pretendard" pitchFamily="34" charset="-122"/>
                <a:cs typeface="Pretendard" pitchFamily="34" charset="-120"/>
              </a:rPr>
              <a:t>공개 데이터 / 직접 수집 / 합성 데이터 생성 / 크롤링 등 구체적 경로</a:t>
            </a:r>
            <a:endParaRPr lang="en-US" sz="1800" dirty="0"/>
          </a:p>
        </p:txBody>
      </p:sp>
      <p:sp>
        <p:nvSpPr>
          <p:cNvPr id="11" name="Text 9"/>
          <p:cNvSpPr/>
          <p:nvPr/>
        </p:nvSpPr>
        <p:spPr>
          <a:xfrm>
            <a:off x="571500" y="5914579"/>
            <a:ext cx="3520440" cy="333375"/>
          </a:xfrm>
          <a:prstGeom prst="rect">
            <a:avLst/>
          </a:prstGeom>
          <a:noFill/>
          <a:ln/>
        </p:spPr>
        <p:txBody>
          <a:bodyPr wrap="square" lIns="25400" tIns="25400" rIns="25400" bIns="25400" rtlCol="0" anchor="t">
            <a:normAutofit/>
          </a:bodyPr>
          <a:lstStyle/>
          <a:p>
            <a:pPr marL="0" indent="0" algn="l">
              <a:buNone/>
            </a:pPr>
            <a:r>
              <a:rPr lang="en-US" sz="2025" b="1" dirty="0">
                <a:solidFill>
                  <a:srgbClr val="7FDCFF"/>
                </a:solidFill>
                <a:latin typeface="Pretendard" pitchFamily="34" charset="0"/>
                <a:ea typeface="Pretendard" pitchFamily="34" charset="-122"/>
                <a:cs typeface="Pretendard" pitchFamily="34" charset="-120"/>
              </a:rPr>
              <a:t>대체 방안</a:t>
            </a:r>
            <a:endParaRPr lang="en-US" sz="2025" dirty="0"/>
          </a:p>
        </p:txBody>
      </p:sp>
      <p:sp>
        <p:nvSpPr>
          <p:cNvPr id="12" name="Text 10"/>
          <p:cNvSpPr/>
          <p:nvPr/>
        </p:nvSpPr>
        <p:spPr>
          <a:xfrm>
            <a:off x="571500" y="6305104"/>
            <a:ext cx="3296412" cy="700980"/>
          </a:xfrm>
          <a:prstGeom prst="rect">
            <a:avLst/>
          </a:prstGeom>
          <a:noFill/>
          <a:ln/>
        </p:spPr>
        <p:txBody>
          <a:bodyPr wrap="square" lIns="25400" tIns="25400" rIns="25400" bIns="25400" rtlCol="0" anchor="t">
            <a:normAutofit/>
          </a:bodyPr>
          <a:lstStyle/>
          <a:p>
            <a:pPr marL="0" indent="0" algn="l">
              <a:lnSpc>
                <a:spcPct val="120000"/>
              </a:lnSpc>
              <a:buNone/>
            </a:pPr>
            <a:r>
              <a:rPr lang="en-US" sz="1800" dirty="0">
                <a:solidFill>
                  <a:srgbClr val="FFFFFF">
                    <a:alpha val="72000"/>
                  </a:srgbClr>
                </a:solidFill>
                <a:latin typeface="Pretendard" pitchFamily="34" charset="0"/>
                <a:ea typeface="Pretendard" pitchFamily="34" charset="-122"/>
                <a:cs typeface="Pretendard" pitchFamily="34" charset="-120"/>
              </a:rPr>
              <a:t>데이터 확보가 어려울 경우의 대안 또는 축소 실행안</a:t>
            </a:r>
            <a:endParaRPr lang="en-US" sz="1800" dirty="0"/>
          </a:p>
        </p:txBody>
      </p:sp>
      <p:sp>
        <p:nvSpPr>
          <p:cNvPr id="13" name="Shape 11"/>
          <p:cNvSpPr/>
          <p:nvPr/>
        </p:nvSpPr>
        <p:spPr>
          <a:xfrm>
            <a:off x="4800600" y="1057275"/>
            <a:ext cx="12877800" cy="19050"/>
          </a:xfrm>
          <a:prstGeom prst="rect">
            <a:avLst/>
          </a:prstGeom>
          <a:solidFill>
            <a:srgbClr val="0B2A6B"/>
          </a:solidFill>
          <a:ln/>
        </p:spPr>
        <p:txBody>
          <a:bodyPr/>
          <a:lstStyle/>
          <a:p>
            <a:endParaRPr lang="ko-KR" altLang="en-US"/>
          </a:p>
        </p:txBody>
      </p:sp>
      <p:sp>
        <p:nvSpPr>
          <p:cNvPr id="14" name="Text 12"/>
          <p:cNvSpPr/>
          <p:nvPr/>
        </p:nvSpPr>
        <p:spPr>
          <a:xfrm>
            <a:off x="4800600" y="571500"/>
            <a:ext cx="852041" cy="333375"/>
          </a:xfrm>
          <a:prstGeom prst="rect">
            <a:avLst/>
          </a:prstGeom>
          <a:noFill/>
          <a:ln/>
        </p:spPr>
        <p:txBody>
          <a:bodyPr wrap="square" lIns="25400" tIns="25400" rIns="25400" bIns="25400" rtlCol="0" anchor="t">
            <a:normAutofit/>
          </a:bodyPr>
          <a:lstStyle/>
          <a:p>
            <a:pPr marL="0" indent="0" algn="l">
              <a:buNone/>
            </a:pPr>
            <a:r>
              <a:rPr lang="en-US" sz="1950" b="1" kern="0" spc="351" dirty="0">
                <a:solidFill>
                  <a:srgbClr val="0B2A6B"/>
                </a:solidFill>
                <a:latin typeface="Pretendard" pitchFamily="34" charset="0"/>
                <a:ea typeface="Pretendard" pitchFamily="34" charset="-122"/>
                <a:cs typeface="Pretendard" pitchFamily="34" charset="-120"/>
              </a:rPr>
              <a:t>작성란</a:t>
            </a:r>
            <a:endParaRPr lang="en-US" sz="1950" dirty="0"/>
          </a:p>
        </p:txBody>
      </p:sp>
      <p:sp>
        <p:nvSpPr>
          <p:cNvPr id="15" name="Text 13"/>
          <p:cNvSpPr/>
          <p:nvPr/>
        </p:nvSpPr>
        <p:spPr>
          <a:xfrm>
            <a:off x="15126444" y="571500"/>
            <a:ext cx="2807151" cy="333375"/>
          </a:xfrm>
          <a:prstGeom prst="rect">
            <a:avLst/>
          </a:prstGeom>
          <a:noFill/>
          <a:ln/>
        </p:spPr>
        <p:txBody>
          <a:bodyPr wrap="square" lIns="25400" tIns="25400" rIns="25400" bIns="25400" rtlCol="0" anchor="t">
            <a:normAutofit/>
          </a:bodyPr>
          <a:lstStyle/>
          <a:p>
            <a:pPr marL="0" indent="0" algn="l">
              <a:buNone/>
            </a:pPr>
            <a:r>
              <a:rPr lang="en-US" sz="1950" b="1" dirty="0">
                <a:solidFill>
                  <a:srgbClr val="8B9AB5"/>
                </a:solidFill>
                <a:latin typeface="Pretendard" pitchFamily="34" charset="0"/>
                <a:ea typeface="Pretendard" pitchFamily="34" charset="-122"/>
                <a:cs typeface="Pretendard" pitchFamily="34" charset="-120"/>
              </a:rPr>
              <a:t>2026 K-조선 해커톤 · 05</a:t>
            </a:r>
            <a:endParaRPr lang="en-US" sz="1950" dirty="0"/>
          </a:p>
        </p:txBody>
      </p:sp>
      <p:sp>
        <p:nvSpPr>
          <p:cNvPr id="16" name="Oval 15"/>
          <p:cNvSpPr/>
          <p:nvPr/>
        </p:nvSpPr>
        <p:spPr>
          <a:xfrm>
            <a:off x="4800600" y="1472184"/>
            <a:ext cx="146304" cy="146304"/>
          </a:xfrm>
          <a:prstGeom prst="ellipse">
            <a:avLst/>
          </a:prstGeom>
          <a:solidFill>
            <a:srgbClr val="4FD0F5"/>
          </a:solidFill>
          <a:ln>
            <a:noFill/>
          </a:ln>
        </p:spPr>
        <p:txBody>
          <a:bodyPr rtlCol="0" anchor="ctr"/>
          <a:lstStyle/>
          <a:p>
            <a:pPr algn="ctr"/>
          </a:p>
        </p:txBody>
      </p:sp>
      <p:sp>
        <p:nvSpPr>
          <p:cNvPr id="17" name="TextBox 16"/>
          <p:cNvSpPr txBox="1"/>
          <p:nvPr/>
        </p:nvSpPr>
        <p:spPr>
          <a:xfrm>
            <a:off x="5047488" y="1371600"/>
            <a:ext cx="12627864" cy="384048"/>
          </a:xfrm>
          <a:prstGeom prst="rect">
            <a:avLst/>
          </a:prstGeom>
          <a:noFill/>
        </p:spPr>
        <p:txBody>
          <a:bodyPr wrap="square" anchor="t" lIns="0" rIns="0" tIns="0" bIns="0">
            <a:spAutoFit/>
          </a:bodyPr>
          <a:lstStyle/>
          <a:p>
            <a:pPr algn="l">
              <a:lnSpc>
                <a:spcPct val="112000"/>
              </a:lnSpc>
            </a:pPr>
            <a:r>
              <a:rPr sz="2000" b="1" i="0">
                <a:solidFill>
                  <a:srgbClr val="0B2A6B"/>
                </a:solidFill>
                <a:latin typeface="Pretendard"/>
                <a:ea typeface="Pretendard"/>
                <a:cs typeface="Pretendard"/>
              </a:rPr>
              <a:t>활용 예정 데이터</a:t>
            </a:r>
          </a:p>
        </p:txBody>
      </p:sp>
      <p:sp>
        <p:nvSpPr>
          <p:cNvPr id="18" name="Rounded Rectangle 17"/>
          <p:cNvSpPr/>
          <p:nvPr/>
        </p:nvSpPr>
        <p:spPr>
          <a:xfrm>
            <a:off x="4800600" y="1874519"/>
            <a:ext cx="4108704" cy="2606040"/>
          </a:xfrm>
          <a:prstGeom prst="roundRect">
            <a:avLst>
              <a:gd name="adj" fmla="val 3500"/>
            </a:avLst>
          </a:prstGeom>
          <a:solidFill>
            <a:srgbClr val="FFFFFF"/>
          </a:solidFill>
          <a:ln w="9525">
            <a:solidFill>
              <a:srgbClr val="D9E0EC"/>
            </a:solidFill>
          </a:ln>
        </p:spPr>
        <p:txBody>
          <a:bodyPr rtlCol="0" anchor="ctr"/>
          <a:lstStyle/>
          <a:p/>
        </p:txBody>
      </p:sp>
      <p:sp>
        <p:nvSpPr>
          <p:cNvPr id="19" name="TextBox 18"/>
          <p:cNvSpPr txBox="1"/>
          <p:nvPr/>
        </p:nvSpPr>
        <p:spPr>
          <a:xfrm>
            <a:off x="5074920" y="2130552"/>
            <a:ext cx="3560064" cy="365760"/>
          </a:xfrm>
          <a:prstGeom prst="rect">
            <a:avLst/>
          </a:prstGeom>
          <a:noFill/>
        </p:spPr>
        <p:txBody>
          <a:bodyPr wrap="square" anchor="t" lIns="0" rIns="0" tIns="0" bIns="0">
            <a:spAutoFit/>
          </a:bodyPr>
          <a:lstStyle/>
          <a:p>
            <a:pPr algn="l">
              <a:lnSpc>
                <a:spcPct val="112000"/>
              </a:lnSpc>
            </a:pPr>
            <a:r>
              <a:rPr sz="1600" b="1" i="0">
                <a:solidFill>
                  <a:srgbClr val="0B2A6B"/>
                </a:solidFill>
                <a:latin typeface="Pretendard"/>
                <a:ea typeface="Pretendard"/>
                <a:cs typeface="Pretendard"/>
              </a:rPr>
              <a:t>AI Hub 용접 AI 학습 데이터</a:t>
            </a:r>
          </a:p>
        </p:txBody>
      </p:sp>
      <p:sp>
        <p:nvSpPr>
          <p:cNvPr id="20" name="Rounded Rectangle 19"/>
          <p:cNvSpPr/>
          <p:nvPr/>
        </p:nvSpPr>
        <p:spPr>
          <a:xfrm>
            <a:off x="5074920" y="2587752"/>
            <a:ext cx="3108960" cy="329184"/>
          </a:xfrm>
          <a:prstGeom prst="roundRect">
            <a:avLst>
              <a:gd name="adj" fmla="val 50000"/>
            </a:avLst>
          </a:prstGeom>
          <a:solidFill>
            <a:srgbClr val="E3F6FD"/>
          </a:solidFill>
          <a:ln>
            <a:noFill/>
          </a:ln>
        </p:spPr>
        <p:txBody>
          <a:bodyPr rtlCol="0" anchor="ctr" lIns="73152" rIns="73152" tIns="0" bIns="0"/>
          <a:lstStyle/>
          <a:p>
            <a:pPr algn="ctr"/>
            <a:r>
              <a:rPr sz="1100" b="1" i="0">
                <a:solidFill>
                  <a:srgbClr val="0B2A6B"/>
                </a:solidFill>
                <a:latin typeface="Pretendard"/>
                <a:ea typeface="Pretendard"/>
                <a:cs typeface="Pretendard"/>
              </a:rPr>
              <a:t>AI Hub 71761 · NIA 2023[3]</a:t>
            </a:r>
          </a:p>
        </p:txBody>
      </p:sp>
      <p:sp>
        <p:nvSpPr>
          <p:cNvPr id="21" name="TextBox 20"/>
          <p:cNvSpPr txBox="1"/>
          <p:nvPr/>
        </p:nvSpPr>
        <p:spPr>
          <a:xfrm>
            <a:off x="5074920" y="2953511"/>
            <a:ext cx="3560064" cy="1280160"/>
          </a:xfrm>
          <a:prstGeom prst="rect">
            <a:avLst/>
          </a:prstGeom>
          <a:noFill/>
        </p:spPr>
        <p:txBody>
          <a:bodyPr wrap="square" anchor="t" lIns="0" rIns="0" tIns="0" bIns="0">
            <a:spAutoFit/>
          </a:bodyPr>
          <a:lstStyle/>
          <a:p>
            <a:pPr algn="l">
              <a:lnSpc>
                <a:spcPct val="106000"/>
              </a:lnSpc>
            </a:pPr>
            <a:r>
              <a:rPr sz="1000" b="0" i="0">
                <a:solidFill>
                  <a:srgbClr val="1F2A44"/>
                </a:solidFill>
                <a:latin typeface="Pretendard"/>
                <a:ea typeface="Pretendard"/>
                <a:cs typeface="Pretendard"/>
              </a:rPr>
              <a:t>「창원 지역 특화산업 고도화 및 디지털 전환 촉진을 위한 용접 AI 학습 데이터」입니다. 강재와 알루미늄 용접 사진 144,019장이고, 그중 RT 사진이 70,000장입니다(데이터셋 페이지 기준). 결함 자리를 다각형으로 그린 라벨이 함께 있고, 공식 예시 모델은 YOLOv5x-seg입니다.</a:t>
            </a:r>
          </a:p>
        </p:txBody>
      </p:sp>
      <p:sp>
        <p:nvSpPr>
          <p:cNvPr id="22" name="Rounded Rectangle 21"/>
          <p:cNvSpPr/>
          <p:nvPr/>
        </p:nvSpPr>
        <p:spPr>
          <a:xfrm>
            <a:off x="5074920" y="3913632"/>
            <a:ext cx="2011680" cy="329184"/>
          </a:xfrm>
          <a:prstGeom prst="roundRect">
            <a:avLst>
              <a:gd name="adj" fmla="val 50000"/>
            </a:avLst>
          </a:prstGeom>
          <a:solidFill>
            <a:srgbClr val="0B2A6B"/>
          </a:solidFill>
          <a:ln>
            <a:noFill/>
          </a:ln>
        </p:spPr>
        <p:txBody>
          <a:bodyPr rtlCol="0" anchor="ctr" lIns="73152" rIns="73152" tIns="0" bIns="0"/>
          <a:lstStyle/>
          <a:p>
            <a:pPr algn="ctr"/>
            <a:r>
              <a:rPr sz="1150" b="1" i="0">
                <a:solidFill>
                  <a:srgbClr val="FFFFFF"/>
                </a:solidFill>
                <a:latin typeface="Pretendard"/>
                <a:ea typeface="Pretendard"/>
                <a:cs typeface="Pretendard"/>
              </a:rPr>
              <a:t>주력 학습</a:t>
            </a:r>
          </a:p>
        </p:txBody>
      </p:sp>
      <p:sp>
        <p:nvSpPr>
          <p:cNvPr id="23" name="Rounded Rectangle 22"/>
          <p:cNvSpPr/>
          <p:nvPr/>
        </p:nvSpPr>
        <p:spPr>
          <a:xfrm>
            <a:off x="9183624" y="1874519"/>
            <a:ext cx="4108704" cy="2606040"/>
          </a:xfrm>
          <a:prstGeom prst="roundRect">
            <a:avLst>
              <a:gd name="adj" fmla="val 3500"/>
            </a:avLst>
          </a:prstGeom>
          <a:solidFill>
            <a:srgbClr val="FFFFFF"/>
          </a:solidFill>
          <a:ln w="9525">
            <a:solidFill>
              <a:srgbClr val="D9E0EC"/>
            </a:solidFill>
          </a:ln>
        </p:spPr>
        <p:txBody>
          <a:bodyPr rtlCol="0" anchor="ctr"/>
          <a:lstStyle/>
          <a:p/>
        </p:txBody>
      </p:sp>
      <p:sp>
        <p:nvSpPr>
          <p:cNvPr id="24" name="TextBox 23"/>
          <p:cNvSpPr txBox="1"/>
          <p:nvPr/>
        </p:nvSpPr>
        <p:spPr>
          <a:xfrm>
            <a:off x="9457944" y="2130552"/>
            <a:ext cx="3560064" cy="365760"/>
          </a:xfrm>
          <a:prstGeom prst="rect">
            <a:avLst/>
          </a:prstGeom>
          <a:noFill/>
        </p:spPr>
        <p:txBody>
          <a:bodyPr wrap="square" anchor="t" lIns="0" rIns="0" tIns="0" bIns="0">
            <a:spAutoFit/>
          </a:bodyPr>
          <a:lstStyle/>
          <a:p>
            <a:pPr algn="l">
              <a:lnSpc>
                <a:spcPct val="112000"/>
              </a:lnSpc>
            </a:pPr>
            <a:r>
              <a:rPr sz="1600" b="1" i="0">
                <a:solidFill>
                  <a:srgbClr val="0B2A6B"/>
                </a:solidFill>
                <a:latin typeface="Pretendard"/>
                <a:ea typeface="Pretendard"/>
                <a:cs typeface="Pretendard"/>
              </a:rPr>
              <a:t>RIAWELC</a:t>
            </a:r>
          </a:p>
        </p:txBody>
      </p:sp>
      <p:sp>
        <p:nvSpPr>
          <p:cNvPr id="25" name="Rounded Rectangle 24"/>
          <p:cNvSpPr/>
          <p:nvPr/>
        </p:nvSpPr>
        <p:spPr>
          <a:xfrm>
            <a:off x="9457944" y="2587752"/>
            <a:ext cx="3108960" cy="329184"/>
          </a:xfrm>
          <a:prstGeom prst="roundRect">
            <a:avLst>
              <a:gd name="adj" fmla="val 50000"/>
            </a:avLst>
          </a:prstGeom>
          <a:solidFill>
            <a:srgbClr val="E3F6FD"/>
          </a:solidFill>
          <a:ln>
            <a:noFill/>
          </a:ln>
        </p:spPr>
        <p:txBody>
          <a:bodyPr rtlCol="0" anchor="ctr" lIns="73152" rIns="73152" tIns="0" bIns="0"/>
          <a:lstStyle/>
          <a:p>
            <a:pPr algn="ctr"/>
            <a:r>
              <a:rPr sz="1100" b="1" i="0">
                <a:solidFill>
                  <a:srgbClr val="0B2A6B"/>
                </a:solidFill>
                <a:latin typeface="Pretendard"/>
                <a:ea typeface="Pretendard"/>
                <a:cs typeface="Pretendard"/>
              </a:rPr>
              <a:t>GitHub 공개 · Totino 외 2022[2]</a:t>
            </a:r>
          </a:p>
        </p:txBody>
      </p:sp>
      <p:sp>
        <p:nvSpPr>
          <p:cNvPr id="26" name="TextBox 25"/>
          <p:cNvSpPr txBox="1"/>
          <p:nvPr/>
        </p:nvSpPr>
        <p:spPr>
          <a:xfrm>
            <a:off x="9457944" y="2953511"/>
            <a:ext cx="3560064" cy="1280160"/>
          </a:xfrm>
          <a:prstGeom prst="rect">
            <a:avLst/>
          </a:prstGeom>
          <a:noFill/>
        </p:spPr>
        <p:txBody>
          <a:bodyPr wrap="square" anchor="t" lIns="0" rIns="0" tIns="0" bIns="0">
            <a:spAutoFit/>
          </a:bodyPr>
          <a:lstStyle/>
          <a:p>
            <a:pPr algn="l">
              <a:lnSpc>
                <a:spcPct val="106000"/>
              </a:lnSpc>
            </a:pPr>
            <a:r>
              <a:rPr sz="1000" b="0" i="0">
                <a:solidFill>
                  <a:srgbClr val="1F2A44"/>
                </a:solidFill>
                <a:latin typeface="Pretendard"/>
                <a:ea typeface="Pretendard"/>
                <a:cs typeface="Pretendard"/>
              </a:rPr>
              <a:t>224×224 크기로 잘라 놓은 사진 24,407장입니다. 균열 7,635장, 기공 6,320장, 용입부족 4,452장, 정상 6,000장으로 나뉩니다. 기공은 용접 속 기포 구멍이고, 용입부족은 쇳물이 이음매 뿌리까지 차지 않은 상태입니다. 결함 위치 상자는 없고, 2000×8640 산업용 원본에서 잘라낸 조각입니다.</a:t>
            </a:r>
          </a:p>
        </p:txBody>
      </p:sp>
      <p:sp>
        <p:nvSpPr>
          <p:cNvPr id="27" name="Rounded Rectangle 26"/>
          <p:cNvSpPr/>
          <p:nvPr/>
        </p:nvSpPr>
        <p:spPr>
          <a:xfrm>
            <a:off x="9457944" y="3913632"/>
            <a:ext cx="2011680" cy="329184"/>
          </a:xfrm>
          <a:prstGeom prst="roundRect">
            <a:avLst>
              <a:gd name="adj" fmla="val 50000"/>
            </a:avLst>
          </a:prstGeom>
          <a:solidFill>
            <a:srgbClr val="0B2A6B"/>
          </a:solidFill>
          <a:ln>
            <a:noFill/>
          </a:ln>
        </p:spPr>
        <p:txBody>
          <a:bodyPr rtlCol="0" anchor="ctr" lIns="73152" rIns="73152" tIns="0" bIns="0"/>
          <a:lstStyle/>
          <a:p>
            <a:pPr algn="ctr"/>
            <a:r>
              <a:rPr sz="1150" b="1" i="0">
                <a:solidFill>
                  <a:srgbClr val="FFFFFF"/>
                </a:solidFill>
                <a:latin typeface="Pretendard"/>
                <a:ea typeface="Pretendard"/>
                <a:cs typeface="Pretendard"/>
              </a:rPr>
              <a:t>사전학습·분류 검증</a:t>
            </a:r>
          </a:p>
        </p:txBody>
      </p:sp>
      <p:sp>
        <p:nvSpPr>
          <p:cNvPr id="28" name="Rounded Rectangle 27"/>
          <p:cNvSpPr/>
          <p:nvPr/>
        </p:nvSpPr>
        <p:spPr>
          <a:xfrm>
            <a:off x="13566648" y="1874519"/>
            <a:ext cx="4108704" cy="2606040"/>
          </a:xfrm>
          <a:prstGeom prst="roundRect">
            <a:avLst>
              <a:gd name="adj" fmla="val 3500"/>
            </a:avLst>
          </a:prstGeom>
          <a:solidFill>
            <a:srgbClr val="FFFFFF"/>
          </a:solidFill>
          <a:ln w="9525">
            <a:solidFill>
              <a:srgbClr val="D9E0EC"/>
            </a:solidFill>
          </a:ln>
        </p:spPr>
        <p:txBody>
          <a:bodyPr rtlCol="0" anchor="ctr"/>
          <a:lstStyle/>
          <a:p/>
        </p:txBody>
      </p:sp>
      <p:sp>
        <p:nvSpPr>
          <p:cNvPr id="29" name="TextBox 28"/>
          <p:cNvSpPr txBox="1"/>
          <p:nvPr/>
        </p:nvSpPr>
        <p:spPr>
          <a:xfrm>
            <a:off x="13840968" y="2130552"/>
            <a:ext cx="3560064" cy="365760"/>
          </a:xfrm>
          <a:prstGeom prst="rect">
            <a:avLst/>
          </a:prstGeom>
          <a:noFill/>
        </p:spPr>
        <p:txBody>
          <a:bodyPr wrap="square" anchor="t" lIns="0" rIns="0" tIns="0" bIns="0">
            <a:spAutoFit/>
          </a:bodyPr>
          <a:lstStyle/>
          <a:p>
            <a:pPr algn="l">
              <a:lnSpc>
                <a:spcPct val="112000"/>
              </a:lnSpc>
            </a:pPr>
            <a:r>
              <a:rPr sz="1600" b="1" i="0">
                <a:solidFill>
                  <a:srgbClr val="0B2A6B"/>
                </a:solidFill>
                <a:latin typeface="Pretendard"/>
                <a:ea typeface="Pretendard"/>
                <a:cs typeface="Pretendard"/>
              </a:rPr>
              <a:t>GDXray Welds</a:t>
            </a:r>
          </a:p>
        </p:txBody>
      </p:sp>
      <p:sp>
        <p:nvSpPr>
          <p:cNvPr id="30" name="Rounded Rectangle 29"/>
          <p:cNvSpPr/>
          <p:nvPr/>
        </p:nvSpPr>
        <p:spPr>
          <a:xfrm>
            <a:off x="13840968" y="2587752"/>
            <a:ext cx="3108960" cy="329184"/>
          </a:xfrm>
          <a:prstGeom prst="roundRect">
            <a:avLst>
              <a:gd name="adj" fmla="val 50000"/>
            </a:avLst>
          </a:prstGeom>
          <a:solidFill>
            <a:srgbClr val="E3F6FD"/>
          </a:solidFill>
          <a:ln>
            <a:noFill/>
          </a:ln>
        </p:spPr>
        <p:txBody>
          <a:bodyPr rtlCol="0" anchor="ctr" lIns="73152" rIns="73152" tIns="0" bIns="0"/>
          <a:lstStyle/>
          <a:p>
            <a:pPr algn="ctr"/>
            <a:r>
              <a:rPr sz="1100" b="1" i="0">
                <a:solidFill>
                  <a:srgbClr val="0B2A6B"/>
                </a:solidFill>
                <a:latin typeface="Pretendard"/>
                <a:ea typeface="Pretendard"/>
                <a:cs typeface="Pretendard"/>
              </a:rPr>
              <a:t>Mery 외 2015[1] · BAM 제공</a:t>
            </a:r>
          </a:p>
        </p:txBody>
      </p:sp>
      <p:sp>
        <p:nvSpPr>
          <p:cNvPr id="31" name="TextBox 30"/>
          <p:cNvSpPr txBox="1"/>
          <p:nvPr/>
        </p:nvSpPr>
        <p:spPr>
          <a:xfrm>
            <a:off x="13840968" y="2953511"/>
            <a:ext cx="3560064" cy="1280160"/>
          </a:xfrm>
          <a:prstGeom prst="rect">
            <a:avLst/>
          </a:prstGeom>
          <a:noFill/>
        </p:spPr>
        <p:txBody>
          <a:bodyPr wrap="square" anchor="t" lIns="0" rIns="0" tIns="0" bIns="0">
            <a:spAutoFit/>
          </a:bodyPr>
          <a:lstStyle/>
          <a:p>
            <a:pPr algn="l">
              <a:lnSpc>
                <a:spcPct val="106000"/>
              </a:lnSpc>
            </a:pPr>
            <a:r>
              <a:rPr sz="1000" b="0" i="0">
                <a:solidFill>
                  <a:srgbClr val="1F2A44"/>
                </a:solidFill>
                <a:latin typeface="Pretendard"/>
                <a:ea typeface="Pretendard"/>
                <a:cs typeface="Pretendard"/>
              </a:rPr>
              <a:t>세 묶음 88장입니다. 원본 10장(W0001), 정답 마스크 10장(W0002, 결함 641개의 상자와 흑백 정답), 독일 BAM 연구소 비교시험 필름 68장(W0003)으로 이뤄져 있습니다(논문 표 기준, 본문은 67장. 촬영 ISO 17636-1 A급, 스캔 ISO 14096-2 DB급). 연구와 교육 목적으로만 쓸 수 있습니다.</a:t>
            </a:r>
          </a:p>
        </p:txBody>
      </p:sp>
      <p:sp>
        <p:nvSpPr>
          <p:cNvPr id="32" name="Rounded Rectangle 31"/>
          <p:cNvSpPr/>
          <p:nvPr/>
        </p:nvSpPr>
        <p:spPr>
          <a:xfrm>
            <a:off x="13840968" y="3913632"/>
            <a:ext cx="2011680" cy="329184"/>
          </a:xfrm>
          <a:prstGeom prst="roundRect">
            <a:avLst>
              <a:gd name="adj" fmla="val 50000"/>
            </a:avLst>
          </a:prstGeom>
          <a:solidFill>
            <a:srgbClr val="0B2A6B"/>
          </a:solidFill>
          <a:ln>
            <a:noFill/>
          </a:ln>
        </p:spPr>
        <p:txBody>
          <a:bodyPr rtlCol="0" anchor="ctr" lIns="73152" rIns="73152" tIns="0" bIns="0"/>
          <a:lstStyle/>
          <a:p>
            <a:pPr algn="ctr"/>
            <a:r>
              <a:rPr sz="1150" b="1" i="0">
                <a:solidFill>
                  <a:srgbClr val="FFFFFF"/>
                </a:solidFill>
                <a:latin typeface="Pretendard"/>
                <a:ea typeface="Pretendard"/>
                <a:cs typeface="Pretendard"/>
              </a:rPr>
              <a:t>탐지 교차 검증</a:t>
            </a:r>
          </a:p>
        </p:txBody>
      </p:sp>
      <p:sp>
        <p:nvSpPr>
          <p:cNvPr id="33" name="TextBox 32"/>
          <p:cNvSpPr txBox="1"/>
          <p:nvPr/>
        </p:nvSpPr>
        <p:spPr>
          <a:xfrm>
            <a:off x="4800600" y="4572000"/>
            <a:ext cx="12874752" cy="566928"/>
          </a:xfrm>
          <a:prstGeom prst="rect">
            <a:avLst/>
          </a:prstGeom>
          <a:noFill/>
        </p:spPr>
        <p:txBody>
          <a:bodyPr wrap="square" anchor="t" lIns="0" rIns="0" tIns="0" bIns="0">
            <a:spAutoFit/>
          </a:bodyPr>
          <a:lstStyle/>
          <a:p>
            <a:pPr algn="l">
              <a:lnSpc>
                <a:spcPct val="108000"/>
              </a:lnSpc>
            </a:pPr>
            <a:r>
              <a:rPr sz="1050" b="0" i="0">
                <a:solidFill>
                  <a:srgbClr val="5B6B8C"/>
                </a:solidFill>
                <a:latin typeface="Pretendard"/>
                <a:ea typeface="Pretendard"/>
                <a:cs typeface="Pretendard"/>
              </a:rPr>
              <a:t>세 가지 모두 실제로 있는 데이터이고, 수치는 논문과 README, 신청 화면에서 확인했습니다. AI Hub 라벨은 YOLO 상자로 바꿔 쓰고, RIAWELC는 위치 정보가 없어 분류 사전학습에만 씁니다. AI Hub는 내국인 신청·승인이 필요하고 국외 반출이 금지되며 출처를 밝혀야 합니다[3]. GDXray는 상업 이용이 금지됩니다[1]. RIAWELC는 공개된 학습·테스트 묶음에 같은 원본의 조각이 섞여 있어, 원본 단위로 다시 나눠 씁니다.</a:t>
            </a:r>
          </a:p>
        </p:txBody>
      </p:sp>
      <p:sp>
        <p:nvSpPr>
          <p:cNvPr id="34" name="Rounded Rectangle 33"/>
          <p:cNvSpPr/>
          <p:nvPr/>
        </p:nvSpPr>
        <p:spPr>
          <a:xfrm>
            <a:off x="4800600" y="5212080"/>
            <a:ext cx="6400800" cy="4041647"/>
          </a:xfrm>
          <a:prstGeom prst="roundRect">
            <a:avLst>
              <a:gd name="adj" fmla="val 3500"/>
            </a:avLst>
          </a:prstGeom>
          <a:solidFill>
            <a:srgbClr val="FFFFFF"/>
          </a:solidFill>
          <a:ln w="9525">
            <a:solidFill>
              <a:srgbClr val="D9E0EC"/>
            </a:solidFill>
          </a:ln>
        </p:spPr>
        <p:txBody>
          <a:bodyPr rtlCol="0" anchor="ctr"/>
          <a:lstStyle/>
          <a:p/>
        </p:txBody>
      </p:sp>
      <p:sp>
        <p:nvSpPr>
          <p:cNvPr id="35" name="Oval 34"/>
          <p:cNvSpPr/>
          <p:nvPr/>
        </p:nvSpPr>
        <p:spPr>
          <a:xfrm>
            <a:off x="5120640" y="5586984"/>
            <a:ext cx="146304" cy="146304"/>
          </a:xfrm>
          <a:prstGeom prst="ellipse">
            <a:avLst/>
          </a:prstGeom>
          <a:solidFill>
            <a:srgbClr val="4FD0F5"/>
          </a:solidFill>
          <a:ln>
            <a:noFill/>
          </a:ln>
        </p:spPr>
        <p:txBody>
          <a:bodyPr rtlCol="0" anchor="ctr"/>
          <a:lstStyle/>
          <a:p>
            <a:pPr algn="ctr"/>
          </a:p>
        </p:txBody>
      </p:sp>
      <p:sp>
        <p:nvSpPr>
          <p:cNvPr id="36" name="TextBox 35"/>
          <p:cNvSpPr txBox="1"/>
          <p:nvPr/>
        </p:nvSpPr>
        <p:spPr>
          <a:xfrm>
            <a:off x="5367527" y="5486400"/>
            <a:ext cx="5513831" cy="384048"/>
          </a:xfrm>
          <a:prstGeom prst="rect">
            <a:avLst/>
          </a:prstGeom>
          <a:noFill/>
        </p:spPr>
        <p:txBody>
          <a:bodyPr wrap="square" anchor="t" lIns="0" rIns="0" tIns="0" bIns="0">
            <a:spAutoFit/>
          </a:bodyPr>
          <a:lstStyle/>
          <a:p>
            <a:pPr algn="l">
              <a:lnSpc>
                <a:spcPct val="112000"/>
              </a:lnSpc>
            </a:pPr>
            <a:r>
              <a:rPr sz="2000" b="1" i="0">
                <a:solidFill>
                  <a:srgbClr val="0B2A6B"/>
                </a:solidFill>
                <a:latin typeface="Pretendard"/>
                <a:ea typeface="Pretendard"/>
                <a:cs typeface="Pretendard"/>
              </a:rPr>
              <a:t>확보 방법</a:t>
            </a:r>
          </a:p>
        </p:txBody>
      </p:sp>
      <p:sp>
        <p:nvSpPr>
          <p:cNvPr id="37" name="TextBox 36"/>
          <p:cNvSpPr txBox="1"/>
          <p:nvPr/>
        </p:nvSpPr>
        <p:spPr>
          <a:xfrm>
            <a:off x="5120640" y="6080760"/>
            <a:ext cx="5760720" cy="3035807"/>
          </a:xfrm>
          <a:prstGeom prst="rect">
            <a:avLst/>
          </a:prstGeom>
          <a:noFill/>
        </p:spPr>
        <p:txBody>
          <a:bodyPr wrap="square" anchor="t" lIns="0" rIns="0" tIns="0" bIns="0">
            <a:spAutoFit/>
          </a:bodyPr>
          <a:lstStyle/>
          <a:p>
            <a:pPr marL="169417" indent="-169417">
              <a:lnSpc>
                <a:spcPct val="112000"/>
              </a:lnSpc>
              <a:spcAft>
                <a:spcPts val="600"/>
              </a:spcAft>
              <a:buClr>
                <a:srgbClr val="4FD0F5"/>
              </a:buClr>
              <a:buFont typeface="Arial"/>
              <a:buChar char="•"/>
            </a:pPr>
            <a:r>
              <a:rPr sz="1160" b="1" i="0">
                <a:solidFill>
                  <a:srgbClr val="1F2A44"/>
                </a:solidFill>
                <a:latin typeface="Pretendard"/>
                <a:ea typeface="Pretendard"/>
                <a:cs typeface="Pretendard"/>
              </a:rPr>
              <a:t>공개 데이터</a:t>
            </a:r>
            <a:r>
              <a:rPr sz="1160" b="0" i="0">
                <a:solidFill>
                  <a:srgbClr val="1F2A44"/>
                </a:solidFill>
                <a:latin typeface="Pretendard"/>
                <a:ea typeface="Pretendard"/>
                <a:cs typeface="Pretendard"/>
              </a:rPr>
              <a:t>를 씁니다. AI Hub는 내국인 신청과 승인이 필요하고 며칠 걸립니다. 일부 검색 결과는 이 데이터를 국방데이터로 분류해 별도 승인을 언급하므로, </a:t>
            </a:r>
            <a:r>
              <a:rPr sz="1160" b="1" i="0">
                <a:solidFill>
                  <a:srgbClr val="1F2A44"/>
                </a:solidFill>
                <a:latin typeface="Pretendard"/>
                <a:ea typeface="Pretendard"/>
                <a:cs typeface="Pretendard"/>
              </a:rPr>
              <a:t>신청할 때 접근이 되는지부터 확인</a:t>
            </a:r>
            <a:r>
              <a:rPr sz="1160" b="0" i="0">
                <a:solidFill>
                  <a:srgbClr val="1F2A44"/>
                </a:solidFill>
                <a:latin typeface="Pretendard"/>
                <a:ea typeface="Pretendard"/>
                <a:cs typeface="Pretendard"/>
              </a:rPr>
              <a:t>하겠습니다. RIAWELC와 GDXray는 바로 내려받습니다.</a:t>
            </a:r>
          </a:p>
          <a:p>
            <a:pPr marL="169417" indent="-169417">
              <a:lnSpc>
                <a:spcPct val="112000"/>
              </a:lnSpc>
              <a:spcAft>
                <a:spcPts val="600"/>
              </a:spcAft>
              <a:buClr>
                <a:srgbClr val="4FD0F5"/>
              </a:buClr>
              <a:buFont typeface="Arial"/>
              <a:buChar char="•"/>
            </a:pPr>
            <a:r>
              <a:rPr sz="1160" b="1" i="0">
                <a:solidFill>
                  <a:srgbClr val="1F2A44"/>
                </a:solidFill>
                <a:latin typeface="Pretendard"/>
                <a:ea typeface="Pretendard"/>
                <a:cs typeface="Pretendard"/>
              </a:rPr>
              <a:t>합성 데이터</a:t>
            </a:r>
            <a:r>
              <a:rPr sz="1160" b="0" i="0">
                <a:solidFill>
                  <a:srgbClr val="1F2A44"/>
                </a:solidFill>
                <a:latin typeface="Pretendard"/>
                <a:ea typeface="Pretendard"/>
                <a:cs typeface="Pretendard"/>
              </a:rPr>
              <a:t>도 씁니다. 개발과 시연용으로 합성 RT 필름을 만드는 기능이 프로토타입에 들어 있고, 탐지 성능 측정에 씁니다.</a:t>
            </a:r>
          </a:p>
          <a:p>
            <a:pPr marL="169417" indent="-169417">
              <a:lnSpc>
                <a:spcPct val="112000"/>
              </a:lnSpc>
              <a:spcAft>
                <a:spcPts val="600"/>
              </a:spcAft>
              <a:buClr>
                <a:srgbClr val="4FD0F5"/>
              </a:buClr>
              <a:buFont typeface="Arial"/>
              <a:buChar char="•"/>
            </a:pPr>
            <a:r>
              <a:rPr sz="1160" b="1" i="0">
                <a:solidFill>
                  <a:srgbClr val="1F2A44"/>
                </a:solidFill>
                <a:latin typeface="Pretendard"/>
                <a:ea typeface="Pretendard"/>
                <a:cs typeface="Pretendard"/>
              </a:rPr>
              <a:t>직접 쌓는 데이터</a:t>
            </a:r>
            <a:r>
              <a:rPr sz="1160" b="0" i="0">
                <a:solidFill>
                  <a:srgbClr val="1F2A44"/>
                </a:solidFill>
                <a:latin typeface="Pretendard"/>
                <a:ea typeface="Pretendard"/>
                <a:cs typeface="Pretendard"/>
              </a:rPr>
              <a:t>가 있습니다. 채택하거나 직접 그린 결함 상자가 학습용 라벨로 나옵니다. 데이터는 검사업체와 조선소 것이고 밖으로 내보내지 않습니다.</a:t>
            </a:r>
          </a:p>
          <a:p>
            <a:pPr marL="169417" indent="-169417">
              <a:lnSpc>
                <a:spcPct val="112000"/>
              </a:lnSpc>
              <a:spcAft>
                <a:spcPts val="600"/>
              </a:spcAft>
              <a:buClr>
                <a:srgbClr val="4FD0F5"/>
              </a:buClr>
              <a:buFont typeface="Arial"/>
              <a:buChar char="•"/>
            </a:pPr>
            <a:r>
              <a:rPr sz="1160" b="1" i="0">
                <a:solidFill>
                  <a:srgbClr val="1F2A44"/>
                </a:solidFill>
                <a:latin typeface="Pretendard"/>
                <a:ea typeface="Pretendard"/>
                <a:cs typeface="Pretendard"/>
              </a:rPr>
              <a:t>필름 스캔이 전제</a:t>
            </a:r>
            <a:r>
              <a:rPr sz="1160" b="0" i="0">
                <a:solidFill>
                  <a:srgbClr val="1F2A44"/>
                </a:solidFill>
                <a:latin typeface="Pretendard"/>
                <a:ea typeface="Pretendard"/>
                <a:cs typeface="Pretendard"/>
              </a:rPr>
              <a:t>입니다. 필름 스캐너는 3만 달러급 장비라[8], 조직이 함께 쓰거나 국내 스캔 서비스를 이용합니다. 스캔 화질 기준은 ISO 14096-2를 따릅니다.</a:t>
            </a:r>
          </a:p>
        </p:txBody>
      </p:sp>
      <p:sp>
        <p:nvSpPr>
          <p:cNvPr id="38" name="Rounded Rectangle 37"/>
          <p:cNvSpPr/>
          <p:nvPr/>
        </p:nvSpPr>
        <p:spPr>
          <a:xfrm>
            <a:off x="11475720" y="5212080"/>
            <a:ext cx="6199631" cy="4041647"/>
          </a:xfrm>
          <a:prstGeom prst="roundRect">
            <a:avLst>
              <a:gd name="adj" fmla="val 3500"/>
            </a:avLst>
          </a:prstGeom>
          <a:solidFill>
            <a:srgbClr val="FFFFFF"/>
          </a:solidFill>
          <a:ln w="9525">
            <a:solidFill>
              <a:srgbClr val="D9E0EC"/>
            </a:solidFill>
          </a:ln>
        </p:spPr>
        <p:txBody>
          <a:bodyPr rtlCol="0" anchor="ctr"/>
          <a:lstStyle/>
          <a:p/>
        </p:txBody>
      </p:sp>
      <p:sp>
        <p:nvSpPr>
          <p:cNvPr id="39" name="Oval 38"/>
          <p:cNvSpPr/>
          <p:nvPr/>
        </p:nvSpPr>
        <p:spPr>
          <a:xfrm>
            <a:off x="11795760" y="5586984"/>
            <a:ext cx="146304" cy="146304"/>
          </a:xfrm>
          <a:prstGeom prst="ellipse">
            <a:avLst/>
          </a:prstGeom>
          <a:solidFill>
            <a:srgbClr val="4FD0F5"/>
          </a:solidFill>
          <a:ln>
            <a:noFill/>
          </a:ln>
        </p:spPr>
        <p:txBody>
          <a:bodyPr rtlCol="0" anchor="ctr"/>
          <a:lstStyle/>
          <a:p>
            <a:pPr algn="ctr"/>
          </a:p>
        </p:txBody>
      </p:sp>
      <p:sp>
        <p:nvSpPr>
          <p:cNvPr id="40" name="TextBox 39"/>
          <p:cNvSpPr txBox="1"/>
          <p:nvPr/>
        </p:nvSpPr>
        <p:spPr>
          <a:xfrm>
            <a:off x="12042648" y="5486400"/>
            <a:ext cx="5312663" cy="384048"/>
          </a:xfrm>
          <a:prstGeom prst="rect">
            <a:avLst/>
          </a:prstGeom>
          <a:noFill/>
        </p:spPr>
        <p:txBody>
          <a:bodyPr wrap="square" anchor="t" lIns="0" rIns="0" tIns="0" bIns="0">
            <a:spAutoFit/>
          </a:bodyPr>
          <a:lstStyle/>
          <a:p>
            <a:pPr algn="l">
              <a:lnSpc>
                <a:spcPct val="112000"/>
              </a:lnSpc>
            </a:pPr>
            <a:r>
              <a:rPr sz="2000" b="1" i="0">
                <a:solidFill>
                  <a:srgbClr val="0B2A6B"/>
                </a:solidFill>
                <a:latin typeface="Pretendard"/>
                <a:ea typeface="Pretendard"/>
                <a:cs typeface="Pretendard"/>
              </a:rPr>
              <a:t>대체 방안</a:t>
            </a:r>
          </a:p>
        </p:txBody>
      </p:sp>
      <p:sp>
        <p:nvSpPr>
          <p:cNvPr id="41" name="TextBox 40"/>
          <p:cNvSpPr txBox="1"/>
          <p:nvPr/>
        </p:nvSpPr>
        <p:spPr>
          <a:xfrm>
            <a:off x="11795760" y="6080760"/>
            <a:ext cx="5559551" cy="3035807"/>
          </a:xfrm>
          <a:prstGeom prst="rect">
            <a:avLst/>
          </a:prstGeom>
          <a:noFill/>
        </p:spPr>
        <p:txBody>
          <a:bodyPr wrap="square" anchor="t" lIns="0" rIns="0" tIns="0" bIns="0">
            <a:spAutoFit/>
          </a:bodyPr>
          <a:lstStyle/>
          <a:p>
            <a:pPr marL="169417" indent="-169417">
              <a:lnSpc>
                <a:spcPct val="112000"/>
              </a:lnSpc>
              <a:spcAft>
                <a:spcPts val="600"/>
              </a:spcAft>
              <a:buClr>
                <a:srgbClr val="4FD0F5"/>
              </a:buClr>
              <a:buFont typeface="Arial"/>
              <a:buChar char="•"/>
            </a:pPr>
            <a:r>
              <a:rPr sz="1160" b="0" i="0">
                <a:solidFill>
                  <a:srgbClr val="1F2A44"/>
                </a:solidFill>
                <a:latin typeface="Pretendard"/>
                <a:ea typeface="Pretendard"/>
                <a:cs typeface="Pretendard"/>
              </a:rPr>
              <a:t>AI Hub를 못 쓰거나 라벨 변환이 안 되면 </a:t>
            </a:r>
            <a:r>
              <a:rPr sz="1160" b="1" i="0">
                <a:solidFill>
                  <a:srgbClr val="1F2A44"/>
                </a:solidFill>
                <a:latin typeface="Pretendard"/>
                <a:ea typeface="Pretendard"/>
                <a:cs typeface="Pretendard"/>
              </a:rPr>
              <a:t>RIAWELC로 사전학습하고 GDXray의 결함 641개 상자로 탐지를 검증</a:t>
            </a:r>
            <a:r>
              <a:rPr sz="1160" b="0" i="0">
                <a:solidFill>
                  <a:srgbClr val="1F2A44"/>
                </a:solidFill>
                <a:latin typeface="Pretendard"/>
                <a:ea typeface="Pretendard"/>
                <a:cs typeface="Pretendard"/>
              </a:rPr>
              <a:t>합니다. 다각형 라벨이 공개된 SWRD(2025, 3,600장 이상)[7]도 라이선스를 확인한 뒤 후보로 봅니다.</a:t>
            </a:r>
          </a:p>
          <a:p>
            <a:pPr marL="169417" indent="-169417">
              <a:lnSpc>
                <a:spcPct val="112000"/>
              </a:lnSpc>
              <a:spcAft>
                <a:spcPts val="600"/>
              </a:spcAft>
              <a:buClr>
                <a:srgbClr val="4FD0F5"/>
              </a:buClr>
              <a:buFont typeface="Arial"/>
              <a:buChar char="•"/>
            </a:pPr>
            <a:r>
              <a:rPr sz="1160" b="0" i="0">
                <a:solidFill>
                  <a:srgbClr val="1F2A44"/>
                </a:solidFill>
                <a:latin typeface="Pretendard"/>
                <a:ea typeface="Pretendard"/>
                <a:cs typeface="Pretendard"/>
              </a:rPr>
              <a:t>실제 조선소 필름은 보안 때문에 기간 안에 구하기 어렵습니다. 공개 데이터와 합성 필름으로 시연하고, </a:t>
            </a:r>
            <a:r>
              <a:rPr sz="1160" b="1" i="0">
                <a:solidFill>
                  <a:srgbClr val="1F2A44"/>
                </a:solidFill>
                <a:latin typeface="Pretendard"/>
                <a:ea typeface="Pretendard"/>
                <a:cs typeface="Pretendard"/>
              </a:rPr>
              <a:t>현장 시범 적용이 필요하다는 점을 분명히 적겠습니다</a:t>
            </a:r>
            <a:r>
              <a:rPr sz="1160" b="0" i="0">
                <a:solidFill>
                  <a:srgbClr val="1F2A44"/>
                </a:solidFill>
                <a:latin typeface="Pretendard"/>
                <a:ea typeface="Pretendard"/>
                <a:cs typeface="Pretendard"/>
              </a:rPr>
              <a:t>.</a:t>
            </a:r>
          </a:p>
          <a:p>
            <a:pPr marL="169417" indent="-169417">
              <a:lnSpc>
                <a:spcPct val="112000"/>
              </a:lnSpc>
              <a:spcAft>
                <a:spcPts val="600"/>
              </a:spcAft>
              <a:buClr>
                <a:srgbClr val="4FD0F5"/>
              </a:buClr>
              <a:buFont typeface="Arial"/>
              <a:buChar char="•"/>
            </a:pPr>
            <a:r>
              <a:rPr sz="1160" b="0" i="0">
                <a:solidFill>
                  <a:srgbClr val="1F2A44"/>
                </a:solidFill>
                <a:latin typeface="Pretendard"/>
                <a:ea typeface="Pretendard"/>
                <a:cs typeface="Pretendard"/>
              </a:rPr>
              <a:t>성능 목표는 </a:t>
            </a:r>
            <a:r>
              <a:rPr sz="1160" b="1" i="0">
                <a:solidFill>
                  <a:srgbClr val="1F2A44"/>
                </a:solidFill>
                <a:latin typeface="Pretendard"/>
                <a:ea typeface="Pretendard"/>
                <a:cs typeface="Pretendard"/>
              </a:rPr>
              <a:t>놓치지 않는 것이 먼저</a:t>
            </a:r>
            <a:r>
              <a:rPr sz="1160" b="0" i="0">
                <a:solidFill>
                  <a:srgbClr val="1F2A44"/>
                </a:solidFill>
                <a:latin typeface="Pretendard"/>
                <a:ea typeface="Pretendard"/>
                <a:cs typeface="Pretendard"/>
              </a:rPr>
              <a:t>입니다. 실제로 쓸 신뢰도 기준에서 검출률 95% 이상, 장당 헛짚음 5건 이하를 목표로 합니다. 종합 점수인 mAP는 참고로만 봅니다.</a:t>
            </a:r>
          </a:p>
          <a:p>
            <a:pPr marL="169417" indent="-169417">
              <a:lnSpc>
                <a:spcPct val="112000"/>
              </a:lnSpc>
              <a:spcAft>
                <a:spcPts val="600"/>
              </a:spcAft>
              <a:buClr>
                <a:srgbClr val="4FD0F5"/>
              </a:buClr>
              <a:buFont typeface="Arial"/>
              <a:buChar char="•"/>
            </a:pPr>
            <a:r>
              <a:rPr sz="1160" b="0" i="0">
                <a:solidFill>
                  <a:srgbClr val="1F2A44"/>
                </a:solidFill>
                <a:latin typeface="Pretendard"/>
                <a:ea typeface="Pretendard"/>
                <a:cs typeface="Pretendard"/>
              </a:rPr>
              <a:t>논문들은 자체 데이터에서 mAP 95~97%[6][7], 강관 X-ray에서는 99%[7]까지 보고합니다. 하지만 같은 계열 공개 데이터의 기본 학습 점수는 0.66에 그쳤고[7], 배운 적 없는 데이터에 그대로 쓰면 분류 점수가 64%까지 떨어졌습니다[4]. 다른 보고에서도 같은 분류기가 정제 데이터 98.75%, GDXray 90.3%, 저화질 데이터 75.8%로 갈렸습니다[5]. 그래서 </a:t>
            </a:r>
            <a:r>
              <a:rPr sz="1160" b="1" i="0">
                <a:solidFill>
                  <a:srgbClr val="1F2A44"/>
                </a:solidFill>
                <a:latin typeface="Pretendard"/>
                <a:ea typeface="Pretendard"/>
                <a:cs typeface="Pretendard"/>
              </a:rPr>
              <a:t>한계까지 재서 그대로 공개</a:t>
            </a:r>
            <a:r>
              <a:rPr sz="1160" b="0" i="0">
                <a:solidFill>
                  <a:srgbClr val="1F2A44"/>
                </a:solidFill>
                <a:latin typeface="Pretendard"/>
                <a:ea typeface="Pretendard"/>
                <a:cs typeface="Pretendard"/>
              </a:rPr>
              <a:t>하겠습니다.</a:t>
            </a:r>
          </a:p>
        </p:txBody>
      </p:sp>
      <p:sp>
        <p:nvSpPr>
          <p:cNvPr id="42" name="TextBox 41"/>
          <p:cNvSpPr txBox="1"/>
          <p:nvPr/>
        </p:nvSpPr>
        <p:spPr>
          <a:xfrm>
            <a:off x="4800600" y="9299448"/>
            <a:ext cx="12874752" cy="502920"/>
          </a:xfrm>
          <a:prstGeom prst="rect">
            <a:avLst/>
          </a:prstGeom>
          <a:noFill/>
        </p:spPr>
        <p:txBody>
          <a:bodyPr wrap="square" anchor="t" lIns="0" rIns="0" tIns="0" bIns="0">
            <a:spAutoFit/>
          </a:bodyPr>
          <a:lstStyle/>
          <a:p>
            <a:pPr algn="l">
              <a:lnSpc>
                <a:spcPct val="108000"/>
              </a:lnSpc>
            </a:pPr>
            <a:r>
              <a:rPr sz="850" b="0" i="0">
                <a:solidFill>
                  <a:srgbClr val="5B6B8C"/>
                </a:solidFill>
                <a:latin typeface="Pretendard"/>
                <a:ea typeface="Pretendard"/>
                <a:cs typeface="Pretendard"/>
              </a:rPr>
              <a:t>참고  [1] Mery 외, J Nondestruct Eval 34:42(2015)  ·  [2] RIAWELC GitHub README · Totino·Spagnolo·Perri 2022/2023†  ·  [3] AI Hub 71761 활용 신청 화면·이용정책†  ·  [4] WeldVGG, Sensors 25(19):6183(2025)†  ·  [5] Palma-Ramírez 외, Heliyon 2024 e30590†  ·  [6] Lu 외, J Nondestruct Eval 44:91(2025, GDXray mAP@0.5 97.2%)†  ·  [7] MGDR-YOLO, Sensors 2026 · DSF-YOLO, Sci Rep 2025 · SWRD, J Nondestruct Eval 2025†  ·  [8] VIDAR NDT PRO 판매점 가격†  ·  †는 검색 요약으로 확인한 자료입니다.</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2F5FA"/>
        </a:solidFill>
        <a:effectLst/>
      </p:bgPr>
    </p:bg>
    <p:spTree>
      <p:nvGrpSpPr>
        <p:cNvPr id="1" name=""/>
        <p:cNvGrpSpPr/>
        <p:nvPr/>
      </p:nvGrpSpPr>
      <p:grpSpPr>
        <a:xfrm>
          <a:off x="0" y="0"/>
          <a:ext cx="0" cy="0"/>
          <a:chOff x="0" y="0"/>
          <a:chExt cx="0" cy="0"/>
        </a:xfrm>
      </p:grpSpPr>
      <p:sp>
        <p:nvSpPr>
          <p:cNvPr id="2" name="Shape 0"/>
          <p:cNvSpPr/>
          <p:nvPr/>
        </p:nvSpPr>
        <p:spPr>
          <a:xfrm>
            <a:off x="0" y="0"/>
            <a:ext cx="4191000" cy="10287000"/>
          </a:xfrm>
          <a:prstGeom prst="rect">
            <a:avLst/>
          </a:prstGeom>
          <a:solidFill>
            <a:srgbClr val="0B2A6B"/>
          </a:solidFill>
          <a:ln/>
        </p:spPr>
        <p:txBody>
          <a:bodyPr/>
          <a:lstStyle/>
          <a:p>
            <a:endParaRPr lang="ko-KR" altLang="en-US"/>
          </a:p>
        </p:txBody>
      </p:sp>
      <p:sp>
        <p:nvSpPr>
          <p:cNvPr id="3" name="Text 1"/>
          <p:cNvSpPr/>
          <p:nvPr/>
        </p:nvSpPr>
        <p:spPr>
          <a:xfrm>
            <a:off x="571500" y="685800"/>
            <a:ext cx="905619" cy="603796"/>
          </a:xfrm>
          <a:prstGeom prst="rect">
            <a:avLst/>
          </a:prstGeom>
          <a:noFill/>
          <a:ln/>
        </p:spPr>
        <p:txBody>
          <a:bodyPr wrap="square" lIns="25400" tIns="25400" rIns="25400" bIns="25400" rtlCol="0" anchor="t">
            <a:normAutofit/>
          </a:bodyPr>
          <a:lstStyle/>
          <a:p>
            <a:pPr marL="0" indent="0" algn="l">
              <a:lnSpc>
                <a:spcPct val="77143"/>
              </a:lnSpc>
              <a:buNone/>
            </a:pPr>
            <a:r>
              <a:rPr lang="en-US" sz="4950" b="1" dirty="0">
                <a:solidFill>
                  <a:srgbClr val="4FD0F5"/>
                </a:solidFill>
                <a:latin typeface="Pretendard" pitchFamily="34" charset="0"/>
                <a:ea typeface="Pretendard" pitchFamily="34" charset="-122"/>
                <a:cs typeface="Pretendard" pitchFamily="34" charset="-120"/>
              </a:rPr>
              <a:t>05</a:t>
            </a:r>
            <a:endParaRPr lang="en-US" sz="4950" dirty="0"/>
          </a:p>
        </p:txBody>
      </p:sp>
      <p:sp>
        <p:nvSpPr>
          <p:cNvPr id="4" name="Shape 2"/>
          <p:cNvSpPr/>
          <p:nvPr/>
        </p:nvSpPr>
        <p:spPr>
          <a:xfrm>
            <a:off x="1629519" y="1028700"/>
            <a:ext cx="533400" cy="28575"/>
          </a:xfrm>
          <a:prstGeom prst="rect">
            <a:avLst/>
          </a:prstGeom>
          <a:solidFill>
            <a:srgbClr val="7FDCFF">
              <a:alpha val="50000"/>
            </a:srgbClr>
          </a:solidFill>
          <a:ln/>
        </p:spPr>
        <p:txBody>
          <a:bodyPr/>
          <a:lstStyle/>
          <a:p>
            <a:endParaRPr lang="ko-KR" altLang="en-US"/>
          </a:p>
        </p:txBody>
      </p:sp>
      <p:sp>
        <p:nvSpPr>
          <p:cNvPr id="5" name="Text 3"/>
          <p:cNvSpPr/>
          <p:nvPr/>
        </p:nvSpPr>
        <p:spPr>
          <a:xfrm>
            <a:off x="571500" y="1613446"/>
            <a:ext cx="3520440" cy="563761"/>
          </a:xfrm>
          <a:prstGeom prst="rect">
            <a:avLst/>
          </a:prstGeom>
          <a:noFill/>
          <a:ln/>
        </p:spPr>
        <p:txBody>
          <a:bodyPr wrap="square" lIns="25400" tIns="25400" rIns="25400" bIns="25400" rtlCol="0" anchor="t">
            <a:normAutofit/>
          </a:bodyPr>
          <a:lstStyle/>
          <a:p>
            <a:pPr marL="0" indent="0" algn="l">
              <a:lnSpc>
                <a:spcPct val="102222"/>
              </a:lnSpc>
              <a:buNone/>
            </a:pPr>
            <a:r>
              <a:rPr lang="en-US" sz="3450" b="1" kern="0" spc="-69" dirty="0">
                <a:solidFill>
                  <a:srgbClr val="FFFFFF"/>
                </a:solidFill>
                <a:latin typeface="Pretendard" pitchFamily="34" charset="0"/>
                <a:ea typeface="Pretendard" pitchFamily="34" charset="-122"/>
                <a:cs typeface="Pretendard" pitchFamily="34" charset="-120"/>
              </a:rPr>
              <a:t>예상 효과</a:t>
            </a:r>
            <a:endParaRPr lang="en-US" sz="3450" dirty="0"/>
          </a:p>
        </p:txBody>
      </p:sp>
      <p:sp>
        <p:nvSpPr>
          <p:cNvPr id="6" name="Shape 4"/>
          <p:cNvSpPr/>
          <p:nvPr/>
        </p:nvSpPr>
        <p:spPr>
          <a:xfrm>
            <a:off x="571500" y="2501057"/>
            <a:ext cx="3200400" cy="19050"/>
          </a:xfrm>
          <a:prstGeom prst="rect">
            <a:avLst/>
          </a:prstGeom>
          <a:solidFill>
            <a:srgbClr val="7FDCFF">
              <a:alpha val="35000"/>
            </a:srgbClr>
          </a:solidFill>
          <a:ln/>
        </p:spPr>
        <p:txBody>
          <a:bodyPr/>
          <a:lstStyle/>
          <a:p>
            <a:endParaRPr lang="ko-KR" altLang="en-US"/>
          </a:p>
        </p:txBody>
      </p:sp>
      <p:sp>
        <p:nvSpPr>
          <p:cNvPr id="7" name="Text 5"/>
          <p:cNvSpPr/>
          <p:nvPr/>
        </p:nvSpPr>
        <p:spPr>
          <a:xfrm>
            <a:off x="571500" y="2786807"/>
            <a:ext cx="3520440" cy="333375"/>
          </a:xfrm>
          <a:prstGeom prst="rect">
            <a:avLst/>
          </a:prstGeom>
          <a:noFill/>
          <a:ln/>
        </p:spPr>
        <p:txBody>
          <a:bodyPr wrap="square" lIns="25400" tIns="25400" rIns="25400" bIns="25400" rtlCol="0" anchor="t">
            <a:normAutofit/>
          </a:bodyPr>
          <a:lstStyle/>
          <a:p>
            <a:pPr marL="0" indent="0" algn="l">
              <a:buNone/>
            </a:pPr>
            <a:r>
              <a:rPr lang="en-US" sz="2025" b="1" dirty="0">
                <a:solidFill>
                  <a:srgbClr val="7FDCFF"/>
                </a:solidFill>
                <a:latin typeface="Pretendard" pitchFamily="34" charset="0"/>
                <a:ea typeface="Pretendard" pitchFamily="34" charset="-122"/>
                <a:cs typeface="Pretendard" pitchFamily="34" charset="-120"/>
              </a:rPr>
              <a:t>산업적 효과</a:t>
            </a:r>
            <a:endParaRPr lang="en-US" sz="2025" dirty="0"/>
          </a:p>
        </p:txBody>
      </p:sp>
      <p:sp>
        <p:nvSpPr>
          <p:cNvPr id="8" name="Text 6"/>
          <p:cNvSpPr/>
          <p:nvPr/>
        </p:nvSpPr>
        <p:spPr>
          <a:xfrm>
            <a:off x="571500" y="3177332"/>
            <a:ext cx="3296412" cy="700980"/>
          </a:xfrm>
          <a:prstGeom prst="rect">
            <a:avLst/>
          </a:prstGeom>
          <a:noFill/>
          <a:ln/>
        </p:spPr>
        <p:txBody>
          <a:bodyPr wrap="square" lIns="25400" tIns="25400" rIns="25400" bIns="25400" rtlCol="0" anchor="t">
            <a:normAutofit/>
          </a:bodyPr>
          <a:lstStyle/>
          <a:p>
            <a:pPr marL="0" indent="0" algn="l">
              <a:lnSpc>
                <a:spcPct val="120000"/>
              </a:lnSpc>
              <a:buNone/>
            </a:pPr>
            <a:r>
              <a:rPr lang="en-US" sz="1800" dirty="0">
                <a:solidFill>
                  <a:srgbClr val="FFFFFF">
                    <a:alpha val="72000"/>
                  </a:srgbClr>
                </a:solidFill>
                <a:latin typeface="Pretendard" pitchFamily="34" charset="0"/>
                <a:ea typeface="Pretendard" pitchFamily="34" charset="-122"/>
                <a:cs typeface="Pretendard" pitchFamily="34" charset="-120"/>
              </a:rPr>
              <a:t>조선산업 현장에 적용되었을 때 기대되는 효과</a:t>
            </a:r>
            <a:endParaRPr lang="en-US" sz="1800" dirty="0"/>
          </a:p>
        </p:txBody>
      </p:sp>
      <p:sp>
        <p:nvSpPr>
          <p:cNvPr id="9" name="Text 7"/>
          <p:cNvSpPr/>
          <p:nvPr/>
        </p:nvSpPr>
        <p:spPr>
          <a:xfrm>
            <a:off x="571500" y="4087862"/>
            <a:ext cx="3520440" cy="333375"/>
          </a:xfrm>
          <a:prstGeom prst="rect">
            <a:avLst/>
          </a:prstGeom>
          <a:noFill/>
          <a:ln/>
        </p:spPr>
        <p:txBody>
          <a:bodyPr wrap="square" lIns="25400" tIns="25400" rIns="25400" bIns="25400" rtlCol="0" anchor="t">
            <a:normAutofit/>
          </a:bodyPr>
          <a:lstStyle/>
          <a:p>
            <a:pPr marL="0" indent="0" algn="l">
              <a:buNone/>
            </a:pPr>
            <a:r>
              <a:rPr lang="en-US" sz="2025" b="1" dirty="0">
                <a:solidFill>
                  <a:srgbClr val="7FDCFF"/>
                </a:solidFill>
                <a:latin typeface="Pretendard" pitchFamily="34" charset="0"/>
                <a:ea typeface="Pretendard" pitchFamily="34" charset="-122"/>
                <a:cs typeface="Pretendard" pitchFamily="34" charset="-120"/>
              </a:rPr>
              <a:t>정량 지표</a:t>
            </a:r>
            <a:endParaRPr lang="en-US" sz="2025" dirty="0"/>
          </a:p>
        </p:txBody>
      </p:sp>
      <p:sp>
        <p:nvSpPr>
          <p:cNvPr id="10" name="Text 8"/>
          <p:cNvSpPr/>
          <p:nvPr/>
        </p:nvSpPr>
        <p:spPr>
          <a:xfrm>
            <a:off x="571500" y="4478387"/>
            <a:ext cx="3296412" cy="700980"/>
          </a:xfrm>
          <a:prstGeom prst="rect">
            <a:avLst/>
          </a:prstGeom>
          <a:noFill/>
          <a:ln/>
        </p:spPr>
        <p:txBody>
          <a:bodyPr wrap="square" lIns="25400" tIns="25400" rIns="25400" bIns="25400" rtlCol="0" anchor="t">
            <a:normAutofit/>
          </a:bodyPr>
          <a:lstStyle/>
          <a:p>
            <a:pPr marL="0" indent="0" algn="l">
              <a:lnSpc>
                <a:spcPct val="120000"/>
              </a:lnSpc>
              <a:buNone/>
            </a:pPr>
            <a:r>
              <a:rPr lang="en-US" sz="1800" dirty="0">
                <a:solidFill>
                  <a:srgbClr val="FFFFFF">
                    <a:alpha val="72000"/>
                  </a:srgbClr>
                </a:solidFill>
                <a:latin typeface="Pretendard" pitchFamily="34" charset="0"/>
                <a:ea typeface="Pretendard" pitchFamily="34" charset="-122"/>
                <a:cs typeface="Pretendard" pitchFamily="34" charset="-120"/>
              </a:rPr>
              <a:t>가능한 경우 수치(시간 절감, 오류율 감소 등)로 제시</a:t>
            </a:r>
            <a:endParaRPr lang="en-US" sz="1800" dirty="0"/>
          </a:p>
        </p:txBody>
      </p:sp>
      <p:sp>
        <p:nvSpPr>
          <p:cNvPr id="11" name="Text 9"/>
          <p:cNvSpPr/>
          <p:nvPr/>
        </p:nvSpPr>
        <p:spPr>
          <a:xfrm>
            <a:off x="571500" y="5388918"/>
            <a:ext cx="3520440" cy="333375"/>
          </a:xfrm>
          <a:prstGeom prst="rect">
            <a:avLst/>
          </a:prstGeom>
          <a:noFill/>
          <a:ln/>
        </p:spPr>
        <p:txBody>
          <a:bodyPr wrap="square" lIns="25400" tIns="25400" rIns="25400" bIns="25400" rtlCol="0" anchor="t">
            <a:normAutofit/>
          </a:bodyPr>
          <a:lstStyle/>
          <a:p>
            <a:pPr marL="0" indent="0" algn="l">
              <a:buNone/>
            </a:pPr>
            <a:r>
              <a:rPr lang="en-US" sz="2025" b="1" dirty="0">
                <a:solidFill>
                  <a:srgbClr val="7FDCFF"/>
                </a:solidFill>
                <a:latin typeface="Pretendard" pitchFamily="34" charset="0"/>
                <a:ea typeface="Pretendard" pitchFamily="34" charset="-122"/>
                <a:cs typeface="Pretendard" pitchFamily="34" charset="-120"/>
              </a:rPr>
              <a:t>확장 가능성</a:t>
            </a:r>
            <a:endParaRPr lang="en-US" sz="2025" dirty="0"/>
          </a:p>
        </p:txBody>
      </p:sp>
      <p:sp>
        <p:nvSpPr>
          <p:cNvPr id="12" name="Text 10"/>
          <p:cNvSpPr/>
          <p:nvPr/>
        </p:nvSpPr>
        <p:spPr>
          <a:xfrm>
            <a:off x="571500" y="5779443"/>
            <a:ext cx="3296412" cy="700980"/>
          </a:xfrm>
          <a:prstGeom prst="rect">
            <a:avLst/>
          </a:prstGeom>
          <a:noFill/>
          <a:ln/>
        </p:spPr>
        <p:txBody>
          <a:bodyPr wrap="square" lIns="25400" tIns="25400" rIns="25400" bIns="25400" rtlCol="0" anchor="t">
            <a:normAutofit/>
          </a:bodyPr>
          <a:lstStyle/>
          <a:p>
            <a:pPr marL="0" indent="0" algn="l">
              <a:lnSpc>
                <a:spcPct val="120000"/>
              </a:lnSpc>
              <a:buNone/>
            </a:pPr>
            <a:r>
              <a:rPr lang="en-US" sz="1800" dirty="0">
                <a:solidFill>
                  <a:srgbClr val="FFFFFF">
                    <a:alpha val="72000"/>
                  </a:srgbClr>
                </a:solidFill>
                <a:latin typeface="Pretendard" pitchFamily="34" charset="0"/>
                <a:ea typeface="Pretendard" pitchFamily="34" charset="-122"/>
                <a:cs typeface="Pretendard" pitchFamily="34" charset="-120"/>
              </a:rPr>
              <a:t>타 공정·타 산업으로의 확장 또는 고도화 방향</a:t>
            </a:r>
            <a:endParaRPr lang="en-US" sz="1800" dirty="0"/>
          </a:p>
        </p:txBody>
      </p:sp>
      <p:sp>
        <p:nvSpPr>
          <p:cNvPr id="13" name="Shape 11"/>
          <p:cNvSpPr/>
          <p:nvPr/>
        </p:nvSpPr>
        <p:spPr>
          <a:xfrm>
            <a:off x="4800600" y="1057275"/>
            <a:ext cx="12877800" cy="19050"/>
          </a:xfrm>
          <a:prstGeom prst="rect">
            <a:avLst/>
          </a:prstGeom>
          <a:solidFill>
            <a:srgbClr val="0B2A6B"/>
          </a:solidFill>
          <a:ln/>
        </p:spPr>
        <p:txBody>
          <a:bodyPr/>
          <a:lstStyle/>
          <a:p>
            <a:endParaRPr lang="ko-KR" altLang="en-US"/>
          </a:p>
        </p:txBody>
      </p:sp>
      <p:sp>
        <p:nvSpPr>
          <p:cNvPr id="14" name="Text 12"/>
          <p:cNvSpPr/>
          <p:nvPr/>
        </p:nvSpPr>
        <p:spPr>
          <a:xfrm>
            <a:off x="4800600" y="571500"/>
            <a:ext cx="852041" cy="333375"/>
          </a:xfrm>
          <a:prstGeom prst="rect">
            <a:avLst/>
          </a:prstGeom>
          <a:noFill/>
          <a:ln/>
        </p:spPr>
        <p:txBody>
          <a:bodyPr wrap="square" lIns="25400" tIns="25400" rIns="25400" bIns="25400" rtlCol="0" anchor="t">
            <a:normAutofit/>
          </a:bodyPr>
          <a:lstStyle/>
          <a:p>
            <a:pPr marL="0" indent="0" algn="l">
              <a:buNone/>
            </a:pPr>
            <a:r>
              <a:rPr lang="en-US" sz="1950" b="1" kern="0" spc="351" dirty="0">
                <a:solidFill>
                  <a:srgbClr val="0B2A6B"/>
                </a:solidFill>
                <a:latin typeface="Pretendard" pitchFamily="34" charset="0"/>
                <a:ea typeface="Pretendard" pitchFamily="34" charset="-122"/>
                <a:cs typeface="Pretendard" pitchFamily="34" charset="-120"/>
              </a:rPr>
              <a:t>작성란</a:t>
            </a:r>
            <a:endParaRPr lang="en-US" sz="1950" dirty="0"/>
          </a:p>
        </p:txBody>
      </p:sp>
      <p:sp>
        <p:nvSpPr>
          <p:cNvPr id="15" name="Text 13"/>
          <p:cNvSpPr/>
          <p:nvPr/>
        </p:nvSpPr>
        <p:spPr>
          <a:xfrm>
            <a:off x="15122575" y="571500"/>
            <a:ext cx="2811408" cy="333375"/>
          </a:xfrm>
          <a:prstGeom prst="rect">
            <a:avLst/>
          </a:prstGeom>
          <a:noFill/>
          <a:ln/>
        </p:spPr>
        <p:txBody>
          <a:bodyPr wrap="square" lIns="25400" tIns="25400" rIns="25400" bIns="25400" rtlCol="0" anchor="t">
            <a:normAutofit/>
          </a:bodyPr>
          <a:lstStyle/>
          <a:p>
            <a:pPr marL="0" indent="0" algn="l">
              <a:buNone/>
            </a:pPr>
            <a:r>
              <a:rPr lang="en-US" sz="1950" b="1" dirty="0">
                <a:solidFill>
                  <a:srgbClr val="8B9AB5"/>
                </a:solidFill>
                <a:latin typeface="Pretendard" pitchFamily="34" charset="0"/>
                <a:ea typeface="Pretendard" pitchFamily="34" charset="-122"/>
                <a:cs typeface="Pretendard" pitchFamily="34" charset="-120"/>
              </a:rPr>
              <a:t>2026 K-조선 해커톤 · 06</a:t>
            </a:r>
            <a:endParaRPr lang="en-US" sz="1950" dirty="0"/>
          </a:p>
        </p:txBody>
      </p:sp>
      <p:sp>
        <p:nvSpPr>
          <p:cNvPr id="16" name="Rounded Rectangle 15"/>
          <p:cNvSpPr/>
          <p:nvPr/>
        </p:nvSpPr>
        <p:spPr>
          <a:xfrm>
            <a:off x="4800600" y="1371600"/>
            <a:ext cx="6903720" cy="4160520"/>
          </a:xfrm>
          <a:prstGeom prst="roundRect">
            <a:avLst>
              <a:gd name="adj" fmla="val 3500"/>
            </a:avLst>
          </a:prstGeom>
          <a:solidFill>
            <a:srgbClr val="FFFFFF"/>
          </a:solidFill>
          <a:ln w="9525">
            <a:solidFill>
              <a:srgbClr val="D9E0EC"/>
            </a:solidFill>
          </a:ln>
        </p:spPr>
        <p:txBody>
          <a:bodyPr rtlCol="0" anchor="ctr"/>
          <a:lstStyle/>
          <a:p/>
        </p:txBody>
      </p:sp>
      <p:sp>
        <p:nvSpPr>
          <p:cNvPr id="17" name="Oval 16"/>
          <p:cNvSpPr/>
          <p:nvPr/>
        </p:nvSpPr>
        <p:spPr>
          <a:xfrm>
            <a:off x="5120640" y="1746504"/>
            <a:ext cx="146304" cy="146304"/>
          </a:xfrm>
          <a:prstGeom prst="ellipse">
            <a:avLst/>
          </a:prstGeom>
          <a:solidFill>
            <a:srgbClr val="4FD0F5"/>
          </a:solidFill>
          <a:ln>
            <a:noFill/>
          </a:ln>
        </p:spPr>
        <p:txBody>
          <a:bodyPr rtlCol="0" anchor="ctr"/>
          <a:lstStyle/>
          <a:p>
            <a:pPr algn="ctr"/>
          </a:p>
        </p:txBody>
      </p:sp>
      <p:sp>
        <p:nvSpPr>
          <p:cNvPr id="18" name="TextBox 17"/>
          <p:cNvSpPr txBox="1"/>
          <p:nvPr/>
        </p:nvSpPr>
        <p:spPr>
          <a:xfrm>
            <a:off x="5367527" y="1645920"/>
            <a:ext cx="6016752" cy="384048"/>
          </a:xfrm>
          <a:prstGeom prst="rect">
            <a:avLst/>
          </a:prstGeom>
          <a:noFill/>
        </p:spPr>
        <p:txBody>
          <a:bodyPr wrap="square" anchor="t" lIns="0" rIns="0" tIns="0" bIns="0">
            <a:spAutoFit/>
          </a:bodyPr>
          <a:lstStyle/>
          <a:p>
            <a:pPr algn="l">
              <a:lnSpc>
                <a:spcPct val="112000"/>
              </a:lnSpc>
            </a:pPr>
            <a:r>
              <a:rPr sz="2000" b="1" i="0">
                <a:solidFill>
                  <a:srgbClr val="0B2A6B"/>
                </a:solidFill>
                <a:latin typeface="Pretendard"/>
                <a:ea typeface="Pretendard"/>
                <a:cs typeface="Pretendard"/>
              </a:rPr>
              <a:t>산업적 효과</a:t>
            </a:r>
          </a:p>
        </p:txBody>
      </p:sp>
      <p:sp>
        <p:nvSpPr>
          <p:cNvPr id="19" name="TextBox 18"/>
          <p:cNvSpPr txBox="1"/>
          <p:nvPr/>
        </p:nvSpPr>
        <p:spPr>
          <a:xfrm>
            <a:off x="5120640" y="2240280"/>
            <a:ext cx="6263640" cy="3154679"/>
          </a:xfrm>
          <a:prstGeom prst="rect">
            <a:avLst/>
          </a:prstGeom>
          <a:noFill/>
        </p:spPr>
        <p:txBody>
          <a:bodyPr wrap="square" anchor="t" lIns="0" rIns="0" tIns="0" bIns="0">
            <a:spAutoFit/>
          </a:bodyPr>
          <a:lstStyle/>
          <a:p>
            <a:pPr marL="175260" indent="-175260">
              <a:lnSpc>
                <a:spcPct val="112000"/>
              </a:lnSpc>
              <a:spcAft>
                <a:spcPts val="600"/>
              </a:spcAft>
              <a:buClr>
                <a:srgbClr val="4FD0F5"/>
              </a:buClr>
              <a:buFont typeface="Arial"/>
              <a:buChar char="•"/>
            </a:pPr>
            <a:r>
              <a:rPr sz="1200" b="1" i="0">
                <a:solidFill>
                  <a:srgbClr val="1F2A44"/>
                </a:solidFill>
                <a:latin typeface="Pretendard"/>
                <a:ea typeface="Pretendard"/>
                <a:cs typeface="Pretendard"/>
              </a:rPr>
              <a:t>서류 쓰기와 서류 찾기가 사라집니다.</a:t>
            </a:r>
            <a:r>
              <a:rPr sz="1200" b="0" i="0">
                <a:solidFill>
                  <a:srgbClr val="1F2A44"/>
                </a:solidFill>
                <a:latin typeface="Pretendard"/>
                <a:ea typeface="Pretendard"/>
                <a:cs typeface="Pretendard"/>
              </a:rPr>
              <a:t> 판독원은 판독에 집중합니다. 인력이 줄고[2] 숙련자를 구하기 어려운[3] 상황에서 한 사람이 처리하는 양이 늘어납니다. 늘어난 양은 앱이 기록한 소요시간과 손으로 하던 시간을 비교해 확인합니다.</a:t>
            </a:r>
          </a:p>
          <a:p>
            <a:pPr marL="175260" indent="-175260">
              <a:lnSpc>
                <a:spcPct val="112000"/>
              </a:lnSpc>
              <a:spcAft>
                <a:spcPts val="600"/>
              </a:spcAft>
              <a:buClr>
                <a:srgbClr val="4FD0F5"/>
              </a:buClr>
              <a:buFont typeface="Arial"/>
              <a:buChar char="•"/>
            </a:pPr>
            <a:r>
              <a:rPr sz="1200" b="1" i="0">
                <a:solidFill>
                  <a:srgbClr val="1F2A44"/>
                </a:solidFill>
                <a:latin typeface="Pretendard"/>
                <a:ea typeface="Pretendard"/>
                <a:cs typeface="Pretendard"/>
              </a:rPr>
              <a:t>검사 기록이 자산이 됩니다.</a:t>
            </a:r>
            <a:r>
              <a:rPr sz="1200" b="0" i="0">
                <a:solidFill>
                  <a:srgbClr val="1F2A44"/>
                </a:solidFill>
                <a:latin typeface="Pretendard"/>
                <a:ea typeface="Pretendard"/>
                <a:cs typeface="Pretendard"/>
              </a:rPr>
              <a:t> 선급 규칙(IACS UR W33 §8)이 요구하는 보고 항목을 입력 칸 25개로 갖췄고, 원문 항목 25개(일반 13·RT 12) 가운데 몇 개를 채웠는지 화면에 보여 줍니다. 입력한 내용은 규칙 원문의 항목 이름과 함께 PDF에 적힙니다.</a:t>
            </a:r>
          </a:p>
          <a:p>
            <a:pPr marL="175260" indent="-175260">
              <a:lnSpc>
                <a:spcPct val="112000"/>
              </a:lnSpc>
              <a:spcAft>
                <a:spcPts val="600"/>
              </a:spcAft>
              <a:buClr>
                <a:srgbClr val="4FD0F5"/>
              </a:buClr>
              <a:buFont typeface="Arial"/>
              <a:buChar char="•"/>
            </a:pPr>
            <a:r>
              <a:rPr sz="1200" b="0" i="0">
                <a:solidFill>
                  <a:srgbClr val="1F2A44"/>
                </a:solidFill>
                <a:latin typeface="Pretendard"/>
                <a:ea typeface="Pretendard"/>
                <a:cs typeface="Pretendard"/>
              </a:rPr>
              <a:t>블록과 용접부, 결함 종류, 합격 여부, 기간으로 찾고 CSV로 내보냅니다. 선주나 선급이 물으면 </a:t>
            </a:r>
            <a:r>
              <a:rPr sz="1200" b="1" i="0">
                <a:solidFill>
                  <a:srgbClr val="1F2A44"/>
                </a:solidFill>
                <a:latin typeface="Pretendard"/>
                <a:ea typeface="Pretendard"/>
                <a:cs typeface="Pretendard"/>
              </a:rPr>
              <a:t>서류를 뒤지는 대신 화면에서 조회</a:t>
            </a:r>
            <a:r>
              <a:rPr sz="1200" b="0" i="0">
                <a:solidFill>
                  <a:srgbClr val="1F2A44"/>
                </a:solidFill>
                <a:latin typeface="Pretendard"/>
                <a:ea typeface="Pretendard"/>
                <a:cs typeface="Pretendard"/>
              </a:rPr>
              <a:t>합니다.</a:t>
            </a:r>
          </a:p>
          <a:p>
            <a:pPr marL="175260" indent="-175260">
              <a:lnSpc>
                <a:spcPct val="112000"/>
              </a:lnSpc>
              <a:spcAft>
                <a:spcPts val="600"/>
              </a:spcAft>
              <a:buClr>
                <a:srgbClr val="4FD0F5"/>
              </a:buClr>
              <a:buFont typeface="Arial"/>
              <a:buChar char="•"/>
            </a:pPr>
            <a:r>
              <a:rPr sz="1200" b="1" i="0">
                <a:solidFill>
                  <a:srgbClr val="1F2A44"/>
                </a:solidFill>
                <a:latin typeface="Pretendard"/>
                <a:ea typeface="Pretendard"/>
                <a:cs typeface="Pretendard"/>
              </a:rPr>
              <a:t>2028.01.01 이후 계약한 배에 적용되는 IACS 개정 규칙[1]의 100mm 구간 판독을 이미 만들어 뒀습니다.</a:t>
            </a:r>
            <a:r>
              <a:rPr sz="1200" b="0" i="0">
                <a:solidFill>
                  <a:srgbClr val="1F2A44"/>
                </a:solidFill>
                <a:latin typeface="Pretendard"/>
                <a:ea typeface="Pretendard"/>
                <a:cs typeface="Pretendard"/>
              </a:rPr>
              <a:t> 결함 위치를 따라 100mm 구간을 옮겨 가며 가장 나쁜 구간으로 판정합니다. 지금은 용접선이 가로로 놓인 필름 기준이고, 세로 필름은 본선 과제입니다. 위치 정보가 없으면 사진 전체를 한 구간으로 보고 더 엄격하게 판정합니다.</a:t>
            </a:r>
          </a:p>
          <a:p>
            <a:pPr marL="175260" indent="-175260">
              <a:lnSpc>
                <a:spcPct val="112000"/>
              </a:lnSpc>
              <a:spcAft>
                <a:spcPts val="600"/>
              </a:spcAft>
              <a:buClr>
                <a:srgbClr val="4FD0F5"/>
              </a:buClr>
              <a:buFont typeface="Arial"/>
              <a:buChar char="•"/>
            </a:pPr>
            <a:r>
              <a:rPr sz="1200" b="0" i="0">
                <a:solidFill>
                  <a:srgbClr val="1F2A44"/>
                </a:solidFill>
                <a:latin typeface="Pretendard"/>
                <a:ea typeface="Pretendard"/>
                <a:cs typeface="Pretendard"/>
              </a:rPr>
              <a:t>도입 경로는 두 가지입니다. 검사업체가 생산성 도구로 쓰거나, 조선소 품질부서가 보고서 표준화와 기록 관리에 씁니다. 둘 다 클라우드로 자료를 내보내지 않고 사내에 설치합니다.</a:t>
            </a:r>
          </a:p>
        </p:txBody>
      </p:sp>
      <p:sp>
        <p:nvSpPr>
          <p:cNvPr id="20" name="Rounded Rectangle 19"/>
          <p:cNvSpPr/>
          <p:nvPr/>
        </p:nvSpPr>
        <p:spPr>
          <a:xfrm>
            <a:off x="11978640" y="1371600"/>
            <a:ext cx="5696711" cy="4160520"/>
          </a:xfrm>
          <a:prstGeom prst="roundRect">
            <a:avLst>
              <a:gd name="adj" fmla="val 3500"/>
            </a:avLst>
          </a:prstGeom>
          <a:solidFill>
            <a:srgbClr val="FFFFFF"/>
          </a:solidFill>
          <a:ln w="9525">
            <a:solidFill>
              <a:srgbClr val="D9E0EC"/>
            </a:solidFill>
          </a:ln>
        </p:spPr>
        <p:txBody>
          <a:bodyPr rtlCol="0" anchor="ctr"/>
          <a:lstStyle/>
          <a:p/>
        </p:txBody>
      </p:sp>
      <p:sp>
        <p:nvSpPr>
          <p:cNvPr id="21" name="Oval 20"/>
          <p:cNvSpPr/>
          <p:nvPr/>
        </p:nvSpPr>
        <p:spPr>
          <a:xfrm>
            <a:off x="12298680" y="1746504"/>
            <a:ext cx="146304" cy="146304"/>
          </a:xfrm>
          <a:prstGeom prst="ellipse">
            <a:avLst/>
          </a:prstGeom>
          <a:solidFill>
            <a:srgbClr val="4FD0F5"/>
          </a:solidFill>
          <a:ln>
            <a:noFill/>
          </a:ln>
        </p:spPr>
        <p:txBody>
          <a:bodyPr rtlCol="0" anchor="ctr"/>
          <a:lstStyle/>
          <a:p>
            <a:pPr algn="ctr"/>
          </a:p>
        </p:txBody>
      </p:sp>
      <p:sp>
        <p:nvSpPr>
          <p:cNvPr id="22" name="TextBox 21"/>
          <p:cNvSpPr txBox="1"/>
          <p:nvPr/>
        </p:nvSpPr>
        <p:spPr>
          <a:xfrm>
            <a:off x="12545568" y="1645920"/>
            <a:ext cx="4809743" cy="384048"/>
          </a:xfrm>
          <a:prstGeom prst="rect">
            <a:avLst/>
          </a:prstGeom>
          <a:noFill/>
        </p:spPr>
        <p:txBody>
          <a:bodyPr wrap="square" anchor="t" lIns="0" rIns="0" tIns="0" bIns="0">
            <a:spAutoFit/>
          </a:bodyPr>
          <a:lstStyle/>
          <a:p>
            <a:pPr algn="l">
              <a:lnSpc>
                <a:spcPct val="112000"/>
              </a:lnSpc>
            </a:pPr>
            <a:r>
              <a:rPr sz="2000" b="1" i="0">
                <a:solidFill>
                  <a:srgbClr val="0B2A6B"/>
                </a:solidFill>
                <a:latin typeface="Pretendard"/>
                <a:ea typeface="Pretendard"/>
                <a:cs typeface="Pretendard"/>
              </a:rPr>
              <a:t>확장 가능성</a:t>
            </a:r>
          </a:p>
        </p:txBody>
      </p:sp>
      <p:sp>
        <p:nvSpPr>
          <p:cNvPr id="23" name="TextBox 22"/>
          <p:cNvSpPr txBox="1"/>
          <p:nvPr/>
        </p:nvSpPr>
        <p:spPr>
          <a:xfrm>
            <a:off x="12298680" y="2240280"/>
            <a:ext cx="5056631" cy="3154679"/>
          </a:xfrm>
          <a:prstGeom prst="rect">
            <a:avLst/>
          </a:prstGeom>
          <a:noFill/>
        </p:spPr>
        <p:txBody>
          <a:bodyPr wrap="square" anchor="t" lIns="0" rIns="0" tIns="0" bIns="0">
            <a:spAutoFit/>
          </a:bodyPr>
          <a:lstStyle/>
          <a:p>
            <a:pPr marL="175260" indent="-175260">
              <a:lnSpc>
                <a:spcPct val="112000"/>
              </a:lnSpc>
              <a:spcAft>
                <a:spcPts val="600"/>
              </a:spcAft>
              <a:buClr>
                <a:srgbClr val="4FD0F5"/>
              </a:buClr>
              <a:buFont typeface="Arial"/>
              <a:buChar char="•"/>
            </a:pPr>
            <a:r>
              <a:rPr sz="1200" b="0" i="0">
                <a:solidFill>
                  <a:srgbClr val="1F2A44"/>
                </a:solidFill>
                <a:latin typeface="Pretendard"/>
                <a:ea typeface="Pretendard"/>
                <a:cs typeface="Pretendard"/>
              </a:rPr>
              <a:t>기준표는 코드가 아니라 데이터 파일입니다. </a:t>
            </a:r>
            <a:r>
              <a:rPr sz="1200" b="1" i="0">
                <a:solidFill>
                  <a:srgbClr val="1F2A44"/>
                </a:solidFill>
                <a:latin typeface="Pretendard"/>
                <a:ea typeface="Pretendard"/>
                <a:cs typeface="Pretendard"/>
              </a:rPr>
              <a:t>판정식 세 가지 안에서는 수치만 바꿔 끼우면 되고</a:t>
            </a:r>
            <a:r>
              <a:rPr sz="1200" b="0" i="0">
                <a:solidFill>
                  <a:srgbClr val="1F2A44"/>
                </a:solidFill>
                <a:latin typeface="Pretendard"/>
                <a:ea typeface="Pretendard"/>
                <a:cs typeface="Pretendard"/>
              </a:rPr>
              <a:t>, 규격 판본별 파일을 화면에서 고릅니다.</a:t>
            </a:r>
          </a:p>
          <a:p>
            <a:pPr marL="175260" indent="-175260">
              <a:lnSpc>
                <a:spcPct val="112000"/>
              </a:lnSpc>
              <a:spcAft>
                <a:spcPts val="600"/>
              </a:spcAft>
              <a:buClr>
                <a:srgbClr val="4FD0F5"/>
              </a:buClr>
              <a:buFont typeface="Arial"/>
              <a:buChar char="•"/>
            </a:pPr>
            <a:r>
              <a:rPr sz="1200" b="1" i="0">
                <a:solidFill>
                  <a:srgbClr val="1F2A44"/>
                </a:solidFill>
                <a:latin typeface="Pretendard"/>
                <a:ea typeface="Pretendard"/>
                <a:cs typeface="Pretendard"/>
              </a:rPr>
              <a:t>디지털 RT 사진</a:t>
            </a:r>
            <a:r>
              <a:rPr sz="1200" b="0" i="0">
                <a:solidFill>
                  <a:srgbClr val="1F2A44"/>
                </a:solidFill>
                <a:latin typeface="Pretendard"/>
                <a:ea typeface="Pretendard"/>
                <a:cs typeface="Pretendard"/>
              </a:rPr>
              <a:t>도 같은 방법으로 처리합니다. 2021.07.01 이후 계약한 배의 검사 흐름에 그대로 들어갑니다. 다만 지금은 일반 사진 파일(8비트 PNG·JPG)만 받고, 밝기 단계가 더 촘촘한 장비 원본 파일(12·16비트 TIFF)은 본선 과제입니다.</a:t>
            </a:r>
          </a:p>
          <a:p>
            <a:pPr marL="175260" indent="-175260">
              <a:lnSpc>
                <a:spcPct val="112000"/>
              </a:lnSpc>
              <a:spcAft>
                <a:spcPts val="600"/>
              </a:spcAft>
              <a:buClr>
                <a:srgbClr val="4FD0F5"/>
              </a:buClr>
              <a:buFont typeface="Arial"/>
              <a:buChar char="•"/>
            </a:pPr>
            <a:r>
              <a:rPr sz="1200" b="0" i="0">
                <a:solidFill>
                  <a:srgbClr val="1F2A44"/>
                </a:solidFill>
                <a:latin typeface="Pretendard"/>
                <a:ea typeface="Pretendard"/>
                <a:cs typeface="Pretendard"/>
              </a:rPr>
              <a:t>KR도 2026.06 AI 기반 디지털 선급 협력을 시작했습니다[4]. 비파괴검사에만 한정된 협력은 아닙니다. 초음파 판독은 사진이 아니라 신호를 다루므로 범위 밖입니다.</a:t>
            </a:r>
          </a:p>
          <a:p>
            <a:pPr marL="175260" indent="-175260">
              <a:lnSpc>
                <a:spcPct val="112000"/>
              </a:lnSpc>
              <a:spcAft>
                <a:spcPts val="600"/>
              </a:spcAft>
              <a:buClr>
                <a:srgbClr val="4FD0F5"/>
              </a:buClr>
              <a:buFont typeface="Arial"/>
              <a:buChar char="•"/>
            </a:pPr>
            <a:r>
              <a:rPr sz="1200" b="0" i="0">
                <a:solidFill>
                  <a:srgbClr val="1F2A44"/>
                </a:solidFill>
                <a:latin typeface="Pretendard"/>
                <a:ea typeface="Pretendard"/>
                <a:cs typeface="Pretendard"/>
              </a:rPr>
              <a:t>발전 플랜트 배관처럼 </a:t>
            </a:r>
            <a:r>
              <a:rPr sz="1200" b="1" i="0">
                <a:solidFill>
                  <a:srgbClr val="1F2A44"/>
                </a:solidFill>
                <a:latin typeface="Pretendard"/>
                <a:ea typeface="Pretendard"/>
                <a:cs typeface="Pretendard"/>
              </a:rPr>
              <a:t>RT를 판독하는 곳이면 문제가 같습니다</a:t>
            </a:r>
            <a:r>
              <a:rPr sz="1200" b="0" i="0">
                <a:solidFill>
                  <a:srgbClr val="1F2A44"/>
                </a:solidFill>
                <a:latin typeface="Pretendard"/>
                <a:ea typeface="Pretendard"/>
                <a:cs typeface="Pretendard"/>
              </a:rPr>
              <a:t>. 두산에너빌리티 사례가 그 근거이고, 다른 산업으로 넓힐 수 있습니다.</a:t>
            </a:r>
          </a:p>
          <a:p>
            <a:pPr marL="175260" indent="-175260">
              <a:lnSpc>
                <a:spcPct val="112000"/>
              </a:lnSpc>
              <a:spcAft>
                <a:spcPts val="600"/>
              </a:spcAft>
              <a:buClr>
                <a:srgbClr val="4FD0F5"/>
              </a:buClr>
              <a:buFont typeface="Arial"/>
              <a:buChar char="•"/>
            </a:pPr>
            <a:r>
              <a:rPr sz="1200" b="0" i="0">
                <a:solidFill>
                  <a:srgbClr val="1F2A44"/>
                </a:solidFill>
                <a:latin typeface="Pretendard"/>
                <a:ea typeface="Pretendard"/>
                <a:cs typeface="Pretendard"/>
              </a:rPr>
              <a:t>앞으로는 조선소 현장 시범 적용, 재학습 자동화, DNV-RP-0671 같은 AI 신뢰성 지침에 맞춘 문서화[5], 설치형 패키징을 하겠습니다.</a:t>
            </a:r>
          </a:p>
        </p:txBody>
      </p:sp>
      <p:sp>
        <p:nvSpPr>
          <p:cNvPr id="24" name="Oval 23"/>
          <p:cNvSpPr/>
          <p:nvPr/>
        </p:nvSpPr>
        <p:spPr>
          <a:xfrm>
            <a:off x="4800600" y="5952744"/>
            <a:ext cx="146304" cy="146304"/>
          </a:xfrm>
          <a:prstGeom prst="ellipse">
            <a:avLst/>
          </a:prstGeom>
          <a:solidFill>
            <a:srgbClr val="4FD0F5"/>
          </a:solidFill>
          <a:ln>
            <a:noFill/>
          </a:ln>
        </p:spPr>
        <p:txBody>
          <a:bodyPr rtlCol="0" anchor="ctr"/>
          <a:lstStyle/>
          <a:p>
            <a:pPr algn="ctr"/>
          </a:p>
        </p:txBody>
      </p:sp>
      <p:sp>
        <p:nvSpPr>
          <p:cNvPr id="25" name="TextBox 24"/>
          <p:cNvSpPr txBox="1"/>
          <p:nvPr/>
        </p:nvSpPr>
        <p:spPr>
          <a:xfrm>
            <a:off x="5047488" y="5852159"/>
            <a:ext cx="12627864" cy="384048"/>
          </a:xfrm>
          <a:prstGeom prst="rect">
            <a:avLst/>
          </a:prstGeom>
          <a:noFill/>
        </p:spPr>
        <p:txBody>
          <a:bodyPr wrap="square" anchor="t" lIns="0" rIns="0" tIns="0" bIns="0">
            <a:spAutoFit/>
          </a:bodyPr>
          <a:lstStyle/>
          <a:p>
            <a:pPr algn="l">
              <a:lnSpc>
                <a:spcPct val="112000"/>
              </a:lnSpc>
            </a:pPr>
            <a:r>
              <a:rPr sz="2000" b="1" i="0">
                <a:solidFill>
                  <a:srgbClr val="0B2A6B"/>
                </a:solidFill>
                <a:latin typeface="Pretendard"/>
                <a:ea typeface="Pretendard"/>
                <a:cs typeface="Pretendard"/>
              </a:rPr>
              <a:t>정량 지표 · 효과는 재는 방법을, 검증은 지금 수치를 적었습니다</a:t>
            </a:r>
          </a:p>
        </p:txBody>
      </p:sp>
      <p:sp>
        <p:nvSpPr>
          <p:cNvPr id="26" name="Rounded Rectangle 25"/>
          <p:cNvSpPr/>
          <p:nvPr/>
        </p:nvSpPr>
        <p:spPr>
          <a:xfrm>
            <a:off x="4800600" y="6355079"/>
            <a:ext cx="3026664" cy="2212848"/>
          </a:xfrm>
          <a:prstGeom prst="roundRect">
            <a:avLst>
              <a:gd name="adj" fmla="val 3500"/>
            </a:avLst>
          </a:prstGeom>
          <a:solidFill>
            <a:srgbClr val="FFFFFF"/>
          </a:solidFill>
          <a:ln w="9525">
            <a:solidFill>
              <a:srgbClr val="D9E0EC"/>
            </a:solidFill>
          </a:ln>
        </p:spPr>
        <p:txBody>
          <a:bodyPr rtlCol="0" anchor="ctr"/>
          <a:lstStyle/>
          <a:p/>
        </p:txBody>
      </p:sp>
      <p:sp>
        <p:nvSpPr>
          <p:cNvPr id="27" name="TextBox 26"/>
          <p:cNvSpPr txBox="1"/>
          <p:nvPr/>
        </p:nvSpPr>
        <p:spPr>
          <a:xfrm>
            <a:off x="5074920" y="6611112"/>
            <a:ext cx="2478024" cy="274320"/>
          </a:xfrm>
          <a:prstGeom prst="rect">
            <a:avLst/>
          </a:prstGeom>
          <a:noFill/>
        </p:spPr>
        <p:txBody>
          <a:bodyPr wrap="square" anchor="t" lIns="0" rIns="0" tIns="0" bIns="0">
            <a:spAutoFit/>
          </a:bodyPr>
          <a:lstStyle/>
          <a:p>
            <a:pPr algn="l">
              <a:lnSpc>
                <a:spcPct val="112000"/>
              </a:lnSpc>
            </a:pPr>
            <a:r>
              <a:rPr sz="1300" b="1" i="0">
                <a:solidFill>
                  <a:srgbClr val="8B9AB5"/>
                </a:solidFill>
                <a:latin typeface="Pretendard"/>
                <a:ea typeface="Pretendard"/>
                <a:cs typeface="Pretendard"/>
              </a:rPr>
              <a:t>효과① 보고서 작성 시간</a:t>
            </a:r>
          </a:p>
        </p:txBody>
      </p:sp>
      <p:sp>
        <p:nvSpPr>
          <p:cNvPr id="28" name="TextBox 27"/>
          <p:cNvSpPr txBox="1"/>
          <p:nvPr/>
        </p:nvSpPr>
        <p:spPr>
          <a:xfrm>
            <a:off x="5074920" y="6958583"/>
            <a:ext cx="2478024" cy="566928"/>
          </a:xfrm>
          <a:prstGeom prst="rect">
            <a:avLst/>
          </a:prstGeom>
          <a:noFill/>
        </p:spPr>
        <p:txBody>
          <a:bodyPr wrap="square" anchor="t" lIns="0" rIns="0" tIns="0" bIns="0">
            <a:spAutoFit/>
          </a:bodyPr>
          <a:lstStyle/>
          <a:p>
            <a:pPr algn="l">
              <a:lnSpc>
                <a:spcPct val="112000"/>
              </a:lnSpc>
            </a:pPr>
            <a:r>
              <a:rPr sz="2400" b="1" i="0">
                <a:solidFill>
                  <a:srgbClr val="0B2A6B"/>
                </a:solidFill>
                <a:latin typeface="Pretendard"/>
                <a:ea typeface="Pretendard"/>
                <a:cs typeface="Pretendard"/>
              </a:rPr>
              <a:t>직접 측정</a:t>
            </a:r>
          </a:p>
        </p:txBody>
      </p:sp>
      <p:sp>
        <p:nvSpPr>
          <p:cNvPr id="29" name="TextBox 28"/>
          <p:cNvSpPr txBox="1"/>
          <p:nvPr/>
        </p:nvSpPr>
        <p:spPr>
          <a:xfrm>
            <a:off x="5074920" y="7616951"/>
            <a:ext cx="2478024" cy="841247"/>
          </a:xfrm>
          <a:prstGeom prst="rect">
            <a:avLst/>
          </a:prstGeom>
          <a:noFill/>
        </p:spPr>
        <p:txBody>
          <a:bodyPr wrap="square" anchor="t" lIns="0" rIns="0" tIns="0" bIns="0">
            <a:spAutoFit/>
          </a:bodyPr>
          <a:lstStyle/>
          <a:p>
            <a:pPr algn="l">
              <a:lnSpc>
                <a:spcPct val="110000"/>
              </a:lnSpc>
            </a:pPr>
            <a:r>
              <a:rPr sz="1050" b="0" i="0">
                <a:solidFill>
                  <a:srgbClr val="1F2A44"/>
                </a:solidFill>
                <a:latin typeface="Pretendard"/>
                <a:ea typeface="Pretendard"/>
                <a:cs typeface="Pretendard"/>
              </a:rPr>
              <a:t>앱이 사진을 연 순간부터 승인까지 걸린 시간을 자동으로 기록합니다. 손으로 하던 시간은 현직 판독원에게 확인한 뒤 비교합니다. 확인 전 수치는 적지 않습니다.</a:t>
            </a:r>
          </a:p>
        </p:txBody>
      </p:sp>
      <p:sp>
        <p:nvSpPr>
          <p:cNvPr id="30" name="Rounded Rectangle 29"/>
          <p:cNvSpPr/>
          <p:nvPr/>
        </p:nvSpPr>
        <p:spPr>
          <a:xfrm>
            <a:off x="8083296" y="6355079"/>
            <a:ext cx="3026664" cy="2212848"/>
          </a:xfrm>
          <a:prstGeom prst="roundRect">
            <a:avLst>
              <a:gd name="adj" fmla="val 3500"/>
            </a:avLst>
          </a:prstGeom>
          <a:solidFill>
            <a:srgbClr val="FFFFFF"/>
          </a:solidFill>
          <a:ln w="9525">
            <a:solidFill>
              <a:srgbClr val="D9E0EC"/>
            </a:solidFill>
          </a:ln>
        </p:spPr>
        <p:txBody>
          <a:bodyPr rtlCol="0" anchor="ctr"/>
          <a:lstStyle/>
          <a:p/>
        </p:txBody>
      </p:sp>
      <p:sp>
        <p:nvSpPr>
          <p:cNvPr id="31" name="TextBox 30"/>
          <p:cNvSpPr txBox="1"/>
          <p:nvPr/>
        </p:nvSpPr>
        <p:spPr>
          <a:xfrm>
            <a:off x="8357616" y="6611112"/>
            <a:ext cx="2478024" cy="274320"/>
          </a:xfrm>
          <a:prstGeom prst="rect">
            <a:avLst/>
          </a:prstGeom>
          <a:noFill/>
        </p:spPr>
        <p:txBody>
          <a:bodyPr wrap="square" anchor="t" lIns="0" rIns="0" tIns="0" bIns="0">
            <a:spAutoFit/>
          </a:bodyPr>
          <a:lstStyle/>
          <a:p>
            <a:pPr algn="l">
              <a:lnSpc>
                <a:spcPct val="112000"/>
              </a:lnSpc>
            </a:pPr>
            <a:r>
              <a:rPr sz="1300" b="1" i="0">
                <a:solidFill>
                  <a:srgbClr val="8B9AB5"/>
                </a:solidFill>
                <a:latin typeface="Pretendard"/>
                <a:ea typeface="Pretendard"/>
                <a:cs typeface="Pretendard"/>
              </a:rPr>
              <a:t>효과② 기록 찾는 시간</a:t>
            </a:r>
          </a:p>
        </p:txBody>
      </p:sp>
      <p:sp>
        <p:nvSpPr>
          <p:cNvPr id="32" name="TextBox 31"/>
          <p:cNvSpPr txBox="1"/>
          <p:nvPr/>
        </p:nvSpPr>
        <p:spPr>
          <a:xfrm>
            <a:off x="8357616" y="6958583"/>
            <a:ext cx="2478024" cy="566928"/>
          </a:xfrm>
          <a:prstGeom prst="rect">
            <a:avLst/>
          </a:prstGeom>
          <a:noFill/>
        </p:spPr>
        <p:txBody>
          <a:bodyPr wrap="square" anchor="t" lIns="0" rIns="0" tIns="0" bIns="0">
            <a:spAutoFit/>
          </a:bodyPr>
          <a:lstStyle/>
          <a:p>
            <a:pPr algn="l">
              <a:lnSpc>
                <a:spcPct val="112000"/>
              </a:lnSpc>
            </a:pPr>
            <a:r>
              <a:rPr sz="2400" b="1" i="0">
                <a:solidFill>
                  <a:srgbClr val="0B2A6B"/>
                </a:solidFill>
                <a:latin typeface="Pretendard"/>
                <a:ea typeface="Pretendard"/>
                <a:cs typeface="Pretendard"/>
              </a:rPr>
              <a:t>뒤지기에서 조회로</a:t>
            </a:r>
          </a:p>
        </p:txBody>
      </p:sp>
      <p:sp>
        <p:nvSpPr>
          <p:cNvPr id="33" name="TextBox 32"/>
          <p:cNvSpPr txBox="1"/>
          <p:nvPr/>
        </p:nvSpPr>
        <p:spPr>
          <a:xfrm>
            <a:off x="8357616" y="7616951"/>
            <a:ext cx="2478024" cy="841247"/>
          </a:xfrm>
          <a:prstGeom prst="rect">
            <a:avLst/>
          </a:prstGeom>
          <a:noFill/>
        </p:spPr>
        <p:txBody>
          <a:bodyPr wrap="square" anchor="t" lIns="0" rIns="0" tIns="0" bIns="0">
            <a:spAutoFit/>
          </a:bodyPr>
          <a:lstStyle/>
          <a:p>
            <a:pPr algn="l">
              <a:lnSpc>
                <a:spcPct val="110000"/>
              </a:lnSpc>
            </a:pPr>
            <a:r>
              <a:rPr sz="1050" b="0" i="0">
                <a:solidFill>
                  <a:srgbClr val="1F2A44"/>
                </a:solidFill>
                <a:latin typeface="Pretendard"/>
                <a:ea typeface="Pretendard"/>
                <a:cs typeface="Pretendard"/>
              </a:rPr>
              <a:t>블록과 용접부, 결함 종류, 합격 여부, 기간으로 찾고 말로도 찾습니다. 서류를 뒤지던 일을 화면 조회로 바꾸는 것이 목표이고, 시연에서 직접 재겠습니다.</a:t>
            </a:r>
          </a:p>
        </p:txBody>
      </p:sp>
      <p:sp>
        <p:nvSpPr>
          <p:cNvPr id="34" name="Rounded Rectangle 33"/>
          <p:cNvSpPr/>
          <p:nvPr/>
        </p:nvSpPr>
        <p:spPr>
          <a:xfrm>
            <a:off x="11365992" y="6355079"/>
            <a:ext cx="3026664" cy="2212848"/>
          </a:xfrm>
          <a:prstGeom prst="roundRect">
            <a:avLst>
              <a:gd name="adj" fmla="val 3500"/>
            </a:avLst>
          </a:prstGeom>
          <a:solidFill>
            <a:srgbClr val="FFFFFF"/>
          </a:solidFill>
          <a:ln w="9525">
            <a:solidFill>
              <a:srgbClr val="D9E0EC"/>
            </a:solidFill>
          </a:ln>
        </p:spPr>
        <p:txBody>
          <a:bodyPr rtlCol="0" anchor="ctr"/>
          <a:lstStyle/>
          <a:p/>
        </p:txBody>
      </p:sp>
      <p:sp>
        <p:nvSpPr>
          <p:cNvPr id="35" name="TextBox 34"/>
          <p:cNvSpPr txBox="1"/>
          <p:nvPr/>
        </p:nvSpPr>
        <p:spPr>
          <a:xfrm>
            <a:off x="11640312" y="6611112"/>
            <a:ext cx="2478024" cy="274320"/>
          </a:xfrm>
          <a:prstGeom prst="rect">
            <a:avLst/>
          </a:prstGeom>
          <a:noFill/>
        </p:spPr>
        <p:txBody>
          <a:bodyPr wrap="square" anchor="t" lIns="0" rIns="0" tIns="0" bIns="0">
            <a:spAutoFit/>
          </a:bodyPr>
          <a:lstStyle/>
          <a:p>
            <a:pPr algn="l">
              <a:lnSpc>
                <a:spcPct val="112000"/>
              </a:lnSpc>
            </a:pPr>
            <a:r>
              <a:rPr sz="1300" b="1" i="0">
                <a:solidFill>
                  <a:srgbClr val="8B9AB5"/>
                </a:solidFill>
                <a:latin typeface="Pretendard"/>
                <a:ea typeface="Pretendard"/>
                <a:cs typeface="Pretendard"/>
              </a:rPr>
              <a:t>검증① 두 번째 눈 성능</a:t>
            </a:r>
          </a:p>
        </p:txBody>
      </p:sp>
      <p:sp>
        <p:nvSpPr>
          <p:cNvPr id="36" name="TextBox 35"/>
          <p:cNvSpPr txBox="1"/>
          <p:nvPr/>
        </p:nvSpPr>
        <p:spPr>
          <a:xfrm>
            <a:off x="11640312" y="6958583"/>
            <a:ext cx="2478024" cy="566928"/>
          </a:xfrm>
          <a:prstGeom prst="rect">
            <a:avLst/>
          </a:prstGeom>
          <a:noFill/>
        </p:spPr>
        <p:txBody>
          <a:bodyPr wrap="square" anchor="t" lIns="0" rIns="0" tIns="0" bIns="0">
            <a:spAutoFit/>
          </a:bodyPr>
          <a:lstStyle/>
          <a:p>
            <a:pPr algn="l">
              <a:lnSpc>
                <a:spcPct val="112000"/>
              </a:lnSpc>
            </a:pPr>
            <a:r>
              <a:rPr sz="2400" b="1" i="0">
                <a:solidFill>
                  <a:srgbClr val="0B2A6B"/>
                </a:solidFill>
                <a:latin typeface="Pretendard"/>
                <a:ea typeface="Pretendard"/>
                <a:cs typeface="Pretendard"/>
              </a:rPr>
              <a:t>검출률 95% 이상</a:t>
            </a:r>
          </a:p>
        </p:txBody>
      </p:sp>
      <p:sp>
        <p:nvSpPr>
          <p:cNvPr id="37" name="TextBox 36"/>
          <p:cNvSpPr txBox="1"/>
          <p:nvPr/>
        </p:nvSpPr>
        <p:spPr>
          <a:xfrm>
            <a:off x="11640312" y="7616951"/>
            <a:ext cx="2478024" cy="841247"/>
          </a:xfrm>
          <a:prstGeom prst="rect">
            <a:avLst/>
          </a:prstGeom>
          <a:noFill/>
        </p:spPr>
        <p:txBody>
          <a:bodyPr wrap="square" anchor="t" lIns="0" rIns="0" tIns="0" bIns="0">
            <a:spAutoFit/>
          </a:bodyPr>
          <a:lstStyle/>
          <a:p>
            <a:pPr algn="l">
              <a:lnSpc>
                <a:spcPct val="110000"/>
              </a:lnSpc>
            </a:pPr>
            <a:r>
              <a:rPr sz="1050" b="0" i="0">
                <a:solidFill>
                  <a:srgbClr val="1F2A44"/>
                </a:solidFill>
                <a:latin typeface="Pretendard"/>
                <a:ea typeface="Pretendard"/>
                <a:cs typeface="Pretendard"/>
              </a:rPr>
              <a:t>실제로 쓸 신뢰도 기준에서 검출률과 장당 헛짚음을 함께 공개합니다. 지금 대체 탐지기는 합성 필름의 결함 14개를 모두 찾았고 장당 헛짚음은 3.8건입니다.</a:t>
            </a:r>
          </a:p>
        </p:txBody>
      </p:sp>
      <p:sp>
        <p:nvSpPr>
          <p:cNvPr id="38" name="Rounded Rectangle 37"/>
          <p:cNvSpPr/>
          <p:nvPr/>
        </p:nvSpPr>
        <p:spPr>
          <a:xfrm>
            <a:off x="14648688" y="6355079"/>
            <a:ext cx="3026664" cy="2212848"/>
          </a:xfrm>
          <a:prstGeom prst="roundRect">
            <a:avLst>
              <a:gd name="adj" fmla="val 3500"/>
            </a:avLst>
          </a:prstGeom>
          <a:solidFill>
            <a:srgbClr val="FFFFFF"/>
          </a:solidFill>
          <a:ln w="9525">
            <a:solidFill>
              <a:srgbClr val="D9E0EC"/>
            </a:solidFill>
          </a:ln>
        </p:spPr>
        <p:txBody>
          <a:bodyPr rtlCol="0" anchor="ctr"/>
          <a:lstStyle/>
          <a:p/>
        </p:txBody>
      </p:sp>
      <p:sp>
        <p:nvSpPr>
          <p:cNvPr id="39" name="TextBox 38"/>
          <p:cNvSpPr txBox="1"/>
          <p:nvPr/>
        </p:nvSpPr>
        <p:spPr>
          <a:xfrm>
            <a:off x="14923008" y="6611112"/>
            <a:ext cx="2478024" cy="274320"/>
          </a:xfrm>
          <a:prstGeom prst="rect">
            <a:avLst/>
          </a:prstGeom>
          <a:noFill/>
        </p:spPr>
        <p:txBody>
          <a:bodyPr wrap="square" anchor="t" lIns="0" rIns="0" tIns="0" bIns="0">
            <a:spAutoFit/>
          </a:bodyPr>
          <a:lstStyle/>
          <a:p>
            <a:pPr algn="l">
              <a:lnSpc>
                <a:spcPct val="112000"/>
              </a:lnSpc>
            </a:pPr>
            <a:r>
              <a:rPr sz="1300" b="1" i="0">
                <a:solidFill>
                  <a:srgbClr val="8B9AB5"/>
                </a:solidFill>
                <a:latin typeface="Pretendard"/>
                <a:ea typeface="Pretendard"/>
                <a:cs typeface="Pretendard"/>
              </a:rPr>
              <a:t>검증② 프로토타입 품질</a:t>
            </a:r>
          </a:p>
        </p:txBody>
      </p:sp>
      <p:sp>
        <p:nvSpPr>
          <p:cNvPr id="40" name="TextBox 39"/>
          <p:cNvSpPr txBox="1"/>
          <p:nvPr/>
        </p:nvSpPr>
        <p:spPr>
          <a:xfrm>
            <a:off x="14923008" y="6958583"/>
            <a:ext cx="2478024" cy="566928"/>
          </a:xfrm>
          <a:prstGeom prst="rect">
            <a:avLst/>
          </a:prstGeom>
          <a:noFill/>
        </p:spPr>
        <p:txBody>
          <a:bodyPr wrap="square" anchor="t" lIns="0" rIns="0" tIns="0" bIns="0">
            <a:spAutoFit/>
          </a:bodyPr>
          <a:lstStyle/>
          <a:p>
            <a:pPr algn="l">
              <a:lnSpc>
                <a:spcPct val="112000"/>
              </a:lnSpc>
            </a:pPr>
            <a:r>
              <a:rPr sz="2400" b="1" i="0">
                <a:solidFill>
                  <a:srgbClr val="0B2A6B"/>
                </a:solidFill>
                <a:latin typeface="Pretendard"/>
                <a:ea typeface="Pretendard"/>
                <a:cs typeface="Pretendard"/>
              </a:rPr>
              <a:t>테스트 281건</a:t>
            </a:r>
          </a:p>
        </p:txBody>
      </p:sp>
      <p:sp>
        <p:nvSpPr>
          <p:cNvPr id="41" name="TextBox 40"/>
          <p:cNvSpPr txBox="1"/>
          <p:nvPr/>
        </p:nvSpPr>
        <p:spPr>
          <a:xfrm>
            <a:off x="14923008" y="7616951"/>
            <a:ext cx="2478024" cy="841247"/>
          </a:xfrm>
          <a:prstGeom prst="rect">
            <a:avLst/>
          </a:prstGeom>
          <a:noFill/>
        </p:spPr>
        <p:txBody>
          <a:bodyPr wrap="square" anchor="t" lIns="0" rIns="0" tIns="0" bIns="0">
            <a:spAutoFit/>
          </a:bodyPr>
          <a:lstStyle/>
          <a:p>
            <a:pPr algn="l">
              <a:lnSpc>
                <a:spcPct val="110000"/>
              </a:lnSpc>
            </a:pPr>
            <a:r>
              <a:rPr sz="1050" b="0" i="0">
                <a:solidFill>
                  <a:srgbClr val="1F2A44"/>
                </a:solidFill>
                <a:latin typeface="Pretendard"/>
                <a:ea typeface="Pretendard"/>
                <a:cs typeface="Pretendard"/>
              </a:rPr>
              <a:t>자동 테스트 281건을 돌리고, 합성 필름으로 전 과정을 점검합니다. 판정 3종과 PDF, 기록, 라벨 내보내기를 매번 다시 확인합니다. 실제로 쓰기 시작하면 채택률과 놓친 건수를 자동으로 셉니다.</a:t>
            </a:r>
          </a:p>
        </p:txBody>
      </p:sp>
      <p:sp>
        <p:nvSpPr>
          <p:cNvPr id="42" name="TextBox 41"/>
          <p:cNvSpPr txBox="1"/>
          <p:nvPr/>
        </p:nvSpPr>
        <p:spPr>
          <a:xfrm>
            <a:off x="4800600" y="8686800"/>
            <a:ext cx="12874752" cy="457200"/>
          </a:xfrm>
          <a:prstGeom prst="rect">
            <a:avLst/>
          </a:prstGeom>
          <a:noFill/>
        </p:spPr>
        <p:txBody>
          <a:bodyPr wrap="square" anchor="t" lIns="0" rIns="0" tIns="0" bIns="0">
            <a:spAutoFit/>
          </a:bodyPr>
          <a:lstStyle/>
          <a:p>
            <a:pPr algn="l">
              <a:lnSpc>
                <a:spcPct val="110000"/>
              </a:lnSpc>
            </a:pPr>
            <a:r>
              <a:rPr sz="1200" b="0" i="0">
                <a:solidFill>
                  <a:srgbClr val="5B6B8C"/>
                </a:solidFill>
                <a:latin typeface="Pretendard"/>
                <a:ea typeface="Pretendard"/>
                <a:cs typeface="Pretendard"/>
              </a:rPr>
              <a:t>판정 항목마다 허용 한계와 근거 조항 번호, </a:t>
            </a:r>
            <a:r>
              <a:rPr sz="1200" b="1" i="0">
                <a:solidFill>
                  <a:srgbClr val="5B6B8C"/>
                </a:solidFill>
                <a:latin typeface="Pretendard"/>
                <a:ea typeface="Pretendard"/>
                <a:cs typeface="Pretendard"/>
              </a:rPr>
              <a:t>적용한 기준표 이름과 판본</a:t>
            </a:r>
            <a:r>
              <a:rPr sz="1200" b="0" i="0">
                <a:solidFill>
                  <a:srgbClr val="5B6B8C"/>
                </a:solidFill>
                <a:latin typeface="Pretendard"/>
                <a:ea typeface="Pretendard"/>
                <a:cs typeface="Pretendard"/>
              </a:rPr>
              <a:t>이 판정표와 PDF, 기록에 자동으로 적힙니다. 판본을 바꾸면 다시 판정하게 되어 있어, 근거가 빠질 수 없습니다. 지금 들어 있는 기준표는 데모용입니다.</a:t>
            </a:r>
          </a:p>
        </p:txBody>
      </p:sp>
      <p:sp>
        <p:nvSpPr>
          <p:cNvPr id="43" name="TextBox 42"/>
          <p:cNvSpPr txBox="1"/>
          <p:nvPr/>
        </p:nvSpPr>
        <p:spPr>
          <a:xfrm>
            <a:off x="4800600" y="9299448"/>
            <a:ext cx="12874752" cy="502920"/>
          </a:xfrm>
          <a:prstGeom prst="rect">
            <a:avLst/>
          </a:prstGeom>
          <a:noFill/>
        </p:spPr>
        <p:txBody>
          <a:bodyPr wrap="square" anchor="t" lIns="0" rIns="0" tIns="0" bIns="0">
            <a:spAutoFit/>
          </a:bodyPr>
          <a:lstStyle/>
          <a:p>
            <a:pPr algn="l">
              <a:lnSpc>
                <a:spcPct val="108000"/>
              </a:lnSpc>
            </a:pPr>
            <a:r>
              <a:rPr sz="850" b="0" i="0">
                <a:solidFill>
                  <a:srgbClr val="5B6B8C"/>
                </a:solidFill>
                <a:latin typeface="Pretendard"/>
                <a:ea typeface="Pretendard"/>
                <a:cs typeface="Pretendard"/>
              </a:rPr>
              <a:t>참고  [1] IACS UR W33 Rev.2·W34 Rev.1(2026.07.15 승인, 2028.01.01 이후 건조계약분. 100mm 평가 길이 자체는 현행 ISO 10675-1 기준)  ·  [2] 두산에너빌리티 2026.03 전시 인터뷰†  ·  [3] 가스신문 2025.09.18†  ·  [4] KR×Microsoft AI 협력 보도(2026.06)†  ·  [5] DNV-RP-0671(2023.09)†  ·  효과 지표는 재는 방법이며 확정된 수치가 아닙니다  ·  †는 검색 요약으로 확인한 자료입니다.</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327</Words>
  <Application>Microsoft Office PowerPoint</Application>
  <PresentationFormat>사용자 지정</PresentationFormat>
  <Paragraphs>77</Paragraphs>
  <Slides>6</Slides>
  <Notes>6</Notes>
  <HiddenSlides>0</HiddenSlides>
  <MMClips>0</MMClips>
  <ScaleCrop>false</ScaleCrop>
  <HeadingPairs>
    <vt:vector size="6" baseType="variant">
      <vt:variant>
        <vt:lpstr>사용한 글꼴</vt:lpstr>
      </vt:variant>
      <vt:variant>
        <vt:i4>2</vt:i4>
      </vt:variant>
      <vt:variant>
        <vt:lpstr>테마</vt:lpstr>
      </vt:variant>
      <vt:variant>
        <vt:i4>1</vt:i4>
      </vt:variant>
      <vt:variant>
        <vt:lpstr>슬라이드 제목</vt:lpstr>
      </vt:variant>
      <vt:variant>
        <vt:i4>6</vt:i4>
      </vt:variant>
    </vt:vector>
  </HeadingPairs>
  <TitlesOfParts>
    <vt:vector size="9" baseType="lpstr">
      <vt:lpstr>Pretendard</vt:lpstr>
      <vt:lpstr>Arial</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안 성민</cp:lastModifiedBy>
  <cp:revision>2</cp:revision>
  <dcterms:created xsi:type="dcterms:W3CDTF">2026-08-11T00:19:57Z</dcterms:created>
  <dcterms:modified xsi:type="dcterms:W3CDTF">2026-08-11T01:19:30Z</dcterms:modified>
</cp:coreProperties>
</file>