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2"/>
    <p:sldId id="257" r:id="rId3"/>
    <p:sldId id="258" r:id="rId4"/>
    <p:sldId id="259" r:id="rId5"/>
    <p:sldId id="260" r:id="rId6"/>
    <p:sldId id="261" r:id="rId7"/>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240" userDrawn="1">
          <p15:clr>
            <a:srgbClr val="A4A3A4"/>
          </p15:clr>
        </p15:guide>
        <p15:guide id="2" pos="576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72" d="100"/>
          <a:sy n="72" d="100"/>
        </p:scale>
        <p:origin x="576" y="66"/>
      </p:cViewPr>
      <p:guideLst>
        <p:guide orient="horz" pos="3240"/>
        <p:guide pos="57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01582943"/>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 정보를 채워 제출합니다.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문제 인식 배경과 목표를 구체적으로.</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아이디어 개요와 적용 기술, 차별점.</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MVP 기능, 범위, 역할, 시연 시나리오.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데이터 유형, 확보 경로, 대체 방안.</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산업적 효과와 정량 지표, 확장 가능성.</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gradFill rotWithShape="1">
            <a:gsLst>
              <a:gs pos="0">
                <a:srgbClr val="12489F">
                  <a:alpha val="100000"/>
                </a:srgbClr>
              </a:gs>
              <a:gs pos="42000">
                <a:srgbClr val="0B2A6B">
                  <a:alpha val="100000"/>
                </a:srgbClr>
              </a:gs>
              <a:gs pos="100000">
                <a:srgbClr val="061532">
                  <a:alpha val="100000"/>
                </a:srgbClr>
              </a:gs>
            </a:gsLst>
            <a:path path="circle">
              <a:fillToRect l="78000" t="18000" r="22000" b="82000"/>
            </a:path>
          </a:gradFill>
          <a:ln/>
        </p:spPr>
        <p:txBody>
          <a:bodyPr/>
          <a:lstStyle/>
          <a:p>
            <a:endParaRPr lang="ko-KR" altLang="en-US"/>
          </a:p>
        </p:txBody>
      </p:sp>
      <p:sp>
        <p:nvSpPr>
          <p:cNvPr id="3" name="Shape 1"/>
          <p:cNvSpPr/>
          <p:nvPr/>
        </p:nvSpPr>
        <p:spPr>
          <a:xfrm>
            <a:off x="1143000" y="3167063"/>
            <a:ext cx="609600" cy="38100"/>
          </a:xfrm>
          <a:prstGeom prst="rect">
            <a:avLst/>
          </a:prstGeom>
          <a:solidFill>
            <a:srgbClr val="4FD0F5"/>
          </a:solidFill>
          <a:ln/>
        </p:spPr>
        <p:txBody>
          <a:bodyPr/>
          <a:lstStyle/>
          <a:p>
            <a:endParaRPr lang="ko-KR" altLang="en-US"/>
          </a:p>
        </p:txBody>
      </p:sp>
      <p:sp>
        <p:nvSpPr>
          <p:cNvPr id="4" name="Text 2"/>
          <p:cNvSpPr/>
          <p:nvPr/>
        </p:nvSpPr>
        <p:spPr>
          <a:xfrm>
            <a:off x="1962150" y="2995613"/>
            <a:ext cx="1163241" cy="419100"/>
          </a:xfrm>
          <a:prstGeom prst="rect">
            <a:avLst/>
          </a:prstGeom>
          <a:noFill/>
          <a:ln/>
        </p:spPr>
        <p:txBody>
          <a:bodyPr wrap="square" lIns="25400" tIns="25400" rIns="25400" bIns="25400" rtlCol="0" anchor="t">
            <a:normAutofit/>
          </a:bodyPr>
          <a:lstStyle/>
          <a:p>
            <a:pPr marL="0" indent="0" algn="l">
              <a:buNone/>
            </a:pPr>
            <a:r>
              <a:rPr lang="en-US" sz="2550" b="1" kern="0" spc="561" dirty="0">
                <a:solidFill>
                  <a:srgbClr val="7FDCFF"/>
                </a:solidFill>
                <a:latin typeface="Pretendard" pitchFamily="34" charset="0"/>
                <a:ea typeface="Pretendard" pitchFamily="34" charset="-122"/>
                <a:cs typeface="Pretendard" pitchFamily="34" charset="-120"/>
              </a:rPr>
              <a:t>2026</a:t>
            </a:r>
            <a:endParaRPr lang="en-US" sz="2550" dirty="0"/>
          </a:p>
        </p:txBody>
      </p:sp>
      <p:sp>
        <p:nvSpPr>
          <p:cNvPr id="5" name="Text 3"/>
          <p:cNvSpPr/>
          <p:nvPr/>
        </p:nvSpPr>
        <p:spPr>
          <a:xfrm>
            <a:off x="1143000" y="3700463"/>
            <a:ext cx="17602200" cy="1466850"/>
          </a:xfrm>
          <a:prstGeom prst="rect">
            <a:avLst/>
          </a:prstGeom>
          <a:noFill/>
          <a:ln/>
        </p:spPr>
        <p:txBody>
          <a:bodyPr wrap="square" lIns="25400" tIns="25400" rIns="25400" bIns="25400" rtlCol="0" anchor="t">
            <a:normAutofit/>
          </a:bodyPr>
          <a:lstStyle/>
          <a:p>
            <a:pPr marL="0" indent="0" algn="l">
              <a:lnSpc>
                <a:spcPct val="85227"/>
              </a:lnSpc>
              <a:buNone/>
            </a:pPr>
            <a:r>
              <a:rPr lang="en-US" sz="11250" b="1" kern="0" spc="-337" dirty="0">
                <a:solidFill>
                  <a:srgbClr val="FFFFFF"/>
                </a:solidFill>
                <a:latin typeface="Pretendard" pitchFamily="34" charset="0"/>
                <a:ea typeface="Pretendard" pitchFamily="34" charset="-122"/>
                <a:cs typeface="Pretendard" pitchFamily="34" charset="-120"/>
              </a:rPr>
              <a:t>K-조선 해커톤</a:t>
            </a:r>
            <a:endParaRPr lang="en-US" sz="11250" dirty="0"/>
          </a:p>
        </p:txBody>
      </p:sp>
      <p:sp>
        <p:nvSpPr>
          <p:cNvPr id="6" name="Text 4"/>
          <p:cNvSpPr/>
          <p:nvPr/>
        </p:nvSpPr>
        <p:spPr>
          <a:xfrm>
            <a:off x="1143000" y="5453063"/>
            <a:ext cx="17602200" cy="752475"/>
          </a:xfrm>
          <a:prstGeom prst="rect">
            <a:avLst/>
          </a:prstGeom>
          <a:noFill/>
          <a:ln/>
        </p:spPr>
        <p:txBody>
          <a:bodyPr wrap="square" lIns="25400" tIns="25400" rIns="25400" bIns="25400" rtlCol="0" anchor="t">
            <a:normAutofit/>
          </a:bodyPr>
          <a:lstStyle/>
          <a:p>
            <a:pPr marL="0" indent="0" algn="l">
              <a:buNone/>
            </a:pPr>
            <a:r>
              <a:rPr lang="en-US" sz="4800" kern="0" spc="1440" dirty="0">
                <a:solidFill>
                  <a:srgbClr val="BCD8FF"/>
                </a:solidFill>
                <a:latin typeface="Pretendard" pitchFamily="34" charset="0"/>
                <a:ea typeface="Pretendard" pitchFamily="34" charset="-122"/>
                <a:cs typeface="Pretendard" pitchFamily="34" charset="-120"/>
              </a:rPr>
              <a:t>계 획 서</a:t>
            </a:r>
            <a:endParaRPr lang="en-US" sz="4800" dirty="0"/>
          </a:p>
        </p:txBody>
      </p:sp>
      <p:sp>
        <p:nvSpPr>
          <p:cNvPr id="7" name="Shape 5"/>
          <p:cNvSpPr/>
          <p:nvPr/>
        </p:nvSpPr>
        <p:spPr>
          <a:xfrm>
            <a:off x="1143000" y="8115300"/>
            <a:ext cx="16002000" cy="19050"/>
          </a:xfrm>
          <a:prstGeom prst="rect">
            <a:avLst/>
          </a:prstGeom>
          <a:solidFill>
            <a:srgbClr val="7FDCFF">
              <a:alpha val="45000"/>
            </a:srgbClr>
          </a:solidFill>
          <a:ln/>
        </p:spPr>
        <p:txBody>
          <a:bodyPr/>
          <a:lstStyle/>
          <a:p>
            <a:endParaRPr lang="ko-KR" altLang="en-US"/>
          </a:p>
        </p:txBody>
      </p:sp>
      <p:sp>
        <p:nvSpPr>
          <p:cNvPr id="8" name="Text 6"/>
          <p:cNvSpPr/>
          <p:nvPr/>
        </p:nvSpPr>
        <p:spPr>
          <a:xfrm>
            <a:off x="1143000" y="8553450"/>
            <a:ext cx="5238750" cy="333375"/>
          </a:xfrm>
          <a:prstGeom prst="rect">
            <a:avLst/>
          </a:prstGeom>
          <a:noFill/>
          <a:ln/>
        </p:spPr>
        <p:txBody>
          <a:bodyPr wrap="square" lIns="25400" tIns="25400" rIns="25400" bIns="25400" rtlCol="0" anchor="t">
            <a:normAutofit/>
          </a:bodyPr>
          <a:lstStyle/>
          <a:p>
            <a:pPr marL="0" indent="0" algn="l">
              <a:buNone/>
            </a:pPr>
            <a:r>
              <a:rPr lang="en-US" sz="1950" b="1" kern="0" spc="312" dirty="0">
                <a:solidFill>
                  <a:srgbClr val="4FD0F5"/>
                </a:solidFill>
                <a:latin typeface="Pretendard" pitchFamily="34" charset="0"/>
                <a:ea typeface="Pretendard" pitchFamily="34" charset="-122"/>
                <a:cs typeface="Pretendard" pitchFamily="34" charset="-120"/>
              </a:rPr>
              <a:t>팀명</a:t>
            </a:r>
            <a:endParaRPr lang="en-US" sz="1950" dirty="0"/>
          </a:p>
        </p:txBody>
      </p:sp>
      <p:sp>
        <p:nvSpPr>
          <p:cNvPr id="9" name="Text 7"/>
          <p:cNvSpPr/>
          <p:nvPr/>
        </p:nvSpPr>
        <p:spPr>
          <a:xfrm>
            <a:off x="1143000" y="8982075"/>
            <a:ext cx="5238750" cy="485775"/>
          </a:xfrm>
          <a:prstGeom prst="rect">
            <a:avLst/>
          </a:prstGeom>
          <a:noFill/>
          <a:ln/>
        </p:spPr>
        <p:txBody>
          <a:bodyPr wrap="square" lIns="25400" tIns="25400" rIns="25400" bIns="25400" rtlCol="0" anchor="t">
            <a:normAutofit/>
          </a:bodyPr>
          <a:lstStyle/>
          <a:p>
            <a:pPr marL="0" indent="0" algn="l">
              <a:buNone/>
            </a:pPr>
            <a:r>
              <a:rPr lang="en-US" sz="3000" dirty="0">
                <a:solidFill>
                  <a:srgbClr val="FFFFFF">
                    <a:alpha val="55000"/>
                  </a:srgbClr>
                </a:solidFill>
                <a:latin typeface="Pretendard" pitchFamily="34" charset="0"/>
                <a:ea typeface="Pretendard" pitchFamily="34" charset="-122"/>
                <a:cs typeface="Pretendard" pitchFamily="34" charset="-120"/>
              </a:rPr>
              <a:t>[팀명 기재]</a:t>
            </a:r>
            <a:endParaRPr lang="en-US" sz="3000" dirty="0"/>
          </a:p>
        </p:txBody>
      </p:sp>
      <p:sp>
        <p:nvSpPr>
          <p:cNvPr id="10" name="Shape 8"/>
          <p:cNvSpPr/>
          <p:nvPr/>
        </p:nvSpPr>
        <p:spPr>
          <a:xfrm>
            <a:off x="6477000" y="8553450"/>
            <a:ext cx="9525" cy="876300"/>
          </a:xfrm>
          <a:prstGeom prst="rect">
            <a:avLst/>
          </a:prstGeom>
          <a:solidFill>
            <a:srgbClr val="FFFFFF">
              <a:alpha val="18000"/>
            </a:srgbClr>
          </a:solidFill>
          <a:ln/>
        </p:spPr>
        <p:txBody>
          <a:bodyPr/>
          <a:lstStyle/>
          <a:p>
            <a:endParaRPr lang="ko-KR" altLang="en-US"/>
          </a:p>
        </p:txBody>
      </p:sp>
      <p:sp>
        <p:nvSpPr>
          <p:cNvPr id="11" name="Text 9"/>
          <p:cNvSpPr/>
          <p:nvPr/>
        </p:nvSpPr>
        <p:spPr>
          <a:xfrm>
            <a:off x="7058025" y="8553450"/>
            <a:ext cx="4599623" cy="333375"/>
          </a:xfrm>
          <a:prstGeom prst="rect">
            <a:avLst/>
          </a:prstGeom>
          <a:noFill/>
          <a:ln/>
        </p:spPr>
        <p:txBody>
          <a:bodyPr wrap="square" lIns="25400" tIns="25400" rIns="25400" bIns="25400" rtlCol="0" anchor="t">
            <a:normAutofit/>
          </a:bodyPr>
          <a:lstStyle/>
          <a:p>
            <a:pPr marL="0" indent="0" algn="l">
              <a:buNone/>
            </a:pPr>
            <a:r>
              <a:rPr lang="en-US" sz="1950" b="1" kern="0" spc="312" dirty="0">
                <a:solidFill>
                  <a:srgbClr val="4FD0F5"/>
                </a:solidFill>
                <a:latin typeface="Pretendard" pitchFamily="34" charset="0"/>
                <a:ea typeface="Pretendard" pitchFamily="34" charset="-122"/>
                <a:cs typeface="Pretendard" pitchFamily="34" charset="-120"/>
              </a:rPr>
              <a:t>팀장</a:t>
            </a:r>
            <a:endParaRPr lang="en-US" sz="1950" dirty="0"/>
          </a:p>
        </p:txBody>
      </p:sp>
      <p:sp>
        <p:nvSpPr>
          <p:cNvPr id="12" name="Text 10"/>
          <p:cNvSpPr/>
          <p:nvPr/>
        </p:nvSpPr>
        <p:spPr>
          <a:xfrm>
            <a:off x="7058025" y="8982075"/>
            <a:ext cx="4599623" cy="485775"/>
          </a:xfrm>
          <a:prstGeom prst="rect">
            <a:avLst/>
          </a:prstGeom>
          <a:noFill/>
          <a:ln/>
        </p:spPr>
        <p:txBody>
          <a:bodyPr wrap="square" lIns="25400" tIns="25400" rIns="25400" bIns="25400" rtlCol="0" anchor="t">
            <a:normAutofit/>
          </a:bodyPr>
          <a:lstStyle/>
          <a:p>
            <a:pPr marL="0" indent="0" algn="l">
              <a:buNone/>
            </a:pPr>
            <a:r>
              <a:rPr lang="en-US" sz="3000" dirty="0">
                <a:solidFill>
                  <a:srgbClr val="FFFFFF">
                    <a:alpha val="55000"/>
                  </a:srgbClr>
                </a:solidFill>
                <a:latin typeface="Pretendard" pitchFamily="34" charset="0"/>
                <a:ea typeface="Pretendard" pitchFamily="34" charset="-122"/>
                <a:cs typeface="Pretendard" pitchFamily="34" charset="-120"/>
              </a:rPr>
              <a:t>[팀장 성명 기재]</a:t>
            </a:r>
            <a:endParaRPr lang="en-US" sz="3000" dirty="0"/>
          </a:p>
        </p:txBody>
      </p:sp>
      <p:sp>
        <p:nvSpPr>
          <p:cNvPr id="13" name="Shape 11"/>
          <p:cNvSpPr/>
          <p:nvPr/>
        </p:nvSpPr>
        <p:spPr>
          <a:xfrm>
            <a:off x="11811000" y="8553450"/>
            <a:ext cx="9525" cy="876300"/>
          </a:xfrm>
          <a:prstGeom prst="rect">
            <a:avLst/>
          </a:prstGeom>
          <a:solidFill>
            <a:srgbClr val="FFFFFF">
              <a:alpha val="18000"/>
            </a:srgbClr>
          </a:solidFill>
          <a:ln/>
        </p:spPr>
        <p:txBody>
          <a:bodyPr/>
          <a:lstStyle/>
          <a:p>
            <a:endParaRPr lang="ko-KR" altLang="en-US"/>
          </a:p>
        </p:txBody>
      </p:sp>
      <p:sp>
        <p:nvSpPr>
          <p:cNvPr id="14" name="Text 12"/>
          <p:cNvSpPr/>
          <p:nvPr/>
        </p:nvSpPr>
        <p:spPr>
          <a:xfrm>
            <a:off x="12392025" y="8553450"/>
            <a:ext cx="5228273" cy="333375"/>
          </a:xfrm>
          <a:prstGeom prst="rect">
            <a:avLst/>
          </a:prstGeom>
          <a:noFill/>
          <a:ln/>
        </p:spPr>
        <p:txBody>
          <a:bodyPr wrap="square" lIns="25400" tIns="25400" rIns="25400" bIns="25400" rtlCol="0" anchor="t">
            <a:normAutofit/>
          </a:bodyPr>
          <a:lstStyle/>
          <a:p>
            <a:pPr marL="0" indent="0" algn="l">
              <a:buNone/>
            </a:pPr>
            <a:r>
              <a:rPr lang="en-US" sz="1950" b="1" kern="0" spc="312" dirty="0">
                <a:solidFill>
                  <a:srgbClr val="4FD0F5"/>
                </a:solidFill>
                <a:latin typeface="Pretendard" pitchFamily="34" charset="0"/>
                <a:ea typeface="Pretendard" pitchFamily="34" charset="-122"/>
                <a:cs typeface="Pretendard" pitchFamily="34" charset="-120"/>
              </a:rPr>
              <a:t>팀원</a:t>
            </a:r>
            <a:endParaRPr lang="en-US" sz="1950" dirty="0"/>
          </a:p>
        </p:txBody>
      </p:sp>
      <p:sp>
        <p:nvSpPr>
          <p:cNvPr id="15" name="Text 13"/>
          <p:cNvSpPr/>
          <p:nvPr/>
        </p:nvSpPr>
        <p:spPr>
          <a:xfrm>
            <a:off x="12392025" y="8982075"/>
            <a:ext cx="5029200" cy="485775"/>
          </a:xfrm>
          <a:prstGeom prst="rect">
            <a:avLst/>
          </a:prstGeom>
          <a:noFill/>
          <a:ln/>
        </p:spPr>
        <p:txBody>
          <a:bodyPr wrap="square" lIns="25400" tIns="25400" rIns="25400" bIns="25400" rtlCol="0" anchor="t">
            <a:normAutofit/>
          </a:bodyPr>
          <a:lstStyle/>
          <a:p>
            <a:pPr marL="0" indent="0" algn="l">
              <a:buNone/>
            </a:pPr>
            <a:r>
              <a:rPr lang="en-US" sz="3000" dirty="0">
                <a:solidFill>
                  <a:srgbClr val="FFFFFF">
                    <a:alpha val="55000"/>
                  </a:srgbClr>
                </a:solidFill>
                <a:latin typeface="Pretendard" pitchFamily="34" charset="0"/>
                <a:ea typeface="Pretendard" pitchFamily="34" charset="-122"/>
                <a:cs typeface="Pretendard" pitchFamily="34" charset="-120"/>
              </a:rPr>
              <a:t>1인 참가</a:t>
            </a:r>
            <a:endParaRPr lang="en-US" sz="3000" dirty="0"/>
          </a:p>
        </p:txBody>
      </p:sp>
      <p:sp>
        <p:nvSpPr>
          <p:cNvPr id="16" name="TextBox 15"/>
          <p:cNvSpPr txBox="1"/>
          <p:nvPr/>
        </p:nvSpPr>
        <p:spPr>
          <a:xfrm>
            <a:off x="1143000" y="6510528"/>
            <a:ext cx="16002000" cy="566928"/>
          </a:xfrm>
          <a:prstGeom prst="rect">
            <a:avLst/>
          </a:prstGeom>
          <a:noFill/>
        </p:spPr>
        <p:txBody>
          <a:bodyPr wrap="square" anchor="t" lIns="0" rIns="0" tIns="0" bIns="0">
            <a:spAutoFit/>
          </a:bodyPr>
          <a:lstStyle/>
          <a:p>
            <a:pPr algn="l">
              <a:lnSpc>
                <a:spcPct val="112000"/>
              </a:lnSpc>
            </a:pPr>
            <a:r>
              <a:rPr sz="2600" b="1" i="0">
                <a:solidFill>
                  <a:srgbClr val="FFFFFF"/>
                </a:solidFill>
                <a:latin typeface="Pretendard"/>
                <a:ea typeface="Pretendard"/>
                <a:cs typeface="Pretendard"/>
              </a:rPr>
              <a:t>RT 판독 워크벤치 — “판독은 자격자가, 서류는 AI가.”</a:t>
            </a:r>
          </a:p>
        </p:txBody>
      </p:sp>
      <p:sp>
        <p:nvSpPr>
          <p:cNvPr id="17" name="TextBox 16"/>
          <p:cNvSpPr txBox="1"/>
          <p:nvPr/>
        </p:nvSpPr>
        <p:spPr>
          <a:xfrm>
            <a:off x="1143000" y="7150608"/>
            <a:ext cx="16002000" cy="411480"/>
          </a:xfrm>
          <a:prstGeom prst="rect">
            <a:avLst/>
          </a:prstGeom>
          <a:noFill/>
        </p:spPr>
        <p:txBody>
          <a:bodyPr wrap="square" anchor="t" lIns="0" rIns="0" tIns="0" bIns="0">
            <a:spAutoFit/>
          </a:bodyPr>
          <a:lstStyle/>
          <a:p>
            <a:pPr algn="l">
              <a:lnSpc>
                <a:spcPct val="112000"/>
              </a:lnSpc>
            </a:pPr>
            <a:r>
              <a:rPr sz="1600" b="0" i="0">
                <a:solidFill>
                  <a:srgbClr val="7FDCFF"/>
                </a:solidFill>
                <a:latin typeface="Pretendard"/>
                <a:ea typeface="Pretendard"/>
                <a:cs typeface="Pretendard"/>
              </a:rPr>
              <a:t>생산 분야 · 용접부 RT(방사선투과검사) 판독원의 판정·소견서·이력 업무를 돕는 로컬 실행 소프트웨어</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5FA"/>
        </a:solidFill>
        <a:effectLst/>
      </p:bgPr>
    </p:bg>
    <p:spTree>
      <p:nvGrpSpPr>
        <p:cNvPr id="1" name=""/>
        <p:cNvGrpSpPr/>
        <p:nvPr/>
      </p:nvGrpSpPr>
      <p:grpSpPr>
        <a:xfrm>
          <a:off x="0" y="0"/>
          <a:ext cx="0" cy="0"/>
          <a:chOff x="0" y="0"/>
          <a:chExt cx="0" cy="0"/>
        </a:xfrm>
      </p:grpSpPr>
      <p:sp>
        <p:nvSpPr>
          <p:cNvPr id="2" name="Shape 0"/>
          <p:cNvSpPr/>
          <p:nvPr/>
        </p:nvSpPr>
        <p:spPr>
          <a:xfrm>
            <a:off x="0" y="0"/>
            <a:ext cx="4191000" cy="10287000"/>
          </a:xfrm>
          <a:prstGeom prst="rect">
            <a:avLst/>
          </a:prstGeom>
          <a:solidFill>
            <a:srgbClr val="0B2A6B"/>
          </a:solidFill>
          <a:ln/>
        </p:spPr>
        <p:txBody>
          <a:bodyPr/>
          <a:lstStyle/>
          <a:p>
            <a:endParaRPr lang="ko-KR" altLang="en-US"/>
          </a:p>
        </p:txBody>
      </p:sp>
      <p:sp>
        <p:nvSpPr>
          <p:cNvPr id="3" name="Text 1"/>
          <p:cNvSpPr/>
          <p:nvPr/>
        </p:nvSpPr>
        <p:spPr>
          <a:xfrm>
            <a:off x="571500" y="685800"/>
            <a:ext cx="805607" cy="603796"/>
          </a:xfrm>
          <a:prstGeom prst="rect">
            <a:avLst/>
          </a:prstGeom>
          <a:noFill/>
          <a:ln/>
        </p:spPr>
        <p:txBody>
          <a:bodyPr wrap="square" lIns="25400" tIns="25400" rIns="25400" bIns="25400" rtlCol="0" anchor="t">
            <a:normAutofit/>
          </a:bodyPr>
          <a:lstStyle/>
          <a:p>
            <a:pPr marL="0" indent="0" algn="l">
              <a:lnSpc>
                <a:spcPct val="77143"/>
              </a:lnSpc>
              <a:buNone/>
            </a:pPr>
            <a:r>
              <a:rPr lang="en-US" sz="4950" b="1" dirty="0">
                <a:solidFill>
                  <a:srgbClr val="4FD0F5"/>
                </a:solidFill>
                <a:latin typeface="Pretendard" pitchFamily="34" charset="0"/>
                <a:ea typeface="Pretendard" pitchFamily="34" charset="-122"/>
                <a:cs typeface="Pretendard" pitchFamily="34" charset="-120"/>
              </a:rPr>
              <a:t>01</a:t>
            </a:r>
            <a:endParaRPr lang="en-US" sz="4950" dirty="0"/>
          </a:p>
        </p:txBody>
      </p:sp>
      <p:sp>
        <p:nvSpPr>
          <p:cNvPr id="4" name="Shape 2"/>
          <p:cNvSpPr/>
          <p:nvPr/>
        </p:nvSpPr>
        <p:spPr>
          <a:xfrm>
            <a:off x="1529507" y="1028700"/>
            <a:ext cx="533400" cy="28575"/>
          </a:xfrm>
          <a:prstGeom prst="rect">
            <a:avLst/>
          </a:prstGeom>
          <a:solidFill>
            <a:srgbClr val="7FDCFF">
              <a:alpha val="50000"/>
            </a:srgbClr>
          </a:solidFill>
          <a:ln/>
        </p:spPr>
        <p:txBody>
          <a:bodyPr/>
          <a:lstStyle/>
          <a:p>
            <a:endParaRPr lang="ko-KR" altLang="en-US"/>
          </a:p>
        </p:txBody>
      </p:sp>
      <p:sp>
        <p:nvSpPr>
          <p:cNvPr id="5" name="Text 3"/>
          <p:cNvSpPr/>
          <p:nvPr/>
        </p:nvSpPr>
        <p:spPr>
          <a:xfrm>
            <a:off x="571500" y="1613446"/>
            <a:ext cx="3520440" cy="563761"/>
          </a:xfrm>
          <a:prstGeom prst="rect">
            <a:avLst/>
          </a:prstGeom>
          <a:noFill/>
          <a:ln/>
        </p:spPr>
        <p:txBody>
          <a:bodyPr wrap="square" lIns="25400" tIns="25400" rIns="25400" bIns="25400" rtlCol="0" anchor="t">
            <a:normAutofit/>
          </a:bodyPr>
          <a:lstStyle/>
          <a:p>
            <a:pPr marL="0" indent="0" algn="l">
              <a:lnSpc>
                <a:spcPct val="102222"/>
              </a:lnSpc>
              <a:buNone/>
            </a:pPr>
            <a:r>
              <a:rPr lang="en-US" sz="3450" b="1" kern="0" spc="-69" dirty="0">
                <a:solidFill>
                  <a:srgbClr val="FFFFFF"/>
                </a:solidFill>
                <a:latin typeface="Pretendard" pitchFamily="34" charset="0"/>
                <a:ea typeface="Pretendard" pitchFamily="34" charset="-122"/>
                <a:cs typeface="Pretendard" pitchFamily="34" charset="-120"/>
              </a:rPr>
              <a:t>배경 및 목적</a:t>
            </a:r>
            <a:endParaRPr lang="en-US" sz="3450" dirty="0"/>
          </a:p>
        </p:txBody>
      </p:sp>
      <p:sp>
        <p:nvSpPr>
          <p:cNvPr id="6" name="Shape 4"/>
          <p:cNvSpPr/>
          <p:nvPr/>
        </p:nvSpPr>
        <p:spPr>
          <a:xfrm>
            <a:off x="571500" y="2501057"/>
            <a:ext cx="3200400" cy="19050"/>
          </a:xfrm>
          <a:prstGeom prst="rect">
            <a:avLst/>
          </a:prstGeom>
          <a:solidFill>
            <a:srgbClr val="7FDCFF">
              <a:alpha val="35000"/>
            </a:srgbClr>
          </a:solidFill>
          <a:ln/>
        </p:spPr>
        <p:txBody>
          <a:bodyPr/>
          <a:lstStyle/>
          <a:p>
            <a:endParaRPr lang="ko-KR" altLang="en-US"/>
          </a:p>
        </p:txBody>
      </p:sp>
      <p:sp>
        <p:nvSpPr>
          <p:cNvPr id="7" name="Text 5"/>
          <p:cNvSpPr/>
          <p:nvPr/>
        </p:nvSpPr>
        <p:spPr>
          <a:xfrm>
            <a:off x="571500" y="2786807"/>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문제 인식 배경</a:t>
            </a:r>
            <a:endParaRPr lang="en-US" sz="2025" dirty="0"/>
          </a:p>
        </p:txBody>
      </p:sp>
      <p:sp>
        <p:nvSpPr>
          <p:cNvPr id="8" name="Text 6"/>
          <p:cNvSpPr/>
          <p:nvPr/>
        </p:nvSpPr>
        <p:spPr>
          <a:xfrm>
            <a:off x="571500" y="3177332"/>
            <a:ext cx="3296412" cy="70098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FFFFFF">
                    <a:alpha val="72000"/>
                  </a:srgbClr>
                </a:solidFill>
                <a:latin typeface="Pretendard" pitchFamily="34" charset="0"/>
                <a:ea typeface="Pretendard" pitchFamily="34" charset="-122"/>
                <a:cs typeface="Pretendard" pitchFamily="34" charset="-120"/>
              </a:rPr>
              <a:t>조선산업 현장에서 발견한 문제·불편함과 그 근거</a:t>
            </a:r>
            <a:endParaRPr lang="en-US" sz="1800" dirty="0"/>
          </a:p>
        </p:txBody>
      </p:sp>
      <p:sp>
        <p:nvSpPr>
          <p:cNvPr id="9" name="Text 7"/>
          <p:cNvSpPr/>
          <p:nvPr/>
        </p:nvSpPr>
        <p:spPr>
          <a:xfrm>
            <a:off x="571500" y="4087862"/>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해결하고자 하는 목표</a:t>
            </a:r>
            <a:endParaRPr lang="en-US" sz="2025" dirty="0"/>
          </a:p>
        </p:txBody>
      </p:sp>
      <p:sp>
        <p:nvSpPr>
          <p:cNvPr id="10" name="Text 8"/>
          <p:cNvSpPr/>
          <p:nvPr/>
        </p:nvSpPr>
        <p:spPr>
          <a:xfrm>
            <a:off x="571500" y="4478387"/>
            <a:ext cx="3296412" cy="70098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FFFFFF">
                    <a:alpha val="72000"/>
                  </a:srgbClr>
                </a:solidFill>
                <a:latin typeface="Pretendard" pitchFamily="34" charset="0"/>
                <a:ea typeface="Pretendard" pitchFamily="34" charset="-122"/>
                <a:cs typeface="Pretendard" pitchFamily="34" charset="-120"/>
              </a:rPr>
              <a:t>본 프로젝트로 달성하려는 상태를 구체적으로 기술</a:t>
            </a:r>
            <a:endParaRPr lang="en-US" sz="1800" dirty="0"/>
          </a:p>
        </p:txBody>
      </p:sp>
      <p:sp>
        <p:nvSpPr>
          <p:cNvPr id="11" name="Text 9"/>
          <p:cNvSpPr/>
          <p:nvPr/>
        </p:nvSpPr>
        <p:spPr>
          <a:xfrm>
            <a:off x="571500" y="5388918"/>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해당 AX 분야</a:t>
            </a:r>
            <a:endParaRPr lang="en-US" sz="2025" dirty="0"/>
          </a:p>
        </p:txBody>
      </p:sp>
      <p:sp>
        <p:nvSpPr>
          <p:cNvPr id="12" name="Text 10"/>
          <p:cNvSpPr/>
          <p:nvPr/>
        </p:nvSpPr>
        <p:spPr>
          <a:xfrm>
            <a:off x="571500" y="5779443"/>
            <a:ext cx="3296412" cy="70098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FFFFFF">
                    <a:alpha val="72000"/>
                  </a:srgbClr>
                </a:solidFill>
                <a:latin typeface="Pretendard" pitchFamily="34" charset="0"/>
                <a:ea typeface="Pretendard" pitchFamily="34" charset="-122"/>
                <a:cs typeface="Pretendard" pitchFamily="34" charset="-120"/>
              </a:rPr>
              <a:t>영업 / 설계 / 구매 / 생산 / 품질 / 안전 / 선박 중 선택</a:t>
            </a:r>
            <a:endParaRPr lang="en-US" sz="1800" dirty="0"/>
          </a:p>
        </p:txBody>
      </p:sp>
      <p:sp>
        <p:nvSpPr>
          <p:cNvPr id="13" name="Shape 11"/>
          <p:cNvSpPr/>
          <p:nvPr/>
        </p:nvSpPr>
        <p:spPr>
          <a:xfrm>
            <a:off x="4800600" y="1057275"/>
            <a:ext cx="12877800" cy="19050"/>
          </a:xfrm>
          <a:prstGeom prst="rect">
            <a:avLst/>
          </a:prstGeom>
          <a:solidFill>
            <a:srgbClr val="0B2A6B"/>
          </a:solidFill>
          <a:ln/>
        </p:spPr>
        <p:txBody>
          <a:bodyPr/>
          <a:lstStyle/>
          <a:p>
            <a:endParaRPr lang="ko-KR" altLang="en-US"/>
          </a:p>
        </p:txBody>
      </p:sp>
      <p:sp>
        <p:nvSpPr>
          <p:cNvPr id="14" name="Text 12"/>
          <p:cNvSpPr/>
          <p:nvPr/>
        </p:nvSpPr>
        <p:spPr>
          <a:xfrm>
            <a:off x="4800600" y="571500"/>
            <a:ext cx="852041" cy="333375"/>
          </a:xfrm>
          <a:prstGeom prst="rect">
            <a:avLst/>
          </a:prstGeom>
          <a:noFill/>
          <a:ln/>
        </p:spPr>
        <p:txBody>
          <a:bodyPr wrap="square" lIns="25400" tIns="25400" rIns="25400" bIns="25400" rtlCol="0" anchor="t">
            <a:normAutofit/>
          </a:bodyPr>
          <a:lstStyle/>
          <a:p>
            <a:pPr marL="0" indent="0" algn="l">
              <a:buNone/>
            </a:pPr>
            <a:r>
              <a:rPr lang="en-US" sz="1950" b="1" kern="0" spc="351" dirty="0">
                <a:solidFill>
                  <a:srgbClr val="0B2A6B"/>
                </a:solidFill>
                <a:latin typeface="Pretendard" pitchFamily="34" charset="0"/>
                <a:ea typeface="Pretendard" pitchFamily="34" charset="-122"/>
                <a:cs typeface="Pretendard" pitchFamily="34" charset="-120"/>
              </a:rPr>
              <a:t>작성란</a:t>
            </a:r>
            <a:endParaRPr lang="en-US" sz="1950" dirty="0"/>
          </a:p>
        </p:txBody>
      </p:sp>
      <p:sp>
        <p:nvSpPr>
          <p:cNvPr id="15" name="Text 13"/>
          <p:cNvSpPr/>
          <p:nvPr/>
        </p:nvSpPr>
        <p:spPr>
          <a:xfrm>
            <a:off x="15130165" y="571500"/>
            <a:ext cx="2803059" cy="333375"/>
          </a:xfrm>
          <a:prstGeom prst="rect">
            <a:avLst/>
          </a:prstGeom>
          <a:noFill/>
          <a:ln/>
        </p:spPr>
        <p:txBody>
          <a:bodyPr wrap="square" lIns="25400" tIns="25400" rIns="25400" bIns="25400" rtlCol="0" anchor="t">
            <a:normAutofit/>
          </a:bodyPr>
          <a:lstStyle/>
          <a:p>
            <a:pPr marL="0" indent="0" algn="l">
              <a:buNone/>
            </a:pPr>
            <a:r>
              <a:rPr lang="en-US" sz="1950" b="1" dirty="0">
                <a:solidFill>
                  <a:srgbClr val="8B9AB5"/>
                </a:solidFill>
                <a:latin typeface="Pretendard" pitchFamily="34" charset="0"/>
                <a:ea typeface="Pretendard" pitchFamily="34" charset="-122"/>
                <a:cs typeface="Pretendard" pitchFamily="34" charset="-120"/>
              </a:rPr>
              <a:t>2026 K-조선 해커톤 · 02</a:t>
            </a:r>
            <a:endParaRPr lang="en-US" sz="1950" dirty="0"/>
          </a:p>
        </p:txBody>
      </p:sp>
      <p:sp>
        <p:nvSpPr>
          <p:cNvPr id="16" name="Rounded Rectangle 15"/>
          <p:cNvSpPr/>
          <p:nvPr/>
        </p:nvSpPr>
        <p:spPr>
          <a:xfrm>
            <a:off x="4800600" y="1371600"/>
            <a:ext cx="7315200" cy="7882127"/>
          </a:xfrm>
          <a:prstGeom prst="roundRect">
            <a:avLst>
              <a:gd name="adj" fmla="val 3500"/>
            </a:avLst>
          </a:prstGeom>
          <a:solidFill>
            <a:srgbClr val="FFFFFF"/>
          </a:solidFill>
          <a:ln w="9525">
            <a:solidFill>
              <a:srgbClr val="D9E0EC"/>
            </a:solidFill>
          </a:ln>
        </p:spPr>
        <p:txBody>
          <a:bodyPr rtlCol="0" anchor="ctr"/>
          <a:lstStyle/>
          <a:p/>
        </p:txBody>
      </p:sp>
      <p:sp>
        <p:nvSpPr>
          <p:cNvPr id="17" name="Oval 16"/>
          <p:cNvSpPr/>
          <p:nvPr/>
        </p:nvSpPr>
        <p:spPr>
          <a:xfrm>
            <a:off x="5120640" y="1746504"/>
            <a:ext cx="146304" cy="146304"/>
          </a:xfrm>
          <a:prstGeom prst="ellipse">
            <a:avLst/>
          </a:prstGeom>
          <a:solidFill>
            <a:srgbClr val="4FD0F5"/>
          </a:solidFill>
          <a:ln>
            <a:noFill/>
          </a:ln>
        </p:spPr>
        <p:txBody>
          <a:bodyPr rtlCol="0" anchor="ctr"/>
          <a:lstStyle/>
          <a:p>
            <a:pPr algn="ctr"/>
          </a:p>
        </p:txBody>
      </p:sp>
      <p:sp>
        <p:nvSpPr>
          <p:cNvPr id="18" name="TextBox 17"/>
          <p:cNvSpPr txBox="1"/>
          <p:nvPr/>
        </p:nvSpPr>
        <p:spPr>
          <a:xfrm>
            <a:off x="5367527" y="1645920"/>
            <a:ext cx="6428231" cy="384048"/>
          </a:xfrm>
          <a:prstGeom prst="rect">
            <a:avLst/>
          </a:prstGeom>
          <a:noFill/>
        </p:spPr>
        <p:txBody>
          <a:bodyPr wrap="square" anchor="t" lIns="0" rIns="0" tIns="0" bIns="0">
            <a:spAutoFit/>
          </a:bodyPr>
          <a:lstStyle/>
          <a:p>
            <a:pPr algn="l">
              <a:lnSpc>
                <a:spcPct val="112000"/>
              </a:lnSpc>
            </a:pPr>
            <a:r>
              <a:rPr sz="2000" b="1" i="0">
                <a:solidFill>
                  <a:srgbClr val="0B2A6B"/>
                </a:solidFill>
                <a:latin typeface="Pretendard"/>
                <a:ea typeface="Pretendard"/>
                <a:cs typeface="Pretendard"/>
              </a:rPr>
              <a:t>문제 인식 배경</a:t>
            </a:r>
          </a:p>
        </p:txBody>
      </p:sp>
      <p:sp>
        <p:nvSpPr>
          <p:cNvPr id="19" name="TextBox 18"/>
          <p:cNvSpPr txBox="1"/>
          <p:nvPr/>
        </p:nvSpPr>
        <p:spPr>
          <a:xfrm>
            <a:off x="5120640" y="2240280"/>
            <a:ext cx="6675120" cy="6784847"/>
          </a:xfrm>
          <a:prstGeom prst="rect">
            <a:avLst/>
          </a:prstGeom>
          <a:noFill/>
        </p:spPr>
        <p:txBody>
          <a:bodyPr wrap="square" anchor="t" lIns="0" rIns="0" tIns="0" bIns="0">
            <a:spAutoFit/>
          </a:bodyPr>
          <a:lstStyle/>
          <a:p>
            <a:pPr marL="201549" indent="-201549">
              <a:lnSpc>
                <a:spcPct val="116000"/>
              </a:lnSpc>
              <a:spcAft>
                <a:spcPts val="1000"/>
              </a:spcAft>
              <a:buClr>
                <a:srgbClr val="4FD0F5"/>
              </a:buClr>
              <a:buFont typeface="Arial"/>
              <a:buChar char="•"/>
            </a:pPr>
            <a:r>
              <a:rPr sz="1380" b="0" i="0">
                <a:solidFill>
                  <a:srgbClr val="1F2A44"/>
                </a:solidFill>
                <a:latin typeface="Pretendard"/>
                <a:ea typeface="Pretendard"/>
                <a:cs typeface="Pretendard"/>
              </a:rPr>
              <a:t>국내 조선소 용접부 RT는 </a:t>
            </a:r>
            <a:r>
              <a:rPr sz="1380" b="1" i="0">
                <a:solidFill>
                  <a:srgbClr val="1F2A44"/>
                </a:solidFill>
                <a:latin typeface="Pretendard"/>
                <a:ea typeface="Pretendard"/>
                <a:cs typeface="Pretendard"/>
              </a:rPr>
              <a:t>2021년 기준 대부분 필름 방식</a:t>
            </a:r>
            <a:r>
              <a:rPr sz="1380" b="0" i="0">
                <a:solidFill>
                  <a:srgbClr val="1F2A44"/>
                </a:solidFill>
                <a:latin typeface="Pretendard"/>
                <a:ea typeface="Pretendard"/>
                <a:cs typeface="Pretendard"/>
              </a:rPr>
              <a:t>(황훈규 외 2021.02·대우조선해양 2021.07 보도). 한화오션(당시 대우조선해양)이 2021.07 필름 없는 디지털 RT를 개발하고 5대 선급(ABS·BV·DNV·KR·LR)과 승인 시스템 개발 MOU를 맺었으나 이후 전환율의 공개 확인은 찾지 못함 → </a:t>
            </a:r>
            <a:r>
              <a:rPr sz="1380" b="1" i="0">
                <a:solidFill>
                  <a:srgbClr val="1F2A44"/>
                </a:solidFill>
                <a:latin typeface="Pretendard"/>
                <a:ea typeface="Pretendard"/>
                <a:cs typeface="Pretendard"/>
              </a:rPr>
              <a:t>필름·디지털 이미지가 공존하는 과도기로 가정</a:t>
            </a:r>
          </a:p>
          <a:p>
            <a:pPr marL="201549" indent="-201549">
              <a:lnSpc>
                <a:spcPct val="116000"/>
              </a:lnSpc>
              <a:spcAft>
                <a:spcPts val="1000"/>
              </a:spcAft>
              <a:buClr>
                <a:srgbClr val="4FD0F5"/>
              </a:buClr>
              <a:buFont typeface="Arial"/>
              <a:buChar char="•"/>
            </a:pPr>
            <a:r>
              <a:rPr sz="1380" b="0" i="0">
                <a:solidFill>
                  <a:srgbClr val="1F2A44"/>
                </a:solidFill>
                <a:latin typeface="Pretendard"/>
                <a:ea typeface="Pretendard"/>
                <a:cs typeface="Pretendard"/>
              </a:rPr>
              <a:t>IACS UR W34(2021.07.01 이후 건조계약분)로 디지털 RT(RT-D = RT-S·RT-CR)가 선급 규칙에 편입. 2026.07.15 승인된 개정판(2028.01.01 이후 계약분)은 ISO 10675-1/-2:2021의 </a:t>
            </a:r>
            <a:r>
              <a:rPr sz="1380" b="1" i="0">
                <a:solidFill>
                  <a:srgbClr val="1F2A44"/>
                </a:solidFill>
                <a:latin typeface="Pretendard"/>
                <a:ea typeface="Pretendard"/>
                <a:cs typeface="Pretendard"/>
              </a:rPr>
              <a:t>100mm 평가 길이</a:t>
            </a:r>
            <a:r>
              <a:rPr sz="1380" b="0" i="0">
                <a:solidFill>
                  <a:srgbClr val="1F2A44"/>
                </a:solidFill>
                <a:latin typeface="Pretendard"/>
                <a:ea typeface="Pretendard"/>
                <a:cs typeface="Pretendard"/>
              </a:rPr>
              <a:t>를 필름·디지털 이미지 전 구간에 적용하도록 지침으로 명시 — 매체가 바뀌어도 </a:t>
            </a:r>
            <a:r>
              <a:rPr sz="1380" b="1" i="0">
                <a:solidFill>
                  <a:srgbClr val="1F2A44"/>
                </a:solidFill>
                <a:latin typeface="Pretendard"/>
                <a:ea typeface="Pretendard"/>
                <a:cs typeface="Pretendard"/>
              </a:rPr>
              <a:t>판독·판정·기록은 사람의 일</a:t>
            </a:r>
          </a:p>
          <a:p>
            <a:pPr marL="201549" indent="-201549">
              <a:lnSpc>
                <a:spcPct val="116000"/>
              </a:lnSpc>
              <a:spcAft>
                <a:spcPts val="1000"/>
              </a:spcAft>
              <a:buClr>
                <a:srgbClr val="4FD0F5"/>
              </a:buClr>
              <a:buFont typeface="Arial"/>
              <a:buChar char="•"/>
            </a:pPr>
            <a:r>
              <a:rPr sz="1380" b="0" i="0">
                <a:solidFill>
                  <a:srgbClr val="1F2A44"/>
                </a:solidFill>
                <a:latin typeface="Pretendard"/>
                <a:ea typeface="Pretendard"/>
                <a:cs typeface="Pretendard"/>
              </a:rPr>
              <a:t>판독원의 하루: 판독 → 크기 측정·기준 대조 → 합부 판정 → </a:t>
            </a:r>
            <a:r>
              <a:rPr sz="1380" b="1" i="0">
                <a:solidFill>
                  <a:srgbClr val="1F2A44"/>
                </a:solidFill>
                <a:latin typeface="Pretendard"/>
                <a:ea typeface="Pretendard"/>
                <a:cs typeface="Pretendard"/>
              </a:rPr>
              <a:t>리포트 수기 작성</a:t>
            </a:r>
            <a:r>
              <a:rPr sz="1380" b="0" i="0">
                <a:solidFill>
                  <a:srgbClr val="1F2A44"/>
                </a:solidFill>
                <a:latin typeface="Pretendard"/>
                <a:ea typeface="Pretendard"/>
                <a:cs typeface="Pretendard"/>
              </a:rPr>
              <a:t>(IACS UR W33 §8 필수 항목 20여 개) → 보관 → 선주·선급 요청 시 </a:t>
            </a:r>
            <a:r>
              <a:rPr sz="1380" b="1" i="0">
                <a:solidFill>
                  <a:srgbClr val="1F2A44"/>
                </a:solidFill>
                <a:latin typeface="Pretendard"/>
                <a:ea typeface="Pretendard"/>
                <a:cs typeface="Pretendard"/>
              </a:rPr>
              <a:t>서류 더미 수색</a:t>
            </a:r>
            <a:r>
              <a:rPr sz="1380" b="0" i="0">
                <a:solidFill>
                  <a:srgbClr val="1F2A44"/>
                </a:solidFill>
                <a:latin typeface="Pretendard"/>
                <a:ea typeface="Pretendard"/>
                <a:cs typeface="Pretendard"/>
              </a:rPr>
              <a:t>. 불합격 시 </a:t>
            </a:r>
            <a:r>
              <a:rPr sz="1380" b="1" i="0">
                <a:solidFill>
                  <a:srgbClr val="1F2A44"/>
                </a:solidFill>
                <a:latin typeface="Pretendard"/>
                <a:ea typeface="Pretendard"/>
                <a:cs typeface="Pretendard"/>
              </a:rPr>
              <a:t>같은 용접선의 추가 구간 검사</a:t>
            </a:r>
            <a:r>
              <a:rPr sz="1380" b="0" i="0">
                <a:solidFill>
                  <a:srgbClr val="1F2A44"/>
                </a:solidFill>
                <a:latin typeface="Pretendard"/>
                <a:ea typeface="Pretendard"/>
                <a:cs typeface="Pretendard"/>
              </a:rPr>
              <a:t>(§9.2, 개소 수 미규정)로 촬영·판독·리포트가 다시 늘어남</a:t>
            </a:r>
          </a:p>
          <a:p>
            <a:pPr marL="201549" indent="-201549">
              <a:lnSpc>
                <a:spcPct val="116000"/>
              </a:lnSpc>
              <a:spcAft>
                <a:spcPts val="1000"/>
              </a:spcAft>
              <a:buClr>
                <a:srgbClr val="4FD0F5"/>
              </a:buClr>
              <a:buFont typeface="Arial"/>
              <a:buChar char="•"/>
            </a:pPr>
            <a:r>
              <a:rPr sz="1380" b="0" i="0">
                <a:solidFill>
                  <a:srgbClr val="1F2A44"/>
                </a:solidFill>
                <a:latin typeface="Pretendard"/>
                <a:ea typeface="Pretendard"/>
                <a:cs typeface="Pretendard"/>
              </a:rPr>
              <a:t>조선 3사 AI 투자는 용접 ‘수행’·비전 검사에 집중(한화오션×NC AI 2026.06, HD현대중공업 AI 조선소 2026.06) — </a:t>
            </a:r>
            <a:r>
              <a:rPr sz="1380" b="1" i="0">
                <a:solidFill>
                  <a:srgbClr val="1F2A44"/>
                </a:solidFill>
                <a:latin typeface="Pretendard"/>
                <a:ea typeface="Pretendard"/>
                <a:cs typeface="Pretendard"/>
              </a:rPr>
              <a:t>판독 이후 워크플로우(판정 근거·리포트·이력)의 공개 투자 사례는 찾지 못함</a:t>
            </a:r>
            <a:r>
              <a:rPr sz="1380" b="0" i="0">
                <a:solidFill>
                  <a:srgbClr val="1F2A44"/>
                </a:solidFill>
                <a:latin typeface="Pretendard"/>
                <a:ea typeface="Pretendard"/>
                <a:cs typeface="Pretendard"/>
              </a:rPr>
              <a:t>(2026.09 검색 기준)</a:t>
            </a:r>
          </a:p>
          <a:p>
            <a:pPr marL="201549" indent="-201549">
              <a:lnSpc>
                <a:spcPct val="116000"/>
              </a:lnSpc>
              <a:spcAft>
                <a:spcPts val="1000"/>
              </a:spcAft>
              <a:buClr>
                <a:srgbClr val="4FD0F5"/>
              </a:buClr>
              <a:buFont typeface="Arial"/>
              <a:buChar char="•"/>
            </a:pPr>
            <a:r>
              <a:rPr sz="1380" b="0" i="0">
                <a:solidFill>
                  <a:srgbClr val="1F2A44"/>
                </a:solidFill>
                <a:latin typeface="Pretendard"/>
                <a:ea typeface="Pretendard"/>
                <a:cs typeface="Pretendard"/>
              </a:rPr>
              <a:t>두산에너빌리티 D-Vision: 2019 말 자사 튜브 용접부 시범 → 2024.03 정식 출시(구독형) → 2024.11 에너지공단 MOU — </a:t>
            </a:r>
            <a:r>
              <a:rPr sz="1380" b="1" i="0">
                <a:solidFill>
                  <a:srgbClr val="1F2A44"/>
                </a:solidFill>
                <a:latin typeface="Pretendard"/>
                <a:ea typeface="Pretendard"/>
                <a:cs typeface="Pretendard"/>
              </a:rPr>
              <a:t>자사 적용·외부 확산 시도 단계</a:t>
            </a:r>
            <a:r>
              <a:rPr sz="1380" b="0" i="0">
                <a:solidFill>
                  <a:srgbClr val="1F2A44"/>
                </a:solidFill>
                <a:latin typeface="Pretendard"/>
                <a:ea typeface="Pretendard"/>
                <a:cs typeface="Pretendard"/>
              </a:rPr>
              <a:t>, 외부 유료 고객은 공개 확인 안 됨 → 문제는 실재, 지불의사는 미검증</a:t>
            </a:r>
          </a:p>
          <a:p>
            <a:pPr marL="201549" indent="-201549">
              <a:lnSpc>
                <a:spcPct val="116000"/>
              </a:lnSpc>
              <a:spcAft>
                <a:spcPts val="1000"/>
              </a:spcAft>
              <a:buClr>
                <a:srgbClr val="4FD0F5"/>
              </a:buClr>
              <a:buFont typeface="Arial"/>
              <a:buChar char="•"/>
            </a:pPr>
            <a:r>
              <a:rPr sz="1380" b="0" i="0">
                <a:solidFill>
                  <a:srgbClr val="1F2A44"/>
                </a:solidFill>
                <a:latin typeface="Pretendard"/>
                <a:ea typeface="Pretendard"/>
                <a:cs typeface="Pretendard"/>
              </a:rPr>
              <a:t>판독 인력: 고령화로 전문가가 줄어드는 것이 비파괴검사 시장의 가장 큰 이슈(두산에너빌리티 2024·2026.03 인터뷰), 최저가 입찰로 숙련 인력 확보 곤란(가스신문 2025.09). 국내 비파괴검사 물량의 </a:t>
            </a:r>
            <a:r>
              <a:rPr sz="1380" b="1" i="0">
                <a:solidFill>
                  <a:srgbClr val="1F2A44"/>
                </a:solidFill>
                <a:latin typeface="Pretendard"/>
                <a:ea typeface="Pretendard"/>
                <a:cs typeface="Pretendard"/>
              </a:rPr>
              <a:t>약 80%가 방사선 방식 용접부 검사</a:t>
            </a:r>
            <a:r>
              <a:rPr sz="1380" b="0" i="0">
                <a:solidFill>
                  <a:srgbClr val="1F2A44"/>
                </a:solidFill>
                <a:latin typeface="Pretendard"/>
                <a:ea typeface="Pretendard"/>
                <a:cs typeface="Pretendard"/>
              </a:rPr>
              <a:t>(업계 기고) → 판독 부담이 RT에 집중 — 정량 통계는 원자력안전재단 종사자 현황으로 확보 예정</a:t>
            </a:r>
          </a:p>
        </p:txBody>
      </p:sp>
      <p:sp>
        <p:nvSpPr>
          <p:cNvPr id="20" name="Rounded Rectangle 19"/>
          <p:cNvSpPr/>
          <p:nvPr/>
        </p:nvSpPr>
        <p:spPr>
          <a:xfrm>
            <a:off x="12390120" y="1371600"/>
            <a:ext cx="5285231" cy="7882127"/>
          </a:xfrm>
          <a:prstGeom prst="roundRect">
            <a:avLst>
              <a:gd name="adj" fmla="val 3500"/>
            </a:avLst>
          </a:prstGeom>
          <a:solidFill>
            <a:srgbClr val="FFFFFF"/>
          </a:solidFill>
          <a:ln w="9525">
            <a:solidFill>
              <a:srgbClr val="D9E0EC"/>
            </a:solidFill>
          </a:ln>
        </p:spPr>
        <p:txBody>
          <a:bodyPr rtlCol="0" anchor="ctr"/>
          <a:lstStyle/>
          <a:p/>
        </p:txBody>
      </p:sp>
      <p:sp>
        <p:nvSpPr>
          <p:cNvPr id="21" name="Oval 20"/>
          <p:cNvSpPr/>
          <p:nvPr/>
        </p:nvSpPr>
        <p:spPr>
          <a:xfrm>
            <a:off x="12710160" y="1746504"/>
            <a:ext cx="146304" cy="146304"/>
          </a:xfrm>
          <a:prstGeom prst="ellipse">
            <a:avLst/>
          </a:prstGeom>
          <a:solidFill>
            <a:srgbClr val="4FD0F5"/>
          </a:solidFill>
          <a:ln>
            <a:noFill/>
          </a:ln>
        </p:spPr>
        <p:txBody>
          <a:bodyPr rtlCol="0" anchor="ctr"/>
          <a:lstStyle/>
          <a:p>
            <a:pPr algn="ctr"/>
          </a:p>
        </p:txBody>
      </p:sp>
      <p:sp>
        <p:nvSpPr>
          <p:cNvPr id="22" name="TextBox 21"/>
          <p:cNvSpPr txBox="1"/>
          <p:nvPr/>
        </p:nvSpPr>
        <p:spPr>
          <a:xfrm>
            <a:off x="12957048" y="1645920"/>
            <a:ext cx="4398263" cy="384048"/>
          </a:xfrm>
          <a:prstGeom prst="rect">
            <a:avLst/>
          </a:prstGeom>
          <a:noFill/>
        </p:spPr>
        <p:txBody>
          <a:bodyPr wrap="square" anchor="t" lIns="0" rIns="0" tIns="0" bIns="0">
            <a:spAutoFit/>
          </a:bodyPr>
          <a:lstStyle/>
          <a:p>
            <a:pPr algn="l">
              <a:lnSpc>
                <a:spcPct val="112000"/>
              </a:lnSpc>
            </a:pPr>
            <a:r>
              <a:rPr sz="2000" b="1" i="0">
                <a:solidFill>
                  <a:srgbClr val="0B2A6B"/>
                </a:solidFill>
                <a:latin typeface="Pretendard"/>
                <a:ea typeface="Pretendard"/>
                <a:cs typeface="Pretendard"/>
              </a:rPr>
              <a:t>해결하고자 하는 목표</a:t>
            </a:r>
          </a:p>
        </p:txBody>
      </p:sp>
      <p:sp>
        <p:nvSpPr>
          <p:cNvPr id="23" name="TextBox 22"/>
          <p:cNvSpPr txBox="1"/>
          <p:nvPr/>
        </p:nvSpPr>
        <p:spPr>
          <a:xfrm>
            <a:off x="12710160" y="2240280"/>
            <a:ext cx="4645151" cy="2926080"/>
          </a:xfrm>
          <a:prstGeom prst="rect">
            <a:avLst/>
          </a:prstGeom>
          <a:noFill/>
        </p:spPr>
        <p:txBody>
          <a:bodyPr wrap="square" anchor="t" lIns="0" rIns="0" tIns="0" bIns="0">
            <a:spAutoFit/>
          </a:bodyPr>
          <a:lstStyle/>
          <a:p>
            <a:pPr marL="189865" indent="-189865">
              <a:lnSpc>
                <a:spcPct val="114000"/>
              </a:lnSpc>
              <a:spcAft>
                <a:spcPts val="600"/>
              </a:spcAft>
              <a:buClr>
                <a:srgbClr val="4FD0F5"/>
              </a:buClr>
              <a:buFont typeface="Arial"/>
              <a:buChar char="•"/>
            </a:pPr>
            <a:r>
              <a:rPr sz="1300" b="1" i="0">
                <a:solidFill>
                  <a:srgbClr val="1F2A44"/>
                </a:solidFill>
                <a:latin typeface="Pretendard"/>
                <a:ea typeface="Pretendard"/>
                <a:cs typeface="Pretendard"/>
              </a:rPr>
              <a:t>RT 판독원의 하루에서 문서 노동과 이력 검색 노동을 제거</a:t>
            </a:r>
            <a:r>
              <a:rPr sz="1300" b="0" i="0">
                <a:solidFill>
                  <a:srgbClr val="1F2A44"/>
                </a:solidFill>
                <a:latin typeface="Pretendard"/>
                <a:ea typeface="Pretendard"/>
                <a:cs typeface="Pretendard"/>
              </a:rPr>
              <a:t> — 합부 결정은 자격자(ISO 9712 Level 2 이상 — IACS UR W33 §3.3)가, 서류는 AI가</a:t>
            </a:r>
          </a:p>
          <a:p>
            <a:pPr marL="189865" indent="-189865">
              <a:lnSpc>
                <a:spcPct val="114000"/>
              </a:lnSpc>
              <a:spcAft>
                <a:spcPts val="600"/>
              </a:spcAft>
              <a:buClr>
                <a:srgbClr val="4FD0F5"/>
              </a:buClr>
              <a:buFont typeface="Arial"/>
              <a:buChar char="•"/>
            </a:pPr>
            <a:r>
              <a:rPr sz="1300" b="0" i="0">
                <a:solidFill>
                  <a:srgbClr val="1F2A44"/>
                </a:solidFill>
                <a:latin typeface="Pretendard"/>
                <a:ea typeface="Pretendard"/>
                <a:cs typeface="Pretendard"/>
              </a:rPr>
              <a:t>목표 상태: 이미지 로드 → AI 2차 눈 → 2클릭 측정 → 룰 판정(100mm 평가 구간) → 소견서 초안 → 승인·PDF → 아카이브까지 </a:t>
            </a:r>
            <a:r>
              <a:rPr sz="1300" b="1" i="0">
                <a:solidFill>
                  <a:srgbClr val="1F2A44"/>
                </a:solidFill>
                <a:latin typeface="Pretendard"/>
                <a:ea typeface="Pretendard"/>
                <a:cs typeface="Pretendard"/>
              </a:rPr>
              <a:t>한 화면에서 완주</a:t>
            </a:r>
          </a:p>
          <a:p>
            <a:pPr marL="189865" indent="-189865">
              <a:lnSpc>
                <a:spcPct val="114000"/>
              </a:lnSpc>
              <a:spcAft>
                <a:spcPts val="600"/>
              </a:spcAft>
              <a:buClr>
                <a:srgbClr val="4FD0F5"/>
              </a:buClr>
              <a:buFont typeface="Arial"/>
              <a:buChar char="•"/>
            </a:pPr>
            <a:r>
              <a:rPr sz="1300" b="0" i="0">
                <a:solidFill>
                  <a:srgbClr val="1F2A44"/>
                </a:solidFill>
                <a:latin typeface="Pretendard"/>
                <a:ea typeface="Pretendard"/>
                <a:cs typeface="Pretendard"/>
              </a:rPr>
              <a:t>입력은 </a:t>
            </a:r>
            <a:r>
              <a:rPr sz="1300" b="1" i="0">
                <a:solidFill>
                  <a:srgbClr val="1F2A44"/>
                </a:solidFill>
                <a:latin typeface="Pretendard"/>
                <a:ea typeface="Pretendard"/>
                <a:cs typeface="Pretendard"/>
              </a:rPr>
              <a:t>스캔된 필름 이미지 또는 디지털 RT(CR/DR) 이미지</a:t>
            </a:r>
            <a:r>
              <a:rPr sz="1300" b="0" i="0">
                <a:solidFill>
                  <a:srgbClr val="1F2A44"/>
                </a:solidFill>
                <a:latin typeface="Pretendard"/>
                <a:ea typeface="Pretendard"/>
                <a:cs typeface="Pretendard"/>
              </a:rPr>
              <a:t> — 판독원 개인에게 새 장비·새 촬영 절차를 요구하지 않음. 단, 필름 디지털화(ISO 14096-2 등급 디지타이저 또는 스캔 서비스)는 </a:t>
            </a:r>
            <a:r>
              <a:rPr sz="1300" b="1" i="0">
                <a:solidFill>
                  <a:srgbClr val="1F2A44"/>
                </a:solidFill>
                <a:latin typeface="Pretendard"/>
                <a:ea typeface="Pretendard"/>
                <a:cs typeface="Pretendard"/>
              </a:rPr>
              <a:t>조직 단위 전제조건으로 명시</a:t>
            </a:r>
          </a:p>
        </p:txBody>
      </p:sp>
      <p:sp>
        <p:nvSpPr>
          <p:cNvPr id="24" name="TextBox 23"/>
          <p:cNvSpPr txBox="1"/>
          <p:nvPr/>
        </p:nvSpPr>
        <p:spPr>
          <a:xfrm>
            <a:off x="12710160" y="5166360"/>
            <a:ext cx="4645151" cy="292608"/>
          </a:xfrm>
          <a:prstGeom prst="rect">
            <a:avLst/>
          </a:prstGeom>
          <a:noFill/>
        </p:spPr>
        <p:txBody>
          <a:bodyPr wrap="square" anchor="t" lIns="0" rIns="0" tIns="0" bIns="0">
            <a:spAutoFit/>
          </a:bodyPr>
          <a:lstStyle/>
          <a:p>
            <a:pPr algn="l">
              <a:lnSpc>
                <a:spcPct val="112000"/>
              </a:lnSpc>
            </a:pPr>
            <a:r>
              <a:rPr sz="1300" b="1" i="0">
                <a:solidFill>
                  <a:srgbClr val="8B9AB5"/>
                </a:solidFill>
                <a:latin typeface="Pretendard"/>
                <a:ea typeface="Pretendard"/>
                <a:cs typeface="Pretendard"/>
              </a:rPr>
              <a:t>3대 설계 원칙</a:t>
            </a:r>
          </a:p>
        </p:txBody>
      </p:sp>
      <p:sp>
        <p:nvSpPr>
          <p:cNvPr id="25" name="Rounded Rectangle 24"/>
          <p:cNvSpPr/>
          <p:nvPr/>
        </p:nvSpPr>
        <p:spPr>
          <a:xfrm>
            <a:off x="12710160" y="5550408"/>
            <a:ext cx="384048" cy="384048"/>
          </a:xfrm>
          <a:prstGeom prst="roundRect">
            <a:avLst>
              <a:gd name="adj" fmla="val 50000"/>
            </a:avLst>
          </a:prstGeom>
          <a:solidFill>
            <a:srgbClr val="0B2A6B"/>
          </a:solidFill>
          <a:ln>
            <a:noFill/>
          </a:ln>
        </p:spPr>
        <p:txBody>
          <a:bodyPr rtlCol="0" anchor="ctr" lIns="73152" rIns="73152" tIns="0" bIns="0"/>
          <a:lstStyle/>
          <a:p>
            <a:pPr algn="ctr"/>
            <a:r>
              <a:rPr sz="1300" b="1" i="0">
                <a:solidFill>
                  <a:srgbClr val="FFFFFF"/>
                </a:solidFill>
                <a:latin typeface="Pretendard"/>
                <a:ea typeface="Pretendard"/>
                <a:cs typeface="Pretendard"/>
              </a:rPr>
              <a:t>1</a:t>
            </a:r>
          </a:p>
        </p:txBody>
      </p:sp>
      <p:sp>
        <p:nvSpPr>
          <p:cNvPr id="26" name="TextBox 25"/>
          <p:cNvSpPr txBox="1"/>
          <p:nvPr/>
        </p:nvSpPr>
        <p:spPr>
          <a:xfrm>
            <a:off x="13213080" y="5513832"/>
            <a:ext cx="4096511" cy="274320"/>
          </a:xfrm>
          <a:prstGeom prst="rect">
            <a:avLst/>
          </a:prstGeom>
          <a:noFill/>
        </p:spPr>
        <p:txBody>
          <a:bodyPr wrap="square" anchor="t" lIns="0" rIns="0" tIns="0" bIns="0">
            <a:spAutoFit/>
          </a:bodyPr>
          <a:lstStyle/>
          <a:p>
            <a:pPr algn="l">
              <a:lnSpc>
                <a:spcPct val="112000"/>
              </a:lnSpc>
            </a:pPr>
            <a:r>
              <a:rPr sz="1350" b="1" i="0">
                <a:solidFill>
                  <a:srgbClr val="0B2A6B"/>
                </a:solidFill>
                <a:latin typeface="Pretendard"/>
                <a:ea typeface="Pretendard"/>
                <a:cs typeface="Pretendard"/>
              </a:rPr>
              <a:t>AI는 판정하지 않는다</a:t>
            </a:r>
          </a:p>
        </p:txBody>
      </p:sp>
      <p:sp>
        <p:nvSpPr>
          <p:cNvPr id="27" name="TextBox 26"/>
          <p:cNvSpPr txBox="1"/>
          <p:nvPr/>
        </p:nvSpPr>
        <p:spPr>
          <a:xfrm>
            <a:off x="13213080" y="5788152"/>
            <a:ext cx="4096511" cy="274320"/>
          </a:xfrm>
          <a:prstGeom prst="rect">
            <a:avLst/>
          </a:prstGeom>
          <a:noFill/>
        </p:spPr>
        <p:txBody>
          <a:bodyPr wrap="square" anchor="t" lIns="0" rIns="0" tIns="0" bIns="0">
            <a:spAutoFit/>
          </a:bodyPr>
          <a:lstStyle/>
          <a:p>
            <a:pPr algn="l">
              <a:lnSpc>
                <a:spcPct val="112000"/>
              </a:lnSpc>
            </a:pPr>
            <a:r>
              <a:rPr sz="1200" b="0" i="0">
                <a:solidFill>
                  <a:srgbClr val="5B6B8C"/>
                </a:solidFill>
                <a:latin typeface="Pretendard"/>
                <a:ea typeface="Pretendard"/>
                <a:cs typeface="Pretendard"/>
              </a:rPr>
              <a:t>합부 = 룰 엔진 + 판독원, LLM = 작문·검색 보조</a:t>
            </a:r>
          </a:p>
        </p:txBody>
      </p:sp>
      <p:sp>
        <p:nvSpPr>
          <p:cNvPr id="28" name="Rounded Rectangle 27"/>
          <p:cNvSpPr/>
          <p:nvPr/>
        </p:nvSpPr>
        <p:spPr>
          <a:xfrm>
            <a:off x="12710160" y="6208776"/>
            <a:ext cx="384048" cy="384048"/>
          </a:xfrm>
          <a:prstGeom prst="roundRect">
            <a:avLst>
              <a:gd name="adj" fmla="val 50000"/>
            </a:avLst>
          </a:prstGeom>
          <a:solidFill>
            <a:srgbClr val="0B2A6B"/>
          </a:solidFill>
          <a:ln>
            <a:noFill/>
          </a:ln>
        </p:spPr>
        <p:txBody>
          <a:bodyPr rtlCol="0" anchor="ctr" lIns="73152" rIns="73152" tIns="0" bIns="0"/>
          <a:lstStyle/>
          <a:p>
            <a:pPr algn="ctr"/>
            <a:r>
              <a:rPr sz="1300" b="1" i="0">
                <a:solidFill>
                  <a:srgbClr val="FFFFFF"/>
                </a:solidFill>
                <a:latin typeface="Pretendard"/>
                <a:ea typeface="Pretendard"/>
                <a:cs typeface="Pretendard"/>
              </a:rPr>
              <a:t>2</a:t>
            </a:r>
          </a:p>
        </p:txBody>
      </p:sp>
      <p:sp>
        <p:nvSpPr>
          <p:cNvPr id="29" name="TextBox 28"/>
          <p:cNvSpPr txBox="1"/>
          <p:nvPr/>
        </p:nvSpPr>
        <p:spPr>
          <a:xfrm>
            <a:off x="13213080" y="6172200"/>
            <a:ext cx="4096511" cy="274320"/>
          </a:xfrm>
          <a:prstGeom prst="rect">
            <a:avLst/>
          </a:prstGeom>
          <a:noFill/>
        </p:spPr>
        <p:txBody>
          <a:bodyPr wrap="square" anchor="t" lIns="0" rIns="0" tIns="0" bIns="0">
            <a:spAutoFit/>
          </a:bodyPr>
          <a:lstStyle/>
          <a:p>
            <a:pPr algn="l">
              <a:lnSpc>
                <a:spcPct val="112000"/>
              </a:lnSpc>
            </a:pPr>
            <a:r>
              <a:rPr sz="1350" b="1" i="0">
                <a:solidFill>
                  <a:srgbClr val="0B2A6B"/>
                </a:solidFill>
                <a:latin typeface="Pretendard"/>
                <a:ea typeface="Pretendard"/>
                <a:cs typeface="Pretendard"/>
              </a:rPr>
              <a:t>기존 이미지·기존 절차 위에</a:t>
            </a:r>
          </a:p>
        </p:txBody>
      </p:sp>
      <p:sp>
        <p:nvSpPr>
          <p:cNvPr id="30" name="TextBox 29"/>
          <p:cNvSpPr txBox="1"/>
          <p:nvPr/>
        </p:nvSpPr>
        <p:spPr>
          <a:xfrm>
            <a:off x="13213080" y="6446520"/>
            <a:ext cx="4096511" cy="274320"/>
          </a:xfrm>
          <a:prstGeom prst="rect">
            <a:avLst/>
          </a:prstGeom>
          <a:noFill/>
        </p:spPr>
        <p:txBody>
          <a:bodyPr wrap="square" anchor="t" lIns="0" rIns="0" tIns="0" bIns="0">
            <a:spAutoFit/>
          </a:bodyPr>
          <a:lstStyle/>
          <a:p>
            <a:pPr algn="l">
              <a:lnSpc>
                <a:spcPct val="112000"/>
              </a:lnSpc>
            </a:pPr>
            <a:r>
              <a:rPr sz="1200" b="0" i="0">
                <a:solidFill>
                  <a:srgbClr val="5B6B8C"/>
                </a:solidFill>
                <a:latin typeface="Pretendard"/>
                <a:ea typeface="Pretendard"/>
                <a:cs typeface="Pretendard"/>
              </a:rPr>
              <a:t>스캔 필름·디지털 RT 이미지 어느 쪽이든 같은 파이프라인</a:t>
            </a:r>
          </a:p>
        </p:txBody>
      </p:sp>
      <p:sp>
        <p:nvSpPr>
          <p:cNvPr id="31" name="Rounded Rectangle 30"/>
          <p:cNvSpPr/>
          <p:nvPr/>
        </p:nvSpPr>
        <p:spPr>
          <a:xfrm>
            <a:off x="12710160" y="6867144"/>
            <a:ext cx="384048" cy="384048"/>
          </a:xfrm>
          <a:prstGeom prst="roundRect">
            <a:avLst>
              <a:gd name="adj" fmla="val 50000"/>
            </a:avLst>
          </a:prstGeom>
          <a:solidFill>
            <a:srgbClr val="0B2A6B"/>
          </a:solidFill>
          <a:ln>
            <a:noFill/>
          </a:ln>
        </p:spPr>
        <p:txBody>
          <a:bodyPr rtlCol="0" anchor="ctr" lIns="73152" rIns="73152" tIns="0" bIns="0"/>
          <a:lstStyle/>
          <a:p>
            <a:pPr algn="ctr"/>
            <a:r>
              <a:rPr sz="1300" b="1" i="0">
                <a:solidFill>
                  <a:srgbClr val="FFFFFF"/>
                </a:solidFill>
                <a:latin typeface="Pretendard"/>
                <a:ea typeface="Pretendard"/>
                <a:cs typeface="Pretendard"/>
              </a:rPr>
              <a:t>3</a:t>
            </a:r>
          </a:p>
        </p:txBody>
      </p:sp>
      <p:sp>
        <p:nvSpPr>
          <p:cNvPr id="32" name="TextBox 31"/>
          <p:cNvSpPr txBox="1"/>
          <p:nvPr/>
        </p:nvSpPr>
        <p:spPr>
          <a:xfrm>
            <a:off x="13213080" y="6830568"/>
            <a:ext cx="4096511" cy="274320"/>
          </a:xfrm>
          <a:prstGeom prst="rect">
            <a:avLst/>
          </a:prstGeom>
          <a:noFill/>
        </p:spPr>
        <p:txBody>
          <a:bodyPr wrap="square" anchor="t" lIns="0" rIns="0" tIns="0" bIns="0">
            <a:spAutoFit/>
          </a:bodyPr>
          <a:lstStyle/>
          <a:p>
            <a:pPr algn="l">
              <a:lnSpc>
                <a:spcPct val="112000"/>
              </a:lnSpc>
            </a:pPr>
            <a:r>
              <a:rPr sz="1350" b="1" i="0">
                <a:solidFill>
                  <a:srgbClr val="0B2A6B"/>
                </a:solidFill>
                <a:latin typeface="Pretendard"/>
                <a:ea typeface="Pretendard"/>
                <a:cs typeface="Pretendard"/>
              </a:rPr>
              <a:t>탐지는 부품이다</a:t>
            </a:r>
          </a:p>
        </p:txBody>
      </p:sp>
      <p:sp>
        <p:nvSpPr>
          <p:cNvPr id="33" name="TextBox 32"/>
          <p:cNvSpPr txBox="1"/>
          <p:nvPr/>
        </p:nvSpPr>
        <p:spPr>
          <a:xfrm>
            <a:off x="13213080" y="7104888"/>
            <a:ext cx="4096511" cy="274320"/>
          </a:xfrm>
          <a:prstGeom prst="rect">
            <a:avLst/>
          </a:prstGeom>
          <a:noFill/>
        </p:spPr>
        <p:txBody>
          <a:bodyPr wrap="square" anchor="t" lIns="0" rIns="0" tIns="0" bIns="0">
            <a:spAutoFit/>
          </a:bodyPr>
          <a:lstStyle/>
          <a:p>
            <a:pPr algn="l">
              <a:lnSpc>
                <a:spcPct val="112000"/>
              </a:lnSpc>
            </a:pPr>
            <a:r>
              <a:rPr sz="1200" b="0" i="0">
                <a:solidFill>
                  <a:srgbClr val="5B6B8C"/>
                </a:solidFill>
                <a:latin typeface="Pretendard"/>
                <a:ea typeface="Pretendard"/>
                <a:cs typeface="Pretendard"/>
              </a:rPr>
              <a:t>신규성은 판독 워크플로우 전체의 통합</a:t>
            </a:r>
          </a:p>
        </p:txBody>
      </p:sp>
      <p:sp>
        <p:nvSpPr>
          <p:cNvPr id="34" name="Rounded Rectangle 33"/>
          <p:cNvSpPr/>
          <p:nvPr/>
        </p:nvSpPr>
        <p:spPr>
          <a:xfrm>
            <a:off x="12710160" y="7790688"/>
            <a:ext cx="4645151" cy="1234440"/>
          </a:xfrm>
          <a:prstGeom prst="roundRect">
            <a:avLst>
              <a:gd name="adj" fmla="val 8000"/>
            </a:avLst>
          </a:prstGeom>
          <a:solidFill>
            <a:srgbClr val="F2F5FA"/>
          </a:solidFill>
          <a:ln>
            <a:noFill/>
          </a:ln>
        </p:spPr>
        <p:txBody>
          <a:bodyPr rtlCol="0" anchor="ctr"/>
          <a:lstStyle/>
          <a:p/>
        </p:txBody>
      </p:sp>
      <p:sp>
        <p:nvSpPr>
          <p:cNvPr id="35" name="TextBox 34"/>
          <p:cNvSpPr txBox="1"/>
          <p:nvPr/>
        </p:nvSpPr>
        <p:spPr>
          <a:xfrm>
            <a:off x="12893040" y="7927848"/>
            <a:ext cx="2011680" cy="292608"/>
          </a:xfrm>
          <a:prstGeom prst="rect">
            <a:avLst/>
          </a:prstGeom>
          <a:noFill/>
        </p:spPr>
        <p:txBody>
          <a:bodyPr wrap="square" anchor="t" lIns="0" rIns="0" tIns="0" bIns="0">
            <a:spAutoFit/>
          </a:bodyPr>
          <a:lstStyle/>
          <a:p>
            <a:pPr algn="l">
              <a:lnSpc>
                <a:spcPct val="112000"/>
              </a:lnSpc>
            </a:pPr>
            <a:r>
              <a:rPr sz="1300" b="1" i="0">
                <a:solidFill>
                  <a:srgbClr val="8B9AB5"/>
                </a:solidFill>
                <a:latin typeface="Pretendard"/>
                <a:ea typeface="Pretendard"/>
                <a:cs typeface="Pretendard"/>
              </a:rPr>
              <a:t>해당 AX 분야</a:t>
            </a:r>
          </a:p>
        </p:txBody>
      </p:sp>
      <p:sp>
        <p:nvSpPr>
          <p:cNvPr id="36" name="Rounded Rectangle 35"/>
          <p:cNvSpPr/>
          <p:nvPr/>
        </p:nvSpPr>
        <p:spPr>
          <a:xfrm>
            <a:off x="12893040" y="8293608"/>
            <a:ext cx="1188720" cy="502920"/>
          </a:xfrm>
          <a:prstGeom prst="roundRect">
            <a:avLst>
              <a:gd name="adj" fmla="val 50000"/>
            </a:avLst>
          </a:prstGeom>
          <a:solidFill>
            <a:srgbClr val="0B2A6B"/>
          </a:solidFill>
          <a:ln>
            <a:noFill/>
          </a:ln>
        </p:spPr>
        <p:txBody>
          <a:bodyPr rtlCol="0" anchor="ctr" lIns="73152" rIns="73152" tIns="0" bIns="0"/>
          <a:lstStyle/>
          <a:p>
            <a:pPr algn="ctr"/>
            <a:r>
              <a:rPr sz="1700" b="1" i="0">
                <a:solidFill>
                  <a:srgbClr val="FFFFFF"/>
                </a:solidFill>
                <a:latin typeface="Pretendard"/>
                <a:ea typeface="Pretendard"/>
                <a:cs typeface="Pretendard"/>
              </a:rPr>
              <a:t>생산</a:t>
            </a:r>
          </a:p>
        </p:txBody>
      </p:sp>
      <p:sp>
        <p:nvSpPr>
          <p:cNvPr id="37" name="TextBox 36"/>
          <p:cNvSpPr txBox="1"/>
          <p:nvPr/>
        </p:nvSpPr>
        <p:spPr>
          <a:xfrm>
            <a:off x="14264640" y="8247888"/>
            <a:ext cx="2907791" cy="822960"/>
          </a:xfrm>
          <a:prstGeom prst="rect">
            <a:avLst/>
          </a:prstGeom>
          <a:noFill/>
        </p:spPr>
        <p:txBody>
          <a:bodyPr wrap="square" anchor="t" lIns="0" rIns="0" tIns="0" bIns="0">
            <a:spAutoFit/>
          </a:bodyPr>
          <a:lstStyle/>
          <a:p>
            <a:pPr algn="l">
              <a:lnSpc>
                <a:spcPct val="112000"/>
              </a:lnSpc>
            </a:pPr>
            <a:r>
              <a:rPr sz="1200" b="0" i="0">
                <a:solidFill>
                  <a:srgbClr val="1F2A44"/>
                </a:solidFill>
                <a:latin typeface="Pretendard"/>
                <a:ea typeface="Pretendard"/>
                <a:cs typeface="Pretendard"/>
              </a:rPr>
              <a:t>선체 블록 용접부 RT 검사의 판독·판정·문서화·이력 관리 — 생산 공정 후단의 용접 품질 확인 업무</a:t>
            </a:r>
          </a:p>
        </p:txBody>
      </p:sp>
      <p:sp>
        <p:nvSpPr>
          <p:cNvPr id="38" name="TextBox 37"/>
          <p:cNvSpPr txBox="1"/>
          <p:nvPr/>
        </p:nvSpPr>
        <p:spPr>
          <a:xfrm>
            <a:off x="4800600" y="9299448"/>
            <a:ext cx="12874752" cy="502920"/>
          </a:xfrm>
          <a:prstGeom prst="rect">
            <a:avLst/>
          </a:prstGeom>
          <a:noFill/>
        </p:spPr>
        <p:txBody>
          <a:bodyPr wrap="square" anchor="t" lIns="0" rIns="0" tIns="0" bIns="0">
            <a:spAutoFit/>
          </a:bodyPr>
          <a:lstStyle/>
          <a:p>
            <a:pPr algn="l">
              <a:lnSpc>
                <a:spcPct val="108000"/>
              </a:lnSpc>
            </a:pPr>
            <a:r>
              <a:rPr sz="850" b="0" i="0">
                <a:solidFill>
                  <a:srgbClr val="5B6B8C"/>
                </a:solidFill>
                <a:latin typeface="Pretendard"/>
                <a:ea typeface="Pretendard"/>
                <a:cs typeface="Pretendard"/>
              </a:rPr>
              <a:t>출처: 황훈규 외, 한국정보통신학회논문지 25(2) 2021.02 · 데일리안·CCTV뉴스 2021.07.02(대우조선 디지털 RT·5대 선급 MOU) · IACS UR W33 Rev.1/Corr.1(2021) §1.6·3.3·8.2·8.5·9.2, W34(2019), W33 Rev.2·W34 Rev.1(2026.07.15 승인) · ISO 9712(현행 2021판; UR W33 Rev.1은 2012판 인용) · ASME BPVC VIII-1 UW-52(2차 자료; KR·ABS·DNV 개별 규칙 원문 미확인) · UR W33 §8.2·8.5 보고 항목 · 뉴스핌 2026.06.04(한화오션×NC AI) · 아시아투데이 2026.06(HD현대) · 두산에너빌리티 통합보고서 2024·2026, 팍스경제TV 2024(D-Vision 출시), 이투데이 2024.11.14(에너지공단 MOU), 위키리크스한국 2026.03 · 가스신문 2025.09.18, 가스신문 기고(비파괴검사 시장 현황, 방사선 약 80%) · ISO 14096-2 · ※ 뉴스·2차 자료는 검색 요약 기준, 제출 전 원문 재확인</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5FA"/>
        </a:solidFill>
        <a:effectLst/>
      </p:bgPr>
    </p:bg>
    <p:spTree>
      <p:nvGrpSpPr>
        <p:cNvPr id="1" name=""/>
        <p:cNvGrpSpPr/>
        <p:nvPr/>
      </p:nvGrpSpPr>
      <p:grpSpPr>
        <a:xfrm>
          <a:off x="0" y="0"/>
          <a:ext cx="0" cy="0"/>
          <a:chOff x="0" y="0"/>
          <a:chExt cx="0" cy="0"/>
        </a:xfrm>
      </p:grpSpPr>
      <p:sp>
        <p:nvSpPr>
          <p:cNvPr id="2" name="Shape 0"/>
          <p:cNvSpPr/>
          <p:nvPr/>
        </p:nvSpPr>
        <p:spPr>
          <a:xfrm>
            <a:off x="0" y="0"/>
            <a:ext cx="4191000" cy="10287000"/>
          </a:xfrm>
          <a:prstGeom prst="rect">
            <a:avLst/>
          </a:prstGeom>
          <a:solidFill>
            <a:srgbClr val="0B2A6B"/>
          </a:solidFill>
          <a:ln/>
        </p:spPr>
        <p:txBody>
          <a:bodyPr/>
          <a:lstStyle/>
          <a:p>
            <a:endParaRPr lang="ko-KR" altLang="en-US"/>
          </a:p>
        </p:txBody>
      </p:sp>
      <p:sp>
        <p:nvSpPr>
          <p:cNvPr id="3" name="Text 1"/>
          <p:cNvSpPr/>
          <p:nvPr/>
        </p:nvSpPr>
        <p:spPr>
          <a:xfrm>
            <a:off x="571500" y="685800"/>
            <a:ext cx="893415" cy="603796"/>
          </a:xfrm>
          <a:prstGeom prst="rect">
            <a:avLst/>
          </a:prstGeom>
          <a:noFill/>
          <a:ln/>
        </p:spPr>
        <p:txBody>
          <a:bodyPr wrap="square" lIns="25400" tIns="25400" rIns="25400" bIns="25400" rtlCol="0" anchor="t">
            <a:normAutofit/>
          </a:bodyPr>
          <a:lstStyle/>
          <a:p>
            <a:pPr marL="0" indent="0" algn="l">
              <a:lnSpc>
                <a:spcPct val="77143"/>
              </a:lnSpc>
              <a:buNone/>
            </a:pPr>
            <a:r>
              <a:rPr lang="en-US" sz="4950" b="1" dirty="0">
                <a:solidFill>
                  <a:srgbClr val="4FD0F5"/>
                </a:solidFill>
                <a:latin typeface="Pretendard" pitchFamily="34" charset="0"/>
                <a:ea typeface="Pretendard" pitchFamily="34" charset="-122"/>
                <a:cs typeface="Pretendard" pitchFamily="34" charset="-120"/>
              </a:rPr>
              <a:t>02</a:t>
            </a:r>
            <a:endParaRPr lang="en-US" sz="4950" dirty="0"/>
          </a:p>
        </p:txBody>
      </p:sp>
      <p:sp>
        <p:nvSpPr>
          <p:cNvPr id="4" name="Shape 2"/>
          <p:cNvSpPr/>
          <p:nvPr/>
        </p:nvSpPr>
        <p:spPr>
          <a:xfrm>
            <a:off x="1617315" y="1028700"/>
            <a:ext cx="533400" cy="28575"/>
          </a:xfrm>
          <a:prstGeom prst="rect">
            <a:avLst/>
          </a:prstGeom>
          <a:solidFill>
            <a:srgbClr val="7FDCFF">
              <a:alpha val="50000"/>
            </a:srgbClr>
          </a:solidFill>
          <a:ln/>
        </p:spPr>
        <p:txBody>
          <a:bodyPr/>
          <a:lstStyle/>
          <a:p>
            <a:endParaRPr lang="ko-KR" altLang="en-US"/>
          </a:p>
        </p:txBody>
      </p:sp>
      <p:sp>
        <p:nvSpPr>
          <p:cNvPr id="5" name="Text 3"/>
          <p:cNvSpPr/>
          <p:nvPr/>
        </p:nvSpPr>
        <p:spPr>
          <a:xfrm>
            <a:off x="571500" y="1613446"/>
            <a:ext cx="3296412" cy="1089422"/>
          </a:xfrm>
          <a:prstGeom prst="rect">
            <a:avLst/>
          </a:prstGeom>
          <a:noFill/>
          <a:ln/>
        </p:spPr>
        <p:txBody>
          <a:bodyPr wrap="square" lIns="25400" tIns="25400" rIns="25400" bIns="25400" rtlCol="0" anchor="t">
            <a:normAutofit lnSpcReduction="10000"/>
          </a:bodyPr>
          <a:lstStyle/>
          <a:p>
            <a:pPr marL="0" indent="0" algn="l">
              <a:lnSpc>
                <a:spcPct val="102222"/>
              </a:lnSpc>
              <a:buNone/>
            </a:pPr>
            <a:r>
              <a:rPr lang="en-US" sz="3450" b="1" kern="0" spc="-69" dirty="0" err="1">
                <a:solidFill>
                  <a:srgbClr val="FFFFFF"/>
                </a:solidFill>
                <a:latin typeface="Pretendard" pitchFamily="34" charset="0"/>
                <a:ea typeface="Pretendard" pitchFamily="34" charset="-122"/>
                <a:cs typeface="Pretendard" pitchFamily="34" charset="-120"/>
              </a:rPr>
              <a:t>아이디어</a:t>
            </a:r>
            <a:r>
              <a:rPr lang="en-US" sz="3450" b="1" kern="0" spc="-69" dirty="0">
                <a:solidFill>
                  <a:srgbClr val="FFFFFF"/>
                </a:solidFill>
                <a:latin typeface="Pretendard" pitchFamily="34" charset="0"/>
                <a:ea typeface="Pretendard" pitchFamily="34" charset="-122"/>
                <a:cs typeface="Pretendard" pitchFamily="34" charset="-120"/>
              </a:rPr>
              <a:t> 및</a:t>
            </a:r>
          </a:p>
          <a:p>
            <a:pPr marL="0" indent="0" algn="l">
              <a:lnSpc>
                <a:spcPct val="102222"/>
              </a:lnSpc>
              <a:buNone/>
            </a:pPr>
            <a:r>
              <a:rPr lang="en-US" sz="3450" b="1" kern="0" spc="-69" dirty="0" err="1">
                <a:solidFill>
                  <a:srgbClr val="FFFFFF"/>
                </a:solidFill>
                <a:latin typeface="Pretendard" pitchFamily="34" charset="0"/>
                <a:ea typeface="Pretendard" pitchFamily="34" charset="-122"/>
                <a:cs typeface="Pretendard" pitchFamily="34" charset="-120"/>
              </a:rPr>
              <a:t>활용</a:t>
            </a:r>
            <a:r>
              <a:rPr lang="en-US" sz="3450" b="1" kern="0" spc="-69" dirty="0">
                <a:solidFill>
                  <a:srgbClr val="FFFFFF"/>
                </a:solidFill>
                <a:latin typeface="Pretendard" pitchFamily="34" charset="0"/>
                <a:ea typeface="Pretendard" pitchFamily="34" charset="-122"/>
                <a:cs typeface="Pretendard" pitchFamily="34" charset="-120"/>
              </a:rPr>
              <a:t> AI </a:t>
            </a:r>
            <a:r>
              <a:rPr lang="en-US" sz="3450" b="1" kern="0" spc="-69" dirty="0" err="1">
                <a:solidFill>
                  <a:srgbClr val="FFFFFF"/>
                </a:solidFill>
                <a:latin typeface="Pretendard" pitchFamily="34" charset="0"/>
                <a:ea typeface="Pretendard" pitchFamily="34" charset="-122"/>
                <a:cs typeface="Pretendard" pitchFamily="34" charset="-120"/>
              </a:rPr>
              <a:t>기술</a:t>
            </a:r>
            <a:endParaRPr lang="en-US" sz="3450" dirty="0"/>
          </a:p>
        </p:txBody>
      </p:sp>
      <p:sp>
        <p:nvSpPr>
          <p:cNvPr id="6" name="Shape 4"/>
          <p:cNvSpPr/>
          <p:nvPr/>
        </p:nvSpPr>
        <p:spPr>
          <a:xfrm>
            <a:off x="571500" y="3026718"/>
            <a:ext cx="3200400" cy="19050"/>
          </a:xfrm>
          <a:prstGeom prst="rect">
            <a:avLst/>
          </a:prstGeom>
          <a:solidFill>
            <a:srgbClr val="7FDCFF">
              <a:alpha val="35000"/>
            </a:srgbClr>
          </a:solidFill>
          <a:ln/>
        </p:spPr>
        <p:txBody>
          <a:bodyPr/>
          <a:lstStyle/>
          <a:p>
            <a:endParaRPr lang="ko-KR" altLang="en-US"/>
          </a:p>
        </p:txBody>
      </p:sp>
      <p:sp>
        <p:nvSpPr>
          <p:cNvPr id="7" name="Text 5"/>
          <p:cNvSpPr/>
          <p:nvPr/>
        </p:nvSpPr>
        <p:spPr>
          <a:xfrm>
            <a:off x="571500" y="3312468"/>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아이디어 개요</a:t>
            </a:r>
            <a:endParaRPr lang="en-US" sz="2025" dirty="0"/>
          </a:p>
        </p:txBody>
      </p:sp>
      <p:sp>
        <p:nvSpPr>
          <p:cNvPr id="8" name="Text 6"/>
          <p:cNvSpPr/>
          <p:nvPr/>
        </p:nvSpPr>
        <p:spPr>
          <a:xfrm>
            <a:off x="571500" y="3702993"/>
            <a:ext cx="3296412" cy="70098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FFFFFF">
                    <a:alpha val="72000"/>
                  </a:srgbClr>
                </a:solidFill>
                <a:latin typeface="Pretendard" pitchFamily="34" charset="0"/>
                <a:ea typeface="Pretendard" pitchFamily="34" charset="-122"/>
                <a:cs typeface="Pretendard" pitchFamily="34" charset="-120"/>
              </a:rPr>
              <a:t>서비스 한 줄 정의, 주요 사용자, 핵심 동작 방식</a:t>
            </a:r>
            <a:endParaRPr lang="en-US" sz="1800" dirty="0"/>
          </a:p>
        </p:txBody>
      </p:sp>
      <p:sp>
        <p:nvSpPr>
          <p:cNvPr id="9" name="Text 7"/>
          <p:cNvSpPr/>
          <p:nvPr/>
        </p:nvSpPr>
        <p:spPr>
          <a:xfrm>
            <a:off x="571500" y="4613523"/>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적용 AI 기술</a:t>
            </a:r>
            <a:endParaRPr lang="en-US" sz="2025" dirty="0"/>
          </a:p>
        </p:txBody>
      </p:sp>
      <p:sp>
        <p:nvSpPr>
          <p:cNvPr id="10" name="Text 8"/>
          <p:cNvSpPr/>
          <p:nvPr/>
        </p:nvSpPr>
        <p:spPr>
          <a:xfrm>
            <a:off x="571500" y="5004048"/>
            <a:ext cx="3296412" cy="70098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FFFFFF">
                    <a:alpha val="72000"/>
                  </a:srgbClr>
                </a:solidFill>
                <a:latin typeface="Pretendard" pitchFamily="34" charset="0"/>
                <a:ea typeface="Pretendard" pitchFamily="34" charset="-122"/>
                <a:cs typeface="Pretendard" pitchFamily="34" charset="-120"/>
              </a:rPr>
              <a:t>활용 예정인 생성형 AI 툴·모델·기술 스택을 구체적으로 기재</a:t>
            </a:r>
            <a:endParaRPr lang="en-US" sz="1800" dirty="0"/>
          </a:p>
        </p:txBody>
      </p:sp>
      <p:sp>
        <p:nvSpPr>
          <p:cNvPr id="11" name="Text 9"/>
          <p:cNvSpPr/>
          <p:nvPr/>
        </p:nvSpPr>
        <p:spPr>
          <a:xfrm>
            <a:off x="571500" y="5914579"/>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차별점</a:t>
            </a:r>
            <a:endParaRPr lang="en-US" sz="2025" dirty="0"/>
          </a:p>
        </p:txBody>
      </p:sp>
      <p:sp>
        <p:nvSpPr>
          <p:cNvPr id="12" name="Text 10"/>
          <p:cNvSpPr/>
          <p:nvPr/>
        </p:nvSpPr>
        <p:spPr>
          <a:xfrm>
            <a:off x="571500" y="6305104"/>
            <a:ext cx="3296412" cy="70098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FFFFFF">
                    <a:alpha val="72000"/>
                  </a:srgbClr>
                </a:solidFill>
                <a:latin typeface="Pretendard" pitchFamily="34" charset="0"/>
                <a:ea typeface="Pretendard" pitchFamily="34" charset="-122"/>
                <a:cs typeface="Pretendard" pitchFamily="34" charset="-120"/>
              </a:rPr>
              <a:t>기존 방식 또는 유사 서비스 대비 차별화 지점</a:t>
            </a:r>
            <a:endParaRPr lang="en-US" sz="1800" dirty="0"/>
          </a:p>
        </p:txBody>
      </p:sp>
      <p:sp>
        <p:nvSpPr>
          <p:cNvPr id="13" name="Shape 11"/>
          <p:cNvSpPr/>
          <p:nvPr/>
        </p:nvSpPr>
        <p:spPr>
          <a:xfrm>
            <a:off x="4800600" y="1057275"/>
            <a:ext cx="12877800" cy="19050"/>
          </a:xfrm>
          <a:prstGeom prst="rect">
            <a:avLst/>
          </a:prstGeom>
          <a:solidFill>
            <a:srgbClr val="0B2A6B"/>
          </a:solidFill>
          <a:ln/>
        </p:spPr>
        <p:txBody>
          <a:bodyPr/>
          <a:lstStyle/>
          <a:p>
            <a:endParaRPr lang="ko-KR" altLang="en-US"/>
          </a:p>
        </p:txBody>
      </p:sp>
      <p:sp>
        <p:nvSpPr>
          <p:cNvPr id="14" name="Text 12"/>
          <p:cNvSpPr/>
          <p:nvPr/>
        </p:nvSpPr>
        <p:spPr>
          <a:xfrm>
            <a:off x="4800600" y="571500"/>
            <a:ext cx="852041" cy="333375"/>
          </a:xfrm>
          <a:prstGeom prst="rect">
            <a:avLst/>
          </a:prstGeom>
          <a:noFill/>
          <a:ln/>
        </p:spPr>
        <p:txBody>
          <a:bodyPr wrap="square" lIns="25400" tIns="25400" rIns="25400" bIns="25400" rtlCol="0" anchor="t">
            <a:normAutofit/>
          </a:bodyPr>
          <a:lstStyle/>
          <a:p>
            <a:pPr marL="0" indent="0" algn="l">
              <a:buNone/>
            </a:pPr>
            <a:r>
              <a:rPr lang="en-US" sz="1950" b="1" kern="0" spc="351" dirty="0">
                <a:solidFill>
                  <a:srgbClr val="0B2A6B"/>
                </a:solidFill>
                <a:latin typeface="Pretendard" pitchFamily="34" charset="0"/>
                <a:ea typeface="Pretendard" pitchFamily="34" charset="-122"/>
                <a:cs typeface="Pretendard" pitchFamily="34" charset="-120"/>
              </a:rPr>
              <a:t>작성란</a:t>
            </a:r>
            <a:endParaRPr lang="en-US" sz="1950" dirty="0"/>
          </a:p>
        </p:txBody>
      </p:sp>
      <p:sp>
        <p:nvSpPr>
          <p:cNvPr id="15" name="Text 13"/>
          <p:cNvSpPr/>
          <p:nvPr/>
        </p:nvSpPr>
        <p:spPr>
          <a:xfrm>
            <a:off x="15122872" y="571500"/>
            <a:ext cx="2811081" cy="333375"/>
          </a:xfrm>
          <a:prstGeom prst="rect">
            <a:avLst/>
          </a:prstGeom>
          <a:noFill/>
          <a:ln/>
        </p:spPr>
        <p:txBody>
          <a:bodyPr wrap="square" lIns="25400" tIns="25400" rIns="25400" bIns="25400" rtlCol="0" anchor="t">
            <a:normAutofit/>
          </a:bodyPr>
          <a:lstStyle/>
          <a:p>
            <a:pPr marL="0" indent="0" algn="l">
              <a:buNone/>
            </a:pPr>
            <a:r>
              <a:rPr lang="en-US" sz="1950" b="1" dirty="0">
                <a:solidFill>
                  <a:srgbClr val="8B9AB5"/>
                </a:solidFill>
                <a:latin typeface="Pretendard" pitchFamily="34" charset="0"/>
                <a:ea typeface="Pretendard" pitchFamily="34" charset="-122"/>
                <a:cs typeface="Pretendard" pitchFamily="34" charset="-120"/>
              </a:rPr>
              <a:t>2026 K-조선 해커톤 · 03</a:t>
            </a:r>
            <a:endParaRPr lang="en-US" sz="1950" dirty="0"/>
          </a:p>
        </p:txBody>
      </p:sp>
      <p:sp>
        <p:nvSpPr>
          <p:cNvPr id="16" name="Rounded Rectangle 15"/>
          <p:cNvSpPr/>
          <p:nvPr/>
        </p:nvSpPr>
        <p:spPr>
          <a:xfrm>
            <a:off x="4800600" y="1371600"/>
            <a:ext cx="12874752" cy="3429000"/>
          </a:xfrm>
          <a:prstGeom prst="roundRect">
            <a:avLst>
              <a:gd name="adj" fmla="val 3500"/>
            </a:avLst>
          </a:prstGeom>
          <a:solidFill>
            <a:srgbClr val="FFFFFF"/>
          </a:solidFill>
          <a:ln w="9525">
            <a:solidFill>
              <a:srgbClr val="D9E0EC"/>
            </a:solidFill>
          </a:ln>
        </p:spPr>
        <p:txBody>
          <a:bodyPr rtlCol="0" anchor="ctr"/>
          <a:lstStyle/>
          <a:p/>
        </p:txBody>
      </p:sp>
      <p:sp>
        <p:nvSpPr>
          <p:cNvPr id="17" name="Oval 16"/>
          <p:cNvSpPr/>
          <p:nvPr/>
        </p:nvSpPr>
        <p:spPr>
          <a:xfrm>
            <a:off x="5120640" y="1728216"/>
            <a:ext cx="146304" cy="146304"/>
          </a:xfrm>
          <a:prstGeom prst="ellipse">
            <a:avLst/>
          </a:prstGeom>
          <a:solidFill>
            <a:srgbClr val="4FD0F5"/>
          </a:solidFill>
          <a:ln>
            <a:noFill/>
          </a:ln>
        </p:spPr>
        <p:txBody>
          <a:bodyPr rtlCol="0" anchor="ctr"/>
          <a:lstStyle/>
          <a:p>
            <a:pPr algn="ctr"/>
          </a:p>
        </p:txBody>
      </p:sp>
      <p:sp>
        <p:nvSpPr>
          <p:cNvPr id="18" name="TextBox 17"/>
          <p:cNvSpPr txBox="1"/>
          <p:nvPr/>
        </p:nvSpPr>
        <p:spPr>
          <a:xfrm>
            <a:off x="5367527" y="1627632"/>
            <a:ext cx="11987784" cy="384048"/>
          </a:xfrm>
          <a:prstGeom prst="rect">
            <a:avLst/>
          </a:prstGeom>
          <a:noFill/>
        </p:spPr>
        <p:txBody>
          <a:bodyPr wrap="square" anchor="t" lIns="0" rIns="0" tIns="0" bIns="0">
            <a:spAutoFit/>
          </a:bodyPr>
          <a:lstStyle/>
          <a:p>
            <a:pPr algn="l">
              <a:lnSpc>
                <a:spcPct val="112000"/>
              </a:lnSpc>
            </a:pPr>
            <a:r>
              <a:rPr sz="2000" b="1" i="0">
                <a:solidFill>
                  <a:srgbClr val="0B2A6B"/>
                </a:solidFill>
                <a:latin typeface="Pretendard"/>
                <a:ea typeface="Pretendard"/>
                <a:cs typeface="Pretendard"/>
              </a:rPr>
              <a:t>아이디어 개요</a:t>
            </a:r>
          </a:p>
        </p:txBody>
      </p:sp>
      <p:sp>
        <p:nvSpPr>
          <p:cNvPr id="19" name="TextBox 18"/>
          <p:cNvSpPr txBox="1"/>
          <p:nvPr/>
        </p:nvSpPr>
        <p:spPr>
          <a:xfrm>
            <a:off x="5120640" y="2048256"/>
            <a:ext cx="12234672" cy="868680"/>
          </a:xfrm>
          <a:prstGeom prst="rect">
            <a:avLst/>
          </a:prstGeom>
          <a:noFill/>
        </p:spPr>
        <p:txBody>
          <a:bodyPr wrap="square" anchor="t" lIns="0" rIns="0" tIns="0" bIns="0">
            <a:spAutoFit/>
          </a:bodyPr>
          <a:lstStyle/>
          <a:p>
            <a:pPr algn="l">
              <a:lnSpc>
                <a:spcPct val="110000"/>
              </a:lnSpc>
            </a:pPr>
            <a:r>
              <a:rPr sz="1300" b="1" i="0">
                <a:solidFill>
                  <a:srgbClr val="1F2A44"/>
                </a:solidFill>
                <a:latin typeface="Pretendard"/>
                <a:ea typeface="Pretendard"/>
                <a:cs typeface="Pretendard"/>
              </a:rPr>
              <a:t>RT 판독 워크벤치</a:t>
            </a:r>
            <a:r>
              <a:rPr sz="1300" b="0" i="0">
                <a:solidFill>
                  <a:srgbClr val="1F2A44"/>
                </a:solidFill>
                <a:latin typeface="Pretendard"/>
                <a:ea typeface="Pretendard"/>
                <a:cs typeface="Pretendard"/>
              </a:rPr>
              <a:t> — 스캔 필름·디지털 RT 이미지를 열면 AI가 놓침 방지 후보를 표시하고, 판독원이 유형을 확정하고 2클릭으로 잰 크기를 룰 엔진이 100mm 평가 구간 기준으로 판정하며, 소견서 초안·PDF·아카이브까지 한 화면에서 끝나는 </a:t>
            </a:r>
            <a:r>
              <a:rPr sz="1300" b="1" i="0">
                <a:solidFill>
                  <a:srgbClr val="1F2A44"/>
                </a:solidFill>
                <a:latin typeface="Pretendard"/>
                <a:ea typeface="Pretendard"/>
                <a:cs typeface="Pretendard"/>
              </a:rPr>
              <a:t>로컬 실행 웹앱</a:t>
            </a:r>
            <a:r>
              <a:rPr sz="1300" b="0" i="0">
                <a:solidFill>
                  <a:srgbClr val="1F2A44"/>
                </a:solidFill>
                <a:latin typeface="Pretendard"/>
                <a:ea typeface="Pretendard"/>
                <a:cs typeface="Pretendard"/>
              </a:rPr>
              <a:t>(Streamlit — PC에서 실행·브라우저 표시, 같은 와이파이의 태블릿 접속 가능)</a:t>
            </a:r>
          </a:p>
        </p:txBody>
      </p:sp>
      <p:sp>
        <p:nvSpPr>
          <p:cNvPr id="20" name="TextBox 19"/>
          <p:cNvSpPr txBox="1"/>
          <p:nvPr/>
        </p:nvSpPr>
        <p:spPr>
          <a:xfrm>
            <a:off x="5120640" y="2907791"/>
            <a:ext cx="12234672" cy="274320"/>
          </a:xfrm>
          <a:prstGeom prst="rect">
            <a:avLst/>
          </a:prstGeom>
          <a:noFill/>
        </p:spPr>
        <p:txBody>
          <a:bodyPr wrap="square" anchor="t" lIns="0" rIns="0" tIns="0" bIns="0">
            <a:spAutoFit/>
          </a:bodyPr>
          <a:lstStyle/>
          <a:p>
            <a:pPr algn="l">
              <a:lnSpc>
                <a:spcPct val="112000"/>
              </a:lnSpc>
            </a:pPr>
            <a:r>
              <a:rPr sz="1150" b="0" i="0">
                <a:solidFill>
                  <a:srgbClr val="5B6B8C"/>
                </a:solidFill>
                <a:latin typeface="Pretendard"/>
                <a:ea typeface="Pretendard"/>
                <a:cs typeface="Pretendard"/>
              </a:rPr>
              <a:t>주요 사용자: RT 판독원(비파괴검사 자격자) 1인 — 검사업체 판독원 또는 조선소 QC · 판정·승인 권한은 항상 사람</a:t>
            </a:r>
          </a:p>
        </p:txBody>
      </p:sp>
      <p:sp>
        <p:nvSpPr>
          <p:cNvPr id="21" name="Rounded Rectangle 20"/>
          <p:cNvSpPr/>
          <p:nvPr/>
        </p:nvSpPr>
        <p:spPr>
          <a:xfrm>
            <a:off x="5120640" y="3218688"/>
            <a:ext cx="2894076" cy="1399031"/>
          </a:xfrm>
          <a:prstGeom prst="roundRect">
            <a:avLst>
              <a:gd name="adj" fmla="val 6000"/>
            </a:avLst>
          </a:prstGeom>
          <a:solidFill>
            <a:srgbClr val="F2F5FA"/>
          </a:solidFill>
          <a:ln>
            <a:noFill/>
          </a:ln>
        </p:spPr>
        <p:txBody>
          <a:bodyPr rtlCol="0" anchor="ctr"/>
          <a:lstStyle/>
          <a:p/>
        </p:txBody>
      </p:sp>
      <p:sp>
        <p:nvSpPr>
          <p:cNvPr id="22" name="TextBox 21"/>
          <p:cNvSpPr txBox="1"/>
          <p:nvPr/>
        </p:nvSpPr>
        <p:spPr>
          <a:xfrm>
            <a:off x="5285231" y="3328416"/>
            <a:ext cx="2564892" cy="274320"/>
          </a:xfrm>
          <a:prstGeom prst="rect">
            <a:avLst/>
          </a:prstGeom>
          <a:noFill/>
        </p:spPr>
        <p:txBody>
          <a:bodyPr wrap="square" anchor="t" lIns="0" rIns="0" tIns="0" bIns="0">
            <a:spAutoFit/>
          </a:bodyPr>
          <a:lstStyle/>
          <a:p>
            <a:pPr algn="l">
              <a:lnSpc>
                <a:spcPct val="112000"/>
              </a:lnSpc>
            </a:pPr>
            <a:r>
              <a:rPr sz="1250" b="1" i="0">
                <a:solidFill>
                  <a:srgbClr val="0B2A6B"/>
                </a:solidFill>
                <a:latin typeface="Pretendard"/>
                <a:ea typeface="Pretendard"/>
                <a:cs typeface="Pretendard"/>
              </a:rPr>
              <a:t>① 2차 눈(Second Reader)</a:t>
            </a:r>
          </a:p>
        </p:txBody>
      </p:sp>
      <p:sp>
        <p:nvSpPr>
          <p:cNvPr id="23" name="TextBox 22"/>
          <p:cNvSpPr txBox="1"/>
          <p:nvPr/>
        </p:nvSpPr>
        <p:spPr>
          <a:xfrm>
            <a:off x="5285231" y="3611880"/>
            <a:ext cx="2564892" cy="941831"/>
          </a:xfrm>
          <a:prstGeom prst="rect">
            <a:avLst/>
          </a:prstGeom>
          <a:noFill/>
        </p:spPr>
        <p:txBody>
          <a:bodyPr wrap="square" anchor="t" lIns="0" rIns="0" tIns="0" bIns="0">
            <a:spAutoFit/>
          </a:bodyPr>
          <a:lstStyle/>
          <a:p>
            <a:pPr algn="l">
              <a:lnSpc>
                <a:spcPct val="108000"/>
              </a:lnSpc>
            </a:pPr>
            <a:r>
              <a:rPr sz="1000" b="0" i="0">
                <a:solidFill>
                  <a:srgbClr val="1F2A44"/>
                </a:solidFill>
                <a:latin typeface="Pretendard"/>
                <a:ea typeface="Pretendard"/>
                <a:cs typeface="Pretendard"/>
              </a:rPr>
              <a:t>판독원이 먼저 보고, AI가 놓침 방지 후보를 표시. 재현율 우선 운영점(오탐은 클릭 한 번, 미탐은 배에 남는다). 후보의 결함 유형은 </a:t>
            </a:r>
            <a:r>
              <a:rPr sz="1000" b="1" i="0">
                <a:solidFill>
                  <a:srgbClr val="1F2A44"/>
                </a:solidFill>
                <a:latin typeface="Pretendard"/>
                <a:ea typeface="Pretendard"/>
                <a:cs typeface="Pretendard"/>
              </a:rPr>
              <a:t>판독원이 수정·확정한 뒤 채택</a:t>
            </a:r>
            <a:r>
              <a:rPr sz="1000" b="0" i="0">
                <a:solidFill>
                  <a:srgbClr val="1F2A44"/>
                </a:solidFill>
                <a:latin typeface="Pretendard"/>
                <a:ea typeface="Pretendard"/>
                <a:cs typeface="Pretendard"/>
              </a:rPr>
              <a:t> — 균열 등 허용 불가 판정은 확정 유형에만 적용</a:t>
            </a:r>
          </a:p>
        </p:txBody>
      </p:sp>
      <p:sp>
        <p:nvSpPr>
          <p:cNvPr id="24" name="Rounded Rectangle 23"/>
          <p:cNvSpPr/>
          <p:nvPr/>
        </p:nvSpPr>
        <p:spPr>
          <a:xfrm>
            <a:off x="8234171" y="3218688"/>
            <a:ext cx="2894076" cy="1399031"/>
          </a:xfrm>
          <a:prstGeom prst="roundRect">
            <a:avLst>
              <a:gd name="adj" fmla="val 6000"/>
            </a:avLst>
          </a:prstGeom>
          <a:solidFill>
            <a:srgbClr val="F2F5FA"/>
          </a:solidFill>
          <a:ln>
            <a:noFill/>
          </a:ln>
        </p:spPr>
        <p:txBody>
          <a:bodyPr rtlCol="0" anchor="ctr"/>
          <a:lstStyle/>
          <a:p/>
        </p:txBody>
      </p:sp>
      <p:sp>
        <p:nvSpPr>
          <p:cNvPr id="25" name="TextBox 24"/>
          <p:cNvSpPr txBox="1"/>
          <p:nvPr/>
        </p:nvSpPr>
        <p:spPr>
          <a:xfrm>
            <a:off x="8398763" y="3328416"/>
            <a:ext cx="2564892" cy="274320"/>
          </a:xfrm>
          <a:prstGeom prst="rect">
            <a:avLst/>
          </a:prstGeom>
          <a:noFill/>
        </p:spPr>
        <p:txBody>
          <a:bodyPr wrap="square" anchor="t" lIns="0" rIns="0" tIns="0" bIns="0">
            <a:spAutoFit/>
          </a:bodyPr>
          <a:lstStyle/>
          <a:p>
            <a:pPr algn="l">
              <a:lnSpc>
                <a:spcPct val="112000"/>
              </a:lnSpc>
            </a:pPr>
            <a:r>
              <a:rPr sz="1250" b="1" i="0">
                <a:solidFill>
                  <a:srgbClr val="0B2A6B"/>
                </a:solidFill>
                <a:latin typeface="Pretendard"/>
                <a:ea typeface="Pretendard"/>
                <a:cs typeface="Pretendard"/>
              </a:rPr>
              <a:t>② 2클릭 자 + 룰 판정</a:t>
            </a:r>
          </a:p>
        </p:txBody>
      </p:sp>
      <p:sp>
        <p:nvSpPr>
          <p:cNvPr id="26" name="TextBox 25"/>
          <p:cNvSpPr txBox="1"/>
          <p:nvPr/>
        </p:nvSpPr>
        <p:spPr>
          <a:xfrm>
            <a:off x="8398763" y="3611880"/>
            <a:ext cx="2564892" cy="941831"/>
          </a:xfrm>
          <a:prstGeom prst="rect">
            <a:avLst/>
          </a:prstGeom>
          <a:noFill/>
        </p:spPr>
        <p:txBody>
          <a:bodyPr wrap="square" anchor="t" lIns="0" rIns="0" tIns="0" bIns="0">
            <a:spAutoFit/>
          </a:bodyPr>
          <a:lstStyle/>
          <a:p>
            <a:pPr algn="l">
              <a:lnSpc>
                <a:spcPct val="108000"/>
              </a:lnSpc>
            </a:pPr>
            <a:r>
              <a:rPr sz="1000" b="0" i="0">
                <a:solidFill>
                  <a:srgbClr val="1F2A44"/>
                </a:solidFill>
                <a:latin typeface="Pretendard"/>
                <a:ea typeface="Pretendard"/>
                <a:cs typeface="Pretendard"/>
              </a:rPr>
              <a:t>IQI·납마커 2클릭으로 mm/px, 결함 2클릭으로 크기 확정 → 결정론적 룰 엔진이 </a:t>
            </a:r>
            <a:r>
              <a:rPr sz="1000" b="1" i="0">
                <a:solidFill>
                  <a:srgbClr val="1F2A44"/>
                </a:solidFill>
                <a:latin typeface="Pretendard"/>
                <a:ea typeface="Pretendard"/>
                <a:cs typeface="Pretendard"/>
              </a:rPr>
              <a:t>단일 치수·누적 길이·투영 면적률(%)</a:t>
            </a:r>
            <a:r>
              <a:rPr sz="1000" b="0" i="0">
                <a:solidFill>
                  <a:srgbClr val="1F2A44"/>
                </a:solidFill>
                <a:latin typeface="Pretendard"/>
                <a:ea typeface="Pretendard"/>
                <a:cs typeface="Pretendard"/>
              </a:rPr>
              <a:t> 3종 판정식으로 합부 + 근거 조항 제시(평가 길이 100mm·용접부 폭 입력)</a:t>
            </a:r>
          </a:p>
        </p:txBody>
      </p:sp>
      <p:sp>
        <p:nvSpPr>
          <p:cNvPr id="27" name="Rounded Rectangle 26"/>
          <p:cNvSpPr/>
          <p:nvPr/>
        </p:nvSpPr>
        <p:spPr>
          <a:xfrm>
            <a:off x="11347704" y="3218688"/>
            <a:ext cx="2894076" cy="1399031"/>
          </a:xfrm>
          <a:prstGeom prst="roundRect">
            <a:avLst>
              <a:gd name="adj" fmla="val 6000"/>
            </a:avLst>
          </a:prstGeom>
          <a:solidFill>
            <a:srgbClr val="F2F5FA"/>
          </a:solidFill>
          <a:ln>
            <a:noFill/>
          </a:ln>
        </p:spPr>
        <p:txBody>
          <a:bodyPr rtlCol="0" anchor="ctr"/>
          <a:lstStyle/>
          <a:p/>
        </p:txBody>
      </p:sp>
      <p:sp>
        <p:nvSpPr>
          <p:cNvPr id="28" name="TextBox 27"/>
          <p:cNvSpPr txBox="1"/>
          <p:nvPr/>
        </p:nvSpPr>
        <p:spPr>
          <a:xfrm>
            <a:off x="11512296" y="3328416"/>
            <a:ext cx="2564892" cy="274320"/>
          </a:xfrm>
          <a:prstGeom prst="rect">
            <a:avLst/>
          </a:prstGeom>
          <a:noFill/>
        </p:spPr>
        <p:txBody>
          <a:bodyPr wrap="square" anchor="t" lIns="0" rIns="0" tIns="0" bIns="0">
            <a:spAutoFit/>
          </a:bodyPr>
          <a:lstStyle/>
          <a:p>
            <a:pPr algn="l">
              <a:lnSpc>
                <a:spcPct val="112000"/>
              </a:lnSpc>
            </a:pPr>
            <a:r>
              <a:rPr sz="1250" b="1" i="0">
                <a:solidFill>
                  <a:srgbClr val="0B2A6B"/>
                </a:solidFill>
                <a:latin typeface="Pretendard"/>
                <a:ea typeface="Pretendard"/>
                <a:cs typeface="Pretendard"/>
              </a:rPr>
              <a:t>③ 소견서 초안 + 자연어 검색</a:t>
            </a:r>
          </a:p>
        </p:txBody>
      </p:sp>
      <p:sp>
        <p:nvSpPr>
          <p:cNvPr id="29" name="TextBox 28"/>
          <p:cNvSpPr txBox="1"/>
          <p:nvPr/>
        </p:nvSpPr>
        <p:spPr>
          <a:xfrm>
            <a:off x="11512296" y="3611880"/>
            <a:ext cx="2564892" cy="941831"/>
          </a:xfrm>
          <a:prstGeom prst="rect">
            <a:avLst/>
          </a:prstGeom>
          <a:noFill/>
        </p:spPr>
        <p:txBody>
          <a:bodyPr wrap="square" anchor="t" lIns="0" rIns="0" tIns="0" bIns="0">
            <a:spAutoFit/>
          </a:bodyPr>
          <a:lstStyle/>
          <a:p>
            <a:pPr algn="l">
              <a:lnSpc>
                <a:spcPct val="108000"/>
              </a:lnSpc>
            </a:pPr>
            <a:r>
              <a:rPr sz="1000" b="0" i="0">
                <a:solidFill>
                  <a:srgbClr val="1F2A44"/>
                </a:solidFill>
                <a:latin typeface="Pretendard"/>
                <a:ea typeface="Pretendard"/>
                <a:cs typeface="Pretendard"/>
              </a:rPr>
              <a:t>확정 판정(비식별 텍스트만)을 LLM이 리포트 문체로 작성 → 판독원 수정·승인 → PDF. 아카이브에서는 ‘3번 블록 지난달 기공 불합격’ 같은 자연어를 LLM이 검색 필터로 변환하고 이력 요약을 생성 — LLM이 없어도 규칙 파서·템플릿으로 동작</a:t>
            </a:r>
          </a:p>
        </p:txBody>
      </p:sp>
      <p:sp>
        <p:nvSpPr>
          <p:cNvPr id="30" name="Rounded Rectangle 29"/>
          <p:cNvSpPr/>
          <p:nvPr/>
        </p:nvSpPr>
        <p:spPr>
          <a:xfrm>
            <a:off x="14461236" y="3218688"/>
            <a:ext cx="2894076" cy="1399031"/>
          </a:xfrm>
          <a:prstGeom prst="roundRect">
            <a:avLst>
              <a:gd name="adj" fmla="val 6000"/>
            </a:avLst>
          </a:prstGeom>
          <a:solidFill>
            <a:srgbClr val="F2F5FA"/>
          </a:solidFill>
          <a:ln>
            <a:noFill/>
          </a:ln>
        </p:spPr>
        <p:txBody>
          <a:bodyPr rtlCol="0" anchor="ctr"/>
          <a:lstStyle/>
          <a:p/>
        </p:txBody>
      </p:sp>
      <p:sp>
        <p:nvSpPr>
          <p:cNvPr id="31" name="TextBox 30"/>
          <p:cNvSpPr txBox="1"/>
          <p:nvPr/>
        </p:nvSpPr>
        <p:spPr>
          <a:xfrm>
            <a:off x="14625828" y="3328416"/>
            <a:ext cx="2564892" cy="274320"/>
          </a:xfrm>
          <a:prstGeom prst="rect">
            <a:avLst/>
          </a:prstGeom>
          <a:noFill/>
        </p:spPr>
        <p:txBody>
          <a:bodyPr wrap="square" anchor="t" lIns="0" rIns="0" tIns="0" bIns="0">
            <a:spAutoFit/>
          </a:bodyPr>
          <a:lstStyle/>
          <a:p>
            <a:pPr algn="l">
              <a:lnSpc>
                <a:spcPct val="112000"/>
              </a:lnSpc>
            </a:pPr>
            <a:r>
              <a:rPr sz="1250" b="1" i="0">
                <a:solidFill>
                  <a:srgbClr val="0B2A6B"/>
                </a:solidFill>
                <a:latin typeface="Pretendard"/>
                <a:ea typeface="Pretendard"/>
                <a:cs typeface="Pretendard"/>
              </a:rPr>
              <a:t>④ 검색 아카이브 + 데이터 축적</a:t>
            </a:r>
          </a:p>
        </p:txBody>
      </p:sp>
      <p:sp>
        <p:nvSpPr>
          <p:cNvPr id="32" name="TextBox 31"/>
          <p:cNvSpPr txBox="1"/>
          <p:nvPr/>
        </p:nvSpPr>
        <p:spPr>
          <a:xfrm>
            <a:off x="14625828" y="3611880"/>
            <a:ext cx="2564892" cy="941831"/>
          </a:xfrm>
          <a:prstGeom prst="rect">
            <a:avLst/>
          </a:prstGeom>
          <a:noFill/>
        </p:spPr>
        <p:txBody>
          <a:bodyPr wrap="square" anchor="t" lIns="0" rIns="0" tIns="0" bIns="0">
            <a:spAutoFit/>
          </a:bodyPr>
          <a:lstStyle/>
          <a:p>
            <a:pPr algn="l">
              <a:lnSpc>
                <a:spcPct val="108000"/>
              </a:lnSpc>
            </a:pPr>
            <a:r>
              <a:rPr sz="1000" b="0" i="0">
                <a:solidFill>
                  <a:srgbClr val="1F2A44"/>
                </a:solidFill>
                <a:latin typeface="Pretendard"/>
                <a:ea typeface="Pretendard"/>
                <a:cs typeface="Pretendard"/>
              </a:rPr>
              <a:t>승인 기록 DB·조건 검색·CSV. 채택·직접 추가(bbox 2클릭) 기록은 YOLO 라벨로 export, 기각은 오탐 신호로 집계만(재검토 대상) — 재학습은 별도 프로젝트, 데이터는 반출 없이 조직 소유</a:t>
            </a:r>
          </a:p>
        </p:txBody>
      </p:sp>
      <p:sp>
        <p:nvSpPr>
          <p:cNvPr id="33" name="Rounded Rectangle 32"/>
          <p:cNvSpPr/>
          <p:nvPr/>
        </p:nvSpPr>
        <p:spPr>
          <a:xfrm>
            <a:off x="4800600" y="5074920"/>
            <a:ext cx="7452360" cy="4178807"/>
          </a:xfrm>
          <a:prstGeom prst="roundRect">
            <a:avLst>
              <a:gd name="adj" fmla="val 3500"/>
            </a:avLst>
          </a:prstGeom>
          <a:solidFill>
            <a:srgbClr val="FFFFFF"/>
          </a:solidFill>
          <a:ln w="9525">
            <a:solidFill>
              <a:srgbClr val="D9E0EC"/>
            </a:solidFill>
          </a:ln>
        </p:spPr>
        <p:txBody>
          <a:bodyPr rtlCol="0" anchor="ctr"/>
          <a:lstStyle/>
          <a:p/>
        </p:txBody>
      </p:sp>
      <p:sp>
        <p:nvSpPr>
          <p:cNvPr id="34" name="Oval 33"/>
          <p:cNvSpPr/>
          <p:nvPr/>
        </p:nvSpPr>
        <p:spPr>
          <a:xfrm>
            <a:off x="5120640" y="5431536"/>
            <a:ext cx="146304" cy="146304"/>
          </a:xfrm>
          <a:prstGeom prst="ellipse">
            <a:avLst/>
          </a:prstGeom>
          <a:solidFill>
            <a:srgbClr val="4FD0F5"/>
          </a:solidFill>
          <a:ln>
            <a:noFill/>
          </a:ln>
        </p:spPr>
        <p:txBody>
          <a:bodyPr rtlCol="0" anchor="ctr"/>
          <a:lstStyle/>
          <a:p>
            <a:pPr algn="ctr"/>
          </a:p>
        </p:txBody>
      </p:sp>
      <p:sp>
        <p:nvSpPr>
          <p:cNvPr id="35" name="TextBox 34"/>
          <p:cNvSpPr txBox="1"/>
          <p:nvPr/>
        </p:nvSpPr>
        <p:spPr>
          <a:xfrm>
            <a:off x="5367527" y="5330952"/>
            <a:ext cx="6565392" cy="384048"/>
          </a:xfrm>
          <a:prstGeom prst="rect">
            <a:avLst/>
          </a:prstGeom>
          <a:noFill/>
        </p:spPr>
        <p:txBody>
          <a:bodyPr wrap="square" anchor="t" lIns="0" rIns="0" tIns="0" bIns="0">
            <a:spAutoFit/>
          </a:bodyPr>
          <a:lstStyle/>
          <a:p>
            <a:pPr algn="l">
              <a:lnSpc>
                <a:spcPct val="112000"/>
              </a:lnSpc>
            </a:pPr>
            <a:r>
              <a:rPr sz="2000" b="1" i="0">
                <a:solidFill>
                  <a:srgbClr val="0B2A6B"/>
                </a:solidFill>
                <a:latin typeface="Pretendard"/>
                <a:ea typeface="Pretendard"/>
                <a:cs typeface="Pretendard"/>
              </a:rPr>
              <a:t>적용 AI 기술</a:t>
            </a:r>
          </a:p>
        </p:txBody>
      </p:sp>
      <p:sp>
        <p:nvSpPr>
          <p:cNvPr id="36" name="Rounded Rectangle 35"/>
          <p:cNvSpPr/>
          <p:nvPr/>
        </p:nvSpPr>
        <p:spPr>
          <a:xfrm>
            <a:off x="5120640" y="5824728"/>
            <a:ext cx="3305556" cy="1481328"/>
          </a:xfrm>
          <a:prstGeom prst="roundRect">
            <a:avLst>
              <a:gd name="adj" fmla="val 6000"/>
            </a:avLst>
          </a:prstGeom>
          <a:solidFill>
            <a:srgbClr val="F2F5FA"/>
          </a:solidFill>
          <a:ln>
            <a:noFill/>
          </a:ln>
        </p:spPr>
        <p:txBody>
          <a:bodyPr rtlCol="0" anchor="ctr"/>
          <a:lstStyle/>
          <a:p/>
        </p:txBody>
      </p:sp>
      <p:sp>
        <p:nvSpPr>
          <p:cNvPr id="37" name="TextBox 36"/>
          <p:cNvSpPr txBox="1"/>
          <p:nvPr/>
        </p:nvSpPr>
        <p:spPr>
          <a:xfrm>
            <a:off x="5276088" y="5925312"/>
            <a:ext cx="2994660" cy="274320"/>
          </a:xfrm>
          <a:prstGeom prst="rect">
            <a:avLst/>
          </a:prstGeom>
          <a:noFill/>
        </p:spPr>
        <p:txBody>
          <a:bodyPr wrap="square" anchor="t" lIns="0" rIns="0" tIns="0" bIns="0">
            <a:spAutoFit/>
          </a:bodyPr>
          <a:lstStyle/>
          <a:p>
            <a:pPr algn="l">
              <a:lnSpc>
                <a:spcPct val="112000"/>
              </a:lnSpc>
            </a:pPr>
            <a:r>
              <a:rPr sz="1250" b="1" i="0">
                <a:solidFill>
                  <a:srgbClr val="0B2A6B"/>
                </a:solidFill>
                <a:latin typeface="Pretendard"/>
                <a:ea typeface="Pretendard"/>
                <a:cs typeface="Pretendard"/>
              </a:rPr>
              <a:t>결함 후보 탐지</a:t>
            </a:r>
          </a:p>
        </p:txBody>
      </p:sp>
      <p:sp>
        <p:nvSpPr>
          <p:cNvPr id="38" name="TextBox 37"/>
          <p:cNvSpPr txBox="1"/>
          <p:nvPr/>
        </p:nvSpPr>
        <p:spPr>
          <a:xfrm>
            <a:off x="5276088" y="6208776"/>
            <a:ext cx="2994660" cy="1024128"/>
          </a:xfrm>
          <a:prstGeom prst="rect">
            <a:avLst/>
          </a:prstGeom>
          <a:noFill/>
        </p:spPr>
        <p:txBody>
          <a:bodyPr wrap="square" anchor="t" lIns="0" rIns="0" tIns="0" bIns="0">
            <a:spAutoFit/>
          </a:bodyPr>
          <a:lstStyle/>
          <a:p>
            <a:pPr algn="l">
              <a:lnSpc>
                <a:spcPct val="108000"/>
              </a:lnSpc>
            </a:pPr>
            <a:r>
              <a:rPr sz="1000" b="0" i="0">
                <a:solidFill>
                  <a:srgbClr val="1F2A44"/>
                </a:solidFill>
                <a:latin typeface="Pretendard"/>
                <a:ea typeface="Pretendard"/>
                <a:cs typeface="Pretendard"/>
              </a:rPr>
              <a:t>Ultralytics YOLO(</a:t>
            </a:r>
            <a:r>
              <a:rPr sz="1000" b="1" i="0">
                <a:solidFill>
                  <a:srgbClr val="1F2A44"/>
                </a:solidFill>
                <a:latin typeface="Pretendard"/>
                <a:ea typeface="Pretendard"/>
                <a:cs typeface="Pretendard"/>
              </a:rPr>
              <a:t>YOLO26s</a:t>
            </a:r>
            <a:r>
              <a:rPr sz="1000" b="0" i="0">
                <a:solidFill>
                  <a:srgbClr val="1F2A44"/>
                </a:solidFill>
                <a:latin typeface="Pretendard"/>
                <a:ea typeface="Pretendard"/>
                <a:cs typeface="Pretendard"/>
              </a:rPr>
              <a:t> 권장, 2026.01 공개; YOLOv8/11 가중치도 같은 API) + CLAHE로 AI Hub·RIAWELC 학습 예정. </a:t>
            </a:r>
            <a:r>
              <a:rPr sz="1000" b="1" i="0">
                <a:solidFill>
                  <a:srgbClr val="1F2A44"/>
                </a:solidFill>
                <a:latin typeface="Pretendard"/>
                <a:ea typeface="Pretendard"/>
                <a:cs typeface="Pretendard"/>
              </a:rPr>
              <a:t>현재 프로토타입은 OpenCV 휴리스틱 폴백 탐지기</a:t>
            </a:r>
            <a:r>
              <a:rPr sz="1000" b="0" i="0">
                <a:solidFill>
                  <a:srgbClr val="1F2A44"/>
                </a:solidFill>
                <a:latin typeface="Pretendard"/>
                <a:ea typeface="Pretendard"/>
                <a:cs typeface="Pretendard"/>
              </a:rPr>
              <a:t>(학습 모델 아님): 합성 필름 결함 14개 재현율 14/14, 장당 오탐 3.8건(신뢰도 0.5). 가중치를 두면 자동 전환. AGPL-3.0(사내 배포 시 Enterprise)</a:t>
            </a:r>
          </a:p>
        </p:txBody>
      </p:sp>
      <p:sp>
        <p:nvSpPr>
          <p:cNvPr id="39" name="Rounded Rectangle 38"/>
          <p:cNvSpPr/>
          <p:nvPr/>
        </p:nvSpPr>
        <p:spPr>
          <a:xfrm>
            <a:off x="8627364" y="5824728"/>
            <a:ext cx="3305556" cy="1481328"/>
          </a:xfrm>
          <a:prstGeom prst="roundRect">
            <a:avLst>
              <a:gd name="adj" fmla="val 6000"/>
            </a:avLst>
          </a:prstGeom>
          <a:solidFill>
            <a:srgbClr val="F2F5FA"/>
          </a:solidFill>
          <a:ln>
            <a:noFill/>
          </a:ln>
        </p:spPr>
        <p:txBody>
          <a:bodyPr rtlCol="0" anchor="ctr"/>
          <a:lstStyle/>
          <a:p/>
        </p:txBody>
      </p:sp>
      <p:sp>
        <p:nvSpPr>
          <p:cNvPr id="40" name="TextBox 39"/>
          <p:cNvSpPr txBox="1"/>
          <p:nvPr/>
        </p:nvSpPr>
        <p:spPr>
          <a:xfrm>
            <a:off x="8782812" y="5925312"/>
            <a:ext cx="2994660" cy="274320"/>
          </a:xfrm>
          <a:prstGeom prst="rect">
            <a:avLst/>
          </a:prstGeom>
          <a:noFill/>
        </p:spPr>
        <p:txBody>
          <a:bodyPr wrap="square" anchor="t" lIns="0" rIns="0" tIns="0" bIns="0">
            <a:spAutoFit/>
          </a:bodyPr>
          <a:lstStyle/>
          <a:p>
            <a:pPr algn="l">
              <a:lnSpc>
                <a:spcPct val="112000"/>
              </a:lnSpc>
            </a:pPr>
            <a:r>
              <a:rPr sz="1250" b="1" i="0">
                <a:solidFill>
                  <a:srgbClr val="0B2A6B"/>
                </a:solidFill>
                <a:latin typeface="Pretendard"/>
                <a:ea typeface="Pretendard"/>
                <a:cs typeface="Pretendard"/>
              </a:rPr>
              <a:t>소견서·검색 LLM(로컬 우선)</a:t>
            </a:r>
          </a:p>
        </p:txBody>
      </p:sp>
      <p:sp>
        <p:nvSpPr>
          <p:cNvPr id="41" name="TextBox 40"/>
          <p:cNvSpPr txBox="1"/>
          <p:nvPr/>
        </p:nvSpPr>
        <p:spPr>
          <a:xfrm>
            <a:off x="8782812" y="6208776"/>
            <a:ext cx="2994660" cy="1024128"/>
          </a:xfrm>
          <a:prstGeom prst="rect">
            <a:avLst/>
          </a:prstGeom>
          <a:noFill/>
        </p:spPr>
        <p:txBody>
          <a:bodyPr wrap="square" anchor="t" lIns="0" rIns="0" tIns="0" bIns="0">
            <a:spAutoFit/>
          </a:bodyPr>
          <a:lstStyle/>
          <a:p>
            <a:pPr algn="l">
              <a:lnSpc>
                <a:spcPct val="108000"/>
              </a:lnSpc>
            </a:pPr>
            <a:r>
              <a:rPr sz="1000" b="0" i="0">
                <a:solidFill>
                  <a:srgbClr val="1F2A44"/>
                </a:solidFill>
                <a:latin typeface="Pretendard"/>
                <a:ea typeface="Pretendard"/>
                <a:cs typeface="Pretendard"/>
              </a:rPr>
              <a:t>기본은 </a:t>
            </a:r>
            <a:r>
              <a:rPr sz="1000" b="1" i="0">
                <a:solidFill>
                  <a:srgbClr val="1F2A44"/>
                </a:solidFill>
                <a:latin typeface="Pretendard"/>
                <a:ea typeface="Pretendard"/>
                <a:cs typeface="Pretendard"/>
              </a:rPr>
              <a:t>온프레미스 로컬 LLM</a:t>
            </a:r>
            <a:r>
              <a:rPr sz="1000" b="0" i="0">
                <a:solidFill>
                  <a:srgbClr val="1F2A44"/>
                </a:solidFill>
                <a:latin typeface="Pretendard"/>
                <a:ea typeface="Pretendard"/>
                <a:cs typeface="Pretendard"/>
              </a:rPr>
              <a:t>(Ollama·vLLM OpenAI 호환 API — EXAONE 3.5(코드 기본값)·4.x, HyperCLOVA X SEED 등 한국어 모델) 또는 오프라인 템플릿. 클라우드(Claude Sonnet 5 → Gemini, 코드 기본값 gemini-2.0-flash는 본선 전 최신 모델로 교체)는 명시 허용 시에만 호출. 이미지·실명·파일 경로는 어떤 경우에도 미전송(전송 내용 미리보기 제공)</a:t>
            </a:r>
          </a:p>
        </p:txBody>
      </p:sp>
      <p:sp>
        <p:nvSpPr>
          <p:cNvPr id="42" name="Rounded Rectangle 41"/>
          <p:cNvSpPr/>
          <p:nvPr/>
        </p:nvSpPr>
        <p:spPr>
          <a:xfrm>
            <a:off x="5120640" y="7452360"/>
            <a:ext cx="3305556" cy="1170432"/>
          </a:xfrm>
          <a:prstGeom prst="roundRect">
            <a:avLst>
              <a:gd name="adj" fmla="val 6000"/>
            </a:avLst>
          </a:prstGeom>
          <a:solidFill>
            <a:srgbClr val="F2F5FA"/>
          </a:solidFill>
          <a:ln>
            <a:noFill/>
          </a:ln>
        </p:spPr>
        <p:txBody>
          <a:bodyPr rtlCol="0" anchor="ctr"/>
          <a:lstStyle/>
          <a:p/>
        </p:txBody>
      </p:sp>
      <p:sp>
        <p:nvSpPr>
          <p:cNvPr id="43" name="TextBox 42"/>
          <p:cNvSpPr txBox="1"/>
          <p:nvPr/>
        </p:nvSpPr>
        <p:spPr>
          <a:xfrm>
            <a:off x="5276088" y="7552944"/>
            <a:ext cx="2994660" cy="274320"/>
          </a:xfrm>
          <a:prstGeom prst="rect">
            <a:avLst/>
          </a:prstGeom>
          <a:noFill/>
        </p:spPr>
        <p:txBody>
          <a:bodyPr wrap="square" anchor="t" lIns="0" rIns="0" tIns="0" bIns="0">
            <a:spAutoFit/>
          </a:bodyPr>
          <a:lstStyle/>
          <a:p>
            <a:pPr algn="l">
              <a:lnSpc>
                <a:spcPct val="112000"/>
              </a:lnSpc>
            </a:pPr>
            <a:r>
              <a:rPr sz="1250" b="1" i="0">
                <a:solidFill>
                  <a:srgbClr val="0B2A6B"/>
                </a:solidFill>
                <a:latin typeface="Pretendard"/>
                <a:ea typeface="Pretendard"/>
                <a:cs typeface="Pretendard"/>
              </a:rPr>
              <a:t>합부 판정(의도적으로 AI 미사용)</a:t>
            </a:r>
          </a:p>
        </p:txBody>
      </p:sp>
      <p:sp>
        <p:nvSpPr>
          <p:cNvPr id="44" name="TextBox 43"/>
          <p:cNvSpPr txBox="1"/>
          <p:nvPr/>
        </p:nvSpPr>
        <p:spPr>
          <a:xfrm>
            <a:off x="5276088" y="7836408"/>
            <a:ext cx="2994660" cy="713232"/>
          </a:xfrm>
          <a:prstGeom prst="rect">
            <a:avLst/>
          </a:prstGeom>
          <a:noFill/>
        </p:spPr>
        <p:txBody>
          <a:bodyPr wrap="square" anchor="t" lIns="0" rIns="0" tIns="0" bIns="0">
            <a:spAutoFit/>
          </a:bodyPr>
          <a:lstStyle/>
          <a:p>
            <a:pPr algn="l">
              <a:lnSpc>
                <a:spcPct val="108000"/>
              </a:lnSpc>
            </a:pPr>
            <a:r>
              <a:rPr sz="1000" b="0" i="0">
                <a:solidFill>
                  <a:srgbClr val="1F2A44"/>
                </a:solidFill>
                <a:latin typeface="Pretendard"/>
                <a:ea typeface="Pretendard"/>
                <a:cs typeface="Pretendard"/>
              </a:rPr>
              <a:t>결정론적 룰 엔진 — ISO 10675-1/5817 구조(등급 B·C·D ↔ 허용 레벨 1·2·3, 100mm 평가 길이, 기공 면적률)를 모사한 기준표 JSON. 판본(2021/2023·2016/2014)별 JSON 분리는 본선 목표, 수치는 선급 지침·멘토링 확정 후 교체</a:t>
            </a:r>
          </a:p>
        </p:txBody>
      </p:sp>
      <p:sp>
        <p:nvSpPr>
          <p:cNvPr id="45" name="Rounded Rectangle 44"/>
          <p:cNvSpPr/>
          <p:nvPr/>
        </p:nvSpPr>
        <p:spPr>
          <a:xfrm>
            <a:off x="8627364" y="7452360"/>
            <a:ext cx="3305556" cy="1170432"/>
          </a:xfrm>
          <a:prstGeom prst="roundRect">
            <a:avLst>
              <a:gd name="adj" fmla="val 6000"/>
            </a:avLst>
          </a:prstGeom>
          <a:solidFill>
            <a:srgbClr val="F2F5FA"/>
          </a:solidFill>
          <a:ln>
            <a:noFill/>
          </a:ln>
        </p:spPr>
        <p:txBody>
          <a:bodyPr rtlCol="0" anchor="ctr"/>
          <a:lstStyle/>
          <a:p/>
        </p:txBody>
      </p:sp>
      <p:sp>
        <p:nvSpPr>
          <p:cNvPr id="46" name="TextBox 45"/>
          <p:cNvSpPr txBox="1"/>
          <p:nvPr/>
        </p:nvSpPr>
        <p:spPr>
          <a:xfrm>
            <a:off x="8782812" y="7552944"/>
            <a:ext cx="2994660" cy="274320"/>
          </a:xfrm>
          <a:prstGeom prst="rect">
            <a:avLst/>
          </a:prstGeom>
          <a:noFill/>
        </p:spPr>
        <p:txBody>
          <a:bodyPr wrap="square" anchor="t" lIns="0" rIns="0" tIns="0" bIns="0">
            <a:spAutoFit/>
          </a:bodyPr>
          <a:lstStyle/>
          <a:p>
            <a:pPr algn="l">
              <a:lnSpc>
                <a:spcPct val="112000"/>
              </a:lnSpc>
            </a:pPr>
            <a:r>
              <a:rPr sz="1250" b="1" i="0">
                <a:solidFill>
                  <a:srgbClr val="0B2A6B"/>
                </a:solidFill>
                <a:latin typeface="Pretendard"/>
                <a:ea typeface="Pretendard"/>
                <a:cs typeface="Pretendard"/>
              </a:rPr>
              <a:t>개발 도구</a:t>
            </a:r>
          </a:p>
        </p:txBody>
      </p:sp>
      <p:sp>
        <p:nvSpPr>
          <p:cNvPr id="47" name="TextBox 46"/>
          <p:cNvSpPr txBox="1"/>
          <p:nvPr/>
        </p:nvSpPr>
        <p:spPr>
          <a:xfrm>
            <a:off x="8782812" y="7836408"/>
            <a:ext cx="2994660" cy="713232"/>
          </a:xfrm>
          <a:prstGeom prst="rect">
            <a:avLst/>
          </a:prstGeom>
          <a:noFill/>
        </p:spPr>
        <p:txBody>
          <a:bodyPr wrap="square" anchor="t" lIns="0" rIns="0" tIns="0" bIns="0">
            <a:spAutoFit/>
          </a:bodyPr>
          <a:lstStyle/>
          <a:p>
            <a:pPr algn="l">
              <a:lnSpc>
                <a:spcPct val="108000"/>
              </a:lnSpc>
            </a:pPr>
            <a:r>
              <a:rPr sz="1000" b="1" i="0">
                <a:solidFill>
                  <a:srgbClr val="1F2A44"/>
                </a:solidFill>
                <a:latin typeface="Pretendard"/>
                <a:ea typeface="Pretendard"/>
                <a:cs typeface="Pretendard"/>
              </a:rPr>
              <a:t>Claude Code</a:t>
            </a:r>
            <a:r>
              <a:rPr sz="1000" b="0" i="0">
                <a:solidFill>
                  <a:srgbClr val="1F2A44"/>
                </a:solidFill>
                <a:latin typeface="Pretendard"/>
                <a:ea typeface="Pretendard"/>
                <a:cs typeface="Pretendard"/>
              </a:rPr>
              <a:t>로 설계·구현·적대적 코드 리뷰(자동 테스트 195건). 본선에서는 해커톤 지원 항목인 Claude Max 플랜(공고 기준)으로 고도화</a:t>
            </a:r>
          </a:p>
        </p:txBody>
      </p:sp>
      <p:sp>
        <p:nvSpPr>
          <p:cNvPr id="48" name="Rounded Rectangle 47"/>
          <p:cNvSpPr/>
          <p:nvPr/>
        </p:nvSpPr>
        <p:spPr>
          <a:xfrm>
            <a:off x="5120640" y="8769096"/>
            <a:ext cx="6812280" cy="420624"/>
          </a:xfrm>
          <a:prstGeom prst="roundRect">
            <a:avLst>
              <a:gd name="adj" fmla="val 6000"/>
            </a:avLst>
          </a:prstGeom>
          <a:solidFill>
            <a:srgbClr val="F2F5FA"/>
          </a:solidFill>
          <a:ln>
            <a:noFill/>
          </a:ln>
        </p:spPr>
        <p:txBody>
          <a:bodyPr rtlCol="0" anchor="ctr"/>
          <a:lstStyle/>
          <a:p/>
        </p:txBody>
      </p:sp>
      <p:sp>
        <p:nvSpPr>
          <p:cNvPr id="49" name="TextBox 48"/>
          <p:cNvSpPr txBox="1"/>
          <p:nvPr/>
        </p:nvSpPr>
        <p:spPr>
          <a:xfrm>
            <a:off x="5276088" y="8860536"/>
            <a:ext cx="6501384" cy="283464"/>
          </a:xfrm>
          <a:prstGeom prst="rect">
            <a:avLst/>
          </a:prstGeom>
          <a:noFill/>
        </p:spPr>
        <p:txBody>
          <a:bodyPr wrap="square" anchor="ctr" lIns="0" rIns="0" tIns="0" bIns="0">
            <a:spAutoFit/>
          </a:bodyPr>
          <a:lstStyle/>
          <a:p>
            <a:pPr algn="l">
              <a:lnSpc>
                <a:spcPct val="112000"/>
              </a:lnSpc>
            </a:pPr>
            <a:r>
              <a:rPr sz="1050" b="1" i="0">
                <a:solidFill>
                  <a:srgbClr val="1F2A44"/>
                </a:solidFill>
                <a:latin typeface="Pretendard"/>
                <a:ea typeface="Pretendard"/>
                <a:cs typeface="Pretendard"/>
              </a:rPr>
              <a:t>기술 스택</a:t>
            </a:r>
            <a:r>
              <a:rPr sz="1050" b="0" i="0">
                <a:solidFill>
                  <a:srgbClr val="1F2A44"/>
                </a:solidFill>
                <a:latin typeface="Pretendard"/>
                <a:ea typeface="Pretendard"/>
                <a:cs typeface="Pretendard"/>
              </a:rPr>
              <a:t>  Python 3.11 · Streamlit 1.63 · OpenCV · SQLite · reportlab(PDF) · 합성 필름 생성기 · Docker · 더블클릭 실행</a:t>
            </a:r>
          </a:p>
        </p:txBody>
      </p:sp>
      <p:sp>
        <p:nvSpPr>
          <p:cNvPr id="50" name="Rounded Rectangle 49"/>
          <p:cNvSpPr/>
          <p:nvPr/>
        </p:nvSpPr>
        <p:spPr>
          <a:xfrm>
            <a:off x="12527280" y="5074920"/>
            <a:ext cx="5148071" cy="4178807"/>
          </a:xfrm>
          <a:prstGeom prst="roundRect">
            <a:avLst>
              <a:gd name="adj" fmla="val 3500"/>
            </a:avLst>
          </a:prstGeom>
          <a:solidFill>
            <a:srgbClr val="FFFFFF"/>
          </a:solidFill>
          <a:ln w="9525">
            <a:solidFill>
              <a:srgbClr val="D9E0EC"/>
            </a:solidFill>
          </a:ln>
        </p:spPr>
        <p:txBody>
          <a:bodyPr rtlCol="0" anchor="ctr"/>
          <a:lstStyle/>
          <a:p/>
        </p:txBody>
      </p:sp>
      <p:sp>
        <p:nvSpPr>
          <p:cNvPr id="51" name="Oval 50"/>
          <p:cNvSpPr/>
          <p:nvPr/>
        </p:nvSpPr>
        <p:spPr>
          <a:xfrm>
            <a:off x="12847320" y="5431536"/>
            <a:ext cx="146304" cy="146304"/>
          </a:xfrm>
          <a:prstGeom prst="ellipse">
            <a:avLst/>
          </a:prstGeom>
          <a:solidFill>
            <a:srgbClr val="4FD0F5"/>
          </a:solidFill>
          <a:ln>
            <a:noFill/>
          </a:ln>
        </p:spPr>
        <p:txBody>
          <a:bodyPr rtlCol="0" anchor="ctr"/>
          <a:lstStyle/>
          <a:p>
            <a:pPr algn="ctr"/>
          </a:p>
        </p:txBody>
      </p:sp>
      <p:sp>
        <p:nvSpPr>
          <p:cNvPr id="52" name="TextBox 51"/>
          <p:cNvSpPr txBox="1"/>
          <p:nvPr/>
        </p:nvSpPr>
        <p:spPr>
          <a:xfrm>
            <a:off x="13094208" y="5330952"/>
            <a:ext cx="4261103" cy="384048"/>
          </a:xfrm>
          <a:prstGeom prst="rect">
            <a:avLst/>
          </a:prstGeom>
          <a:noFill/>
        </p:spPr>
        <p:txBody>
          <a:bodyPr wrap="square" anchor="t" lIns="0" rIns="0" tIns="0" bIns="0">
            <a:spAutoFit/>
          </a:bodyPr>
          <a:lstStyle/>
          <a:p>
            <a:pPr algn="l">
              <a:lnSpc>
                <a:spcPct val="112000"/>
              </a:lnSpc>
            </a:pPr>
            <a:r>
              <a:rPr sz="2000" b="1" i="0">
                <a:solidFill>
                  <a:srgbClr val="0B2A6B"/>
                </a:solidFill>
                <a:latin typeface="Pretendard"/>
                <a:ea typeface="Pretendard"/>
                <a:cs typeface="Pretendard"/>
              </a:rPr>
              <a:t>차별점</a:t>
            </a:r>
          </a:p>
        </p:txBody>
      </p:sp>
      <p:sp>
        <p:nvSpPr>
          <p:cNvPr id="53" name="TextBox 52"/>
          <p:cNvSpPr txBox="1"/>
          <p:nvPr/>
        </p:nvSpPr>
        <p:spPr>
          <a:xfrm>
            <a:off x="12847320" y="5824728"/>
            <a:ext cx="4507991" cy="3264407"/>
          </a:xfrm>
          <a:prstGeom prst="rect">
            <a:avLst/>
          </a:prstGeom>
          <a:noFill/>
        </p:spPr>
        <p:txBody>
          <a:bodyPr wrap="square" anchor="t" lIns="0" rIns="0" tIns="0" bIns="0">
            <a:spAutoFit/>
          </a:bodyPr>
          <a:lstStyle/>
          <a:p>
            <a:pPr marL="153352" indent="-153352">
              <a:lnSpc>
                <a:spcPct val="114000"/>
              </a:lnSpc>
              <a:spcAft>
                <a:spcPts val="400"/>
              </a:spcAft>
              <a:buClr>
                <a:srgbClr val="4FD0F5"/>
              </a:buClr>
              <a:buFont typeface="Arial"/>
              <a:buChar char="•"/>
            </a:pPr>
            <a:r>
              <a:rPr sz="1050" b="1" i="0">
                <a:solidFill>
                  <a:srgbClr val="1F2A44"/>
                </a:solidFill>
                <a:latin typeface="Pretendard"/>
                <a:ea typeface="Pretendard"/>
                <a:cs typeface="Pretendard"/>
              </a:rPr>
              <a:t>탐지 단독은 이미 연구·상용화가 진행된 영역</a:t>
            </a:r>
            <a:r>
              <a:rPr sz="1050" b="0" i="0">
                <a:solidFill>
                  <a:srgbClr val="1F2A44"/>
                </a:solidFill>
                <a:latin typeface="Pretendard"/>
                <a:ea typeface="Pretendard"/>
                <a:cs typeface="Pretendard"/>
              </a:rPr>
              <a:t> — D-Vision(자사 적용), 코드비전 RT AI 판독 웹 플랫폼(2024.10 전시), Trueflaw FlawML(핀란드, RT용 AI 어시스턴트 — Meyer Turku 조선소·DEKRA와 ADR 학습 데이터 협업 2022.02), DNV×GSI 공동개발(2019) 등(공개 정보 기준) → 신규성은 판독원 워크플로우 전체의 </a:t>
            </a:r>
            <a:r>
              <a:rPr sz="1050" b="1" i="0">
                <a:solidFill>
                  <a:srgbClr val="1F2A44"/>
                </a:solidFill>
                <a:latin typeface="Pretendard"/>
                <a:ea typeface="Pretendard"/>
                <a:cs typeface="Pretendard"/>
              </a:rPr>
              <a:t>통합</a:t>
            </a:r>
          </a:p>
          <a:p>
            <a:pPr marL="153352" indent="-153352">
              <a:lnSpc>
                <a:spcPct val="114000"/>
              </a:lnSpc>
              <a:spcAft>
                <a:spcPts val="400"/>
              </a:spcAft>
              <a:buClr>
                <a:srgbClr val="4FD0F5"/>
              </a:buClr>
              <a:buFont typeface="Arial"/>
              <a:buChar char="•"/>
            </a:pPr>
            <a:r>
              <a:rPr sz="1050" b="1" i="0">
                <a:solidFill>
                  <a:srgbClr val="1F2A44"/>
                </a:solidFill>
                <a:latin typeface="Pretendard"/>
                <a:ea typeface="Pretendard"/>
                <a:cs typeface="Pretendard"/>
              </a:rPr>
              <a:t>한화오션 디지털 RT(2020~2021)와의 관계</a:t>
            </a:r>
            <a:r>
              <a:rPr sz="1050" b="0" i="0">
                <a:solidFill>
                  <a:srgbClr val="1F2A44"/>
                </a:solidFill>
                <a:latin typeface="Pretendard"/>
                <a:ea typeface="Pretendard"/>
                <a:cs typeface="Pretendard"/>
              </a:rPr>
              <a:t>: 촬영 장비·선급 승인 체계의 디지털화. 본 안은 그 다음 단계(판독·판정·문서·이력)를 다루며 </a:t>
            </a:r>
            <a:r>
              <a:rPr sz="1050" b="1" i="0">
                <a:solidFill>
                  <a:srgbClr val="1F2A44"/>
                </a:solidFill>
                <a:latin typeface="Pretendard"/>
                <a:ea typeface="Pretendard"/>
                <a:cs typeface="Pretendard"/>
              </a:rPr>
              <a:t>스캔 필름과 디지털 RT 이미지 모두 입력</a:t>
            </a:r>
            <a:r>
              <a:rPr sz="1050" b="0" i="0">
                <a:solidFill>
                  <a:srgbClr val="1F2A44"/>
                </a:solidFill>
                <a:latin typeface="Pretendard"/>
                <a:ea typeface="Pretendard"/>
                <a:cs typeface="Pretendard"/>
              </a:rPr>
              <a:t> — 대체가 아닌 보완</a:t>
            </a:r>
          </a:p>
          <a:p>
            <a:pPr marL="153352" indent="-153352">
              <a:lnSpc>
                <a:spcPct val="114000"/>
              </a:lnSpc>
              <a:spcAft>
                <a:spcPts val="400"/>
              </a:spcAft>
              <a:buClr>
                <a:srgbClr val="4FD0F5"/>
              </a:buClr>
              <a:buFont typeface="Arial"/>
              <a:buChar char="•"/>
            </a:pPr>
            <a:r>
              <a:rPr sz="1050" b="1" i="0">
                <a:solidFill>
                  <a:srgbClr val="1F2A44"/>
                </a:solidFill>
                <a:latin typeface="Pretendard"/>
                <a:ea typeface="Pretendard"/>
                <a:cs typeface="Pretendard"/>
              </a:rPr>
              <a:t>AI는 판정하지 않는다</a:t>
            </a:r>
            <a:r>
              <a:rPr sz="1050" b="0" i="0">
                <a:solidFill>
                  <a:srgbClr val="1F2A44"/>
                </a:solidFill>
                <a:latin typeface="Pretendard"/>
                <a:ea typeface="Pretendard"/>
                <a:cs typeface="Pretendard"/>
              </a:rPr>
              <a:t> — DNV도 2019 GSI 프로젝트에서 ‘AI는 검출, 사람은 최종 승인’으로 역할을 한정했고, AI 판독 자체를 선급이 규칙·가이드로 승인한 공개 사례는 2026.09 검색 기준 확인되지 않음. 본 안은 판정을 룰 엔진(조항 ID 자동 기재)에, 작문·검색을 LLM에 분리 → </a:t>
            </a:r>
            <a:r>
              <a:rPr sz="1050" b="1" i="0">
                <a:solidFill>
                  <a:srgbClr val="1F2A44"/>
                </a:solidFill>
                <a:latin typeface="Pretendard"/>
                <a:ea typeface="Pretendard"/>
                <a:cs typeface="Pretendard"/>
              </a:rPr>
              <a:t>선급 승인이 필요 없는 판독 보조·문서화 영역에서 즉시 도입 가능</a:t>
            </a:r>
          </a:p>
          <a:p>
            <a:pPr marL="153352" indent="-153352">
              <a:lnSpc>
                <a:spcPct val="114000"/>
              </a:lnSpc>
              <a:spcAft>
                <a:spcPts val="400"/>
              </a:spcAft>
              <a:buClr>
                <a:srgbClr val="4FD0F5"/>
              </a:buClr>
              <a:buFont typeface="Arial"/>
              <a:buChar char="•"/>
            </a:pPr>
            <a:r>
              <a:rPr sz="1050" b="0" i="0">
                <a:solidFill>
                  <a:srgbClr val="1F2A44"/>
                </a:solidFill>
                <a:latin typeface="Pretendard"/>
                <a:ea typeface="Pretendard"/>
                <a:cs typeface="Pretendard"/>
              </a:rPr>
              <a:t>픽셀→mm 스케일은 </a:t>
            </a:r>
            <a:r>
              <a:rPr sz="1050" b="1" i="0">
                <a:solidFill>
                  <a:srgbClr val="1F2A44"/>
                </a:solidFill>
                <a:latin typeface="Pretendard"/>
                <a:ea typeface="Pretendard"/>
                <a:cs typeface="Pretendard"/>
              </a:rPr>
              <a:t>판독원의 2클릭</a:t>
            </a:r>
            <a:r>
              <a:rPr sz="1050" b="0" i="0">
                <a:solidFill>
                  <a:srgbClr val="1F2A44"/>
                </a:solidFill>
                <a:latin typeface="Pretendard"/>
                <a:ea typeface="Pretendard"/>
                <a:cs typeface="Pretendard"/>
              </a:rPr>
              <a:t>(IQI·납마커)으로 확정 — AI 추정 스케일 없음</a:t>
            </a:r>
          </a:p>
          <a:p>
            <a:pPr marL="153352" indent="-153352">
              <a:lnSpc>
                <a:spcPct val="114000"/>
              </a:lnSpc>
              <a:spcAft>
                <a:spcPts val="400"/>
              </a:spcAft>
              <a:buClr>
                <a:srgbClr val="4FD0F5"/>
              </a:buClr>
              <a:buFont typeface="Arial"/>
              <a:buChar char="•"/>
            </a:pPr>
            <a:r>
              <a:rPr sz="1050" b="1" i="0">
                <a:solidFill>
                  <a:srgbClr val="1F2A44"/>
                </a:solidFill>
                <a:latin typeface="Pretendard"/>
                <a:ea typeface="Pretendard"/>
                <a:cs typeface="Pretendard"/>
              </a:rPr>
              <a:t>보안 기본값이 로컬</a:t>
            </a:r>
            <a:r>
              <a:rPr sz="1050" b="0" i="0">
                <a:solidFill>
                  <a:srgbClr val="1F2A44"/>
                </a:solidFill>
                <a:latin typeface="Pretendard"/>
                <a:ea typeface="Pretendard"/>
                <a:cs typeface="Pretendard"/>
              </a:rPr>
              <a:t> — 조선·방산 현장의 반출 금지를 전제로 로컬 LLM/템플릿이 기본, 클라우드는 옵트인. 국산 모델 선택지: EXAONE 4.5(2026.04, 상용은 별도 계약), HyperCLOVA X SEED Think 32B(2025.12, 자체 라이선스로 조건부 상용 허용 — 원문 확인 필요)</a:t>
            </a:r>
          </a:p>
        </p:txBody>
      </p:sp>
      <p:sp>
        <p:nvSpPr>
          <p:cNvPr id="54" name="TextBox 53"/>
          <p:cNvSpPr txBox="1"/>
          <p:nvPr/>
        </p:nvSpPr>
        <p:spPr>
          <a:xfrm>
            <a:off x="4800600" y="9299448"/>
            <a:ext cx="12874752" cy="502920"/>
          </a:xfrm>
          <a:prstGeom prst="rect">
            <a:avLst/>
          </a:prstGeom>
          <a:noFill/>
        </p:spPr>
        <p:txBody>
          <a:bodyPr wrap="square" anchor="t" lIns="0" rIns="0" tIns="0" bIns="0">
            <a:spAutoFit/>
          </a:bodyPr>
          <a:lstStyle/>
          <a:p>
            <a:pPr algn="l">
              <a:lnSpc>
                <a:spcPct val="108000"/>
              </a:lnSpc>
            </a:pPr>
            <a:r>
              <a:rPr sz="850" b="0" i="0">
                <a:solidFill>
                  <a:srgbClr val="5B6B8C"/>
                </a:solidFill>
                <a:latin typeface="Pretendard"/>
                <a:ea typeface="Pretendard"/>
                <a:cs typeface="Pretendard"/>
              </a:rPr>
              <a:t>출처: Ultralytics 8.4.0 릴리스 노트·PyPI(2026.01.14, AGPL-3.0/Enterprise) · Streamlit 1.63.0 PyPI(2026.09.01) · Anthropic 모델·구조화 출력 문서 · Ollama/vLLM OpenAI 호환 API 문서 · LG AI연구원 EXAONE 4.5 README(2026.04.09) · NAVER HyperCLOVA X SEED Think 보도자료(2025.12.26, 검색 요약 기준) · 헬로티 2024.10(코드비전, 검색 요약 기준) · Trueflaw(LinkedIn 2022.02, Pexraytech 협업 2024.12, 검색 요약 기준) · DNV GL×GSI JDP 보도자료(2019.12, 검색 요약 기준) · 해커톤 공고(Max 플랜 지원) · 탐지 수치는 합성 필름 자체 측정</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5FA"/>
        </a:solidFill>
        <a:effectLst/>
      </p:bgPr>
    </p:bg>
    <p:spTree>
      <p:nvGrpSpPr>
        <p:cNvPr id="1" name=""/>
        <p:cNvGrpSpPr/>
        <p:nvPr/>
      </p:nvGrpSpPr>
      <p:grpSpPr>
        <a:xfrm>
          <a:off x="0" y="0"/>
          <a:ext cx="0" cy="0"/>
          <a:chOff x="0" y="0"/>
          <a:chExt cx="0" cy="0"/>
        </a:xfrm>
      </p:grpSpPr>
      <p:sp>
        <p:nvSpPr>
          <p:cNvPr id="2" name="Shape 0"/>
          <p:cNvSpPr/>
          <p:nvPr/>
        </p:nvSpPr>
        <p:spPr>
          <a:xfrm>
            <a:off x="0" y="0"/>
            <a:ext cx="4191000" cy="10287000"/>
          </a:xfrm>
          <a:prstGeom prst="rect">
            <a:avLst/>
          </a:prstGeom>
          <a:solidFill>
            <a:srgbClr val="0B2A6B"/>
          </a:solidFill>
          <a:ln/>
        </p:spPr>
        <p:txBody>
          <a:bodyPr/>
          <a:lstStyle/>
          <a:p>
            <a:endParaRPr lang="ko-KR" altLang="en-US"/>
          </a:p>
        </p:txBody>
      </p:sp>
      <p:sp>
        <p:nvSpPr>
          <p:cNvPr id="3" name="Text 1"/>
          <p:cNvSpPr/>
          <p:nvPr/>
        </p:nvSpPr>
        <p:spPr>
          <a:xfrm>
            <a:off x="571500" y="685800"/>
            <a:ext cx="911126" cy="603796"/>
          </a:xfrm>
          <a:prstGeom prst="rect">
            <a:avLst/>
          </a:prstGeom>
          <a:noFill/>
          <a:ln/>
        </p:spPr>
        <p:txBody>
          <a:bodyPr wrap="square" lIns="25400" tIns="25400" rIns="25400" bIns="25400" rtlCol="0" anchor="t">
            <a:normAutofit/>
          </a:bodyPr>
          <a:lstStyle/>
          <a:p>
            <a:pPr marL="0" indent="0" algn="l">
              <a:lnSpc>
                <a:spcPct val="77143"/>
              </a:lnSpc>
              <a:buNone/>
            </a:pPr>
            <a:r>
              <a:rPr lang="en-US" sz="4950" b="1" dirty="0">
                <a:solidFill>
                  <a:srgbClr val="4FD0F5"/>
                </a:solidFill>
                <a:latin typeface="Pretendard" pitchFamily="34" charset="0"/>
                <a:ea typeface="Pretendard" pitchFamily="34" charset="-122"/>
                <a:cs typeface="Pretendard" pitchFamily="34" charset="-120"/>
              </a:rPr>
              <a:t>03</a:t>
            </a:r>
            <a:endParaRPr lang="en-US" sz="4950" dirty="0"/>
          </a:p>
        </p:txBody>
      </p:sp>
      <p:sp>
        <p:nvSpPr>
          <p:cNvPr id="4" name="Shape 2"/>
          <p:cNvSpPr/>
          <p:nvPr/>
        </p:nvSpPr>
        <p:spPr>
          <a:xfrm>
            <a:off x="1635026" y="1028700"/>
            <a:ext cx="533400" cy="28575"/>
          </a:xfrm>
          <a:prstGeom prst="rect">
            <a:avLst/>
          </a:prstGeom>
          <a:solidFill>
            <a:srgbClr val="7FDCFF">
              <a:alpha val="50000"/>
            </a:srgbClr>
          </a:solidFill>
          <a:ln/>
        </p:spPr>
        <p:txBody>
          <a:bodyPr/>
          <a:lstStyle/>
          <a:p>
            <a:endParaRPr lang="ko-KR" altLang="en-US"/>
          </a:p>
        </p:txBody>
      </p:sp>
      <p:sp>
        <p:nvSpPr>
          <p:cNvPr id="5" name="Text 3"/>
          <p:cNvSpPr/>
          <p:nvPr/>
        </p:nvSpPr>
        <p:spPr>
          <a:xfrm>
            <a:off x="571500" y="1556296"/>
            <a:ext cx="3520440" cy="563761"/>
          </a:xfrm>
          <a:prstGeom prst="rect">
            <a:avLst/>
          </a:prstGeom>
          <a:noFill/>
          <a:ln/>
        </p:spPr>
        <p:txBody>
          <a:bodyPr wrap="square" lIns="25400" tIns="25400" rIns="25400" bIns="25400" rtlCol="0" anchor="t">
            <a:normAutofit/>
          </a:bodyPr>
          <a:lstStyle/>
          <a:p>
            <a:pPr marL="0" indent="0" algn="l">
              <a:lnSpc>
                <a:spcPct val="102222"/>
              </a:lnSpc>
              <a:buNone/>
            </a:pPr>
            <a:r>
              <a:rPr lang="en-US" sz="3450" b="1" kern="0" spc="-69" dirty="0">
                <a:solidFill>
                  <a:srgbClr val="FFFFFF"/>
                </a:solidFill>
                <a:latin typeface="Pretendard" pitchFamily="34" charset="0"/>
                <a:ea typeface="Pretendard" pitchFamily="34" charset="-122"/>
                <a:cs typeface="Pretendard" pitchFamily="34" charset="-120"/>
              </a:rPr>
              <a:t>구현 계획</a:t>
            </a:r>
            <a:endParaRPr lang="en-US" sz="3450" dirty="0"/>
          </a:p>
        </p:txBody>
      </p:sp>
      <p:sp>
        <p:nvSpPr>
          <p:cNvPr id="6" name="Shape 4"/>
          <p:cNvSpPr/>
          <p:nvPr/>
        </p:nvSpPr>
        <p:spPr>
          <a:xfrm>
            <a:off x="571500" y="2386757"/>
            <a:ext cx="3200400" cy="19050"/>
          </a:xfrm>
          <a:prstGeom prst="rect">
            <a:avLst/>
          </a:prstGeom>
          <a:solidFill>
            <a:srgbClr val="7FDCFF">
              <a:alpha val="35000"/>
            </a:srgbClr>
          </a:solidFill>
          <a:ln/>
        </p:spPr>
        <p:txBody>
          <a:bodyPr/>
          <a:lstStyle/>
          <a:p>
            <a:endParaRPr lang="ko-KR" altLang="en-US"/>
          </a:p>
        </p:txBody>
      </p:sp>
      <p:sp>
        <p:nvSpPr>
          <p:cNvPr id="7" name="Text 5"/>
          <p:cNvSpPr/>
          <p:nvPr/>
        </p:nvSpPr>
        <p:spPr>
          <a:xfrm>
            <a:off x="571500" y="2653457"/>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주요 기능(MVP)</a:t>
            </a:r>
            <a:endParaRPr lang="en-US" sz="2025" dirty="0"/>
          </a:p>
        </p:txBody>
      </p:sp>
      <p:sp>
        <p:nvSpPr>
          <p:cNvPr id="8" name="Text 6"/>
          <p:cNvSpPr/>
          <p:nvPr/>
        </p:nvSpPr>
        <p:spPr>
          <a:xfrm>
            <a:off x="571500" y="3024932"/>
            <a:ext cx="3296412" cy="723900"/>
          </a:xfrm>
          <a:prstGeom prst="rect">
            <a:avLst/>
          </a:prstGeom>
          <a:noFill/>
          <a:ln/>
        </p:spPr>
        <p:txBody>
          <a:bodyPr wrap="square" lIns="25400" tIns="25400" rIns="25400" bIns="25400" rtlCol="0" anchor="t">
            <a:normAutofit/>
          </a:bodyPr>
          <a:lstStyle/>
          <a:p>
            <a:pPr marL="0" indent="0" algn="l">
              <a:lnSpc>
                <a:spcPct val="124138"/>
              </a:lnSpc>
              <a:buNone/>
            </a:pPr>
            <a:r>
              <a:rPr lang="en-US" sz="1800" dirty="0">
                <a:solidFill>
                  <a:srgbClr val="FFFFFF">
                    <a:alpha val="72000"/>
                  </a:srgbClr>
                </a:solidFill>
                <a:latin typeface="Pretendard" pitchFamily="34" charset="0"/>
                <a:ea typeface="Pretendard" pitchFamily="34" charset="-122"/>
                <a:cs typeface="Pretendard" pitchFamily="34" charset="-120"/>
              </a:rPr>
              <a:t>본선까지 반드시 동작하도록 구현할 핵심 기능 중심으로 기재</a:t>
            </a:r>
            <a:endParaRPr lang="en-US" sz="1800" dirty="0"/>
          </a:p>
        </p:txBody>
      </p:sp>
      <p:sp>
        <p:nvSpPr>
          <p:cNvPr id="9" name="Text 7"/>
          <p:cNvSpPr/>
          <p:nvPr/>
        </p:nvSpPr>
        <p:spPr>
          <a:xfrm>
            <a:off x="571500" y="3920282"/>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개발 범위</a:t>
            </a:r>
            <a:endParaRPr lang="en-US" sz="2025" dirty="0"/>
          </a:p>
        </p:txBody>
      </p:sp>
      <p:sp>
        <p:nvSpPr>
          <p:cNvPr id="10" name="Text 8"/>
          <p:cNvSpPr/>
          <p:nvPr/>
        </p:nvSpPr>
        <p:spPr>
          <a:xfrm>
            <a:off x="571500" y="4291757"/>
            <a:ext cx="3296412" cy="723900"/>
          </a:xfrm>
          <a:prstGeom prst="rect">
            <a:avLst/>
          </a:prstGeom>
          <a:noFill/>
          <a:ln/>
        </p:spPr>
        <p:txBody>
          <a:bodyPr wrap="square" lIns="25400" tIns="25400" rIns="25400" bIns="25400" rtlCol="0" anchor="t">
            <a:normAutofit/>
          </a:bodyPr>
          <a:lstStyle/>
          <a:p>
            <a:pPr marL="0" indent="0" algn="l">
              <a:lnSpc>
                <a:spcPct val="124138"/>
              </a:lnSpc>
              <a:buNone/>
            </a:pPr>
            <a:r>
              <a:rPr lang="en-US" sz="1800" dirty="0">
                <a:solidFill>
                  <a:srgbClr val="FFFFFF">
                    <a:alpha val="72000"/>
                  </a:srgbClr>
                </a:solidFill>
                <a:latin typeface="Pretendard" pitchFamily="34" charset="0"/>
                <a:ea typeface="Pretendard" pitchFamily="34" charset="-122"/>
                <a:cs typeface="Pretendard" pitchFamily="34" charset="-120"/>
              </a:rPr>
              <a:t>본선까지 구현할 범위와 제외할 범위를 구분하여 기재</a:t>
            </a:r>
            <a:endParaRPr lang="en-US" sz="1800" dirty="0"/>
          </a:p>
        </p:txBody>
      </p:sp>
      <p:sp>
        <p:nvSpPr>
          <p:cNvPr id="11" name="Text 9"/>
          <p:cNvSpPr/>
          <p:nvPr/>
        </p:nvSpPr>
        <p:spPr>
          <a:xfrm>
            <a:off x="571500" y="5187107"/>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팀원별 역할 분담</a:t>
            </a:r>
            <a:endParaRPr lang="en-US" sz="2025" dirty="0"/>
          </a:p>
        </p:txBody>
      </p:sp>
      <p:sp>
        <p:nvSpPr>
          <p:cNvPr id="12" name="Text 10"/>
          <p:cNvSpPr/>
          <p:nvPr/>
        </p:nvSpPr>
        <p:spPr>
          <a:xfrm>
            <a:off x="571500" y="5558582"/>
            <a:ext cx="3296412" cy="723900"/>
          </a:xfrm>
          <a:prstGeom prst="rect">
            <a:avLst/>
          </a:prstGeom>
          <a:noFill/>
          <a:ln/>
        </p:spPr>
        <p:txBody>
          <a:bodyPr wrap="square" lIns="25400" tIns="25400" rIns="25400" bIns="25400" rtlCol="0" anchor="t">
            <a:normAutofit/>
          </a:bodyPr>
          <a:lstStyle/>
          <a:p>
            <a:pPr marL="0" indent="0" algn="l">
              <a:lnSpc>
                <a:spcPct val="124138"/>
              </a:lnSpc>
              <a:buNone/>
            </a:pPr>
            <a:r>
              <a:rPr lang="en-US" sz="1800" dirty="0">
                <a:solidFill>
                  <a:srgbClr val="FFFFFF">
                    <a:alpha val="72000"/>
                  </a:srgbClr>
                </a:solidFill>
                <a:latin typeface="Pretendard" pitchFamily="34" charset="0"/>
                <a:ea typeface="Pretendard" pitchFamily="34" charset="-122"/>
                <a:cs typeface="Pretendard" pitchFamily="34" charset="-120"/>
              </a:rPr>
              <a:t>기획 / 개발 / 데이터 / 디자인 등 담당 영역과 보유 기술 스택</a:t>
            </a:r>
            <a:endParaRPr lang="en-US" sz="1800" dirty="0"/>
          </a:p>
        </p:txBody>
      </p:sp>
      <p:sp>
        <p:nvSpPr>
          <p:cNvPr id="13" name="Text 11"/>
          <p:cNvSpPr/>
          <p:nvPr/>
        </p:nvSpPr>
        <p:spPr>
          <a:xfrm>
            <a:off x="571500" y="6453932"/>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시연 시나리오</a:t>
            </a:r>
            <a:endParaRPr lang="en-US" sz="2025" dirty="0"/>
          </a:p>
        </p:txBody>
      </p:sp>
      <p:sp>
        <p:nvSpPr>
          <p:cNvPr id="14" name="Text 12"/>
          <p:cNvSpPr/>
          <p:nvPr/>
        </p:nvSpPr>
        <p:spPr>
          <a:xfrm>
            <a:off x="571500" y="6825407"/>
            <a:ext cx="3296412" cy="723900"/>
          </a:xfrm>
          <a:prstGeom prst="rect">
            <a:avLst/>
          </a:prstGeom>
          <a:noFill/>
          <a:ln/>
        </p:spPr>
        <p:txBody>
          <a:bodyPr wrap="square" lIns="25400" tIns="25400" rIns="25400" bIns="25400" rtlCol="0" anchor="t">
            <a:normAutofit/>
          </a:bodyPr>
          <a:lstStyle/>
          <a:p>
            <a:pPr marL="0" indent="0" algn="l">
              <a:lnSpc>
                <a:spcPct val="124138"/>
              </a:lnSpc>
              <a:buNone/>
            </a:pPr>
            <a:r>
              <a:rPr lang="en-US" sz="1800" dirty="0">
                <a:solidFill>
                  <a:srgbClr val="FFFFFF">
                    <a:alpha val="72000"/>
                  </a:srgbClr>
                </a:solidFill>
                <a:latin typeface="Pretendard" pitchFamily="34" charset="0"/>
                <a:ea typeface="Pretendard" pitchFamily="34" charset="-122"/>
                <a:cs typeface="Pretendard" pitchFamily="34" charset="-120"/>
              </a:rPr>
              <a:t>본선 발표에서 실제로 시연할 동작 흐름</a:t>
            </a:r>
            <a:endParaRPr lang="en-US" sz="1800" dirty="0"/>
          </a:p>
        </p:txBody>
      </p:sp>
      <p:sp>
        <p:nvSpPr>
          <p:cNvPr id="15" name="Shape 13"/>
          <p:cNvSpPr/>
          <p:nvPr/>
        </p:nvSpPr>
        <p:spPr>
          <a:xfrm>
            <a:off x="4800600" y="1057275"/>
            <a:ext cx="12877800" cy="19050"/>
          </a:xfrm>
          <a:prstGeom prst="rect">
            <a:avLst/>
          </a:prstGeom>
          <a:solidFill>
            <a:srgbClr val="0B2A6B"/>
          </a:solidFill>
          <a:ln/>
        </p:spPr>
        <p:txBody>
          <a:bodyPr/>
          <a:lstStyle/>
          <a:p>
            <a:endParaRPr lang="ko-KR" altLang="en-US"/>
          </a:p>
        </p:txBody>
      </p:sp>
      <p:sp>
        <p:nvSpPr>
          <p:cNvPr id="16" name="Text 14"/>
          <p:cNvSpPr/>
          <p:nvPr/>
        </p:nvSpPr>
        <p:spPr>
          <a:xfrm>
            <a:off x="4800600" y="571500"/>
            <a:ext cx="852041" cy="333375"/>
          </a:xfrm>
          <a:prstGeom prst="rect">
            <a:avLst/>
          </a:prstGeom>
          <a:noFill/>
          <a:ln/>
        </p:spPr>
        <p:txBody>
          <a:bodyPr wrap="square" lIns="25400" tIns="25400" rIns="25400" bIns="25400" rtlCol="0" anchor="t">
            <a:normAutofit/>
          </a:bodyPr>
          <a:lstStyle/>
          <a:p>
            <a:pPr marL="0" indent="0" algn="l">
              <a:buNone/>
            </a:pPr>
            <a:r>
              <a:rPr lang="en-US" sz="1950" b="1" kern="0" spc="351" dirty="0">
                <a:solidFill>
                  <a:srgbClr val="0B2A6B"/>
                </a:solidFill>
                <a:latin typeface="Pretendard" pitchFamily="34" charset="0"/>
                <a:ea typeface="Pretendard" pitchFamily="34" charset="-122"/>
                <a:cs typeface="Pretendard" pitchFamily="34" charset="-120"/>
              </a:rPr>
              <a:t>작성란</a:t>
            </a:r>
            <a:endParaRPr lang="en-US" sz="1950" dirty="0"/>
          </a:p>
        </p:txBody>
      </p:sp>
      <p:sp>
        <p:nvSpPr>
          <p:cNvPr id="17" name="Text 15"/>
          <p:cNvSpPr/>
          <p:nvPr/>
        </p:nvSpPr>
        <p:spPr>
          <a:xfrm>
            <a:off x="15119449" y="571500"/>
            <a:ext cx="2814846" cy="333375"/>
          </a:xfrm>
          <a:prstGeom prst="rect">
            <a:avLst/>
          </a:prstGeom>
          <a:noFill/>
          <a:ln/>
        </p:spPr>
        <p:txBody>
          <a:bodyPr wrap="square" lIns="25400" tIns="25400" rIns="25400" bIns="25400" rtlCol="0" anchor="t">
            <a:normAutofit/>
          </a:bodyPr>
          <a:lstStyle/>
          <a:p>
            <a:pPr marL="0" indent="0" algn="l">
              <a:buNone/>
            </a:pPr>
            <a:r>
              <a:rPr lang="en-US" sz="1950" b="1" dirty="0">
                <a:solidFill>
                  <a:srgbClr val="8B9AB5"/>
                </a:solidFill>
                <a:latin typeface="Pretendard" pitchFamily="34" charset="0"/>
                <a:ea typeface="Pretendard" pitchFamily="34" charset="-122"/>
                <a:cs typeface="Pretendard" pitchFamily="34" charset="-120"/>
              </a:rPr>
              <a:t>2026 K-조선 해커톤 · 04</a:t>
            </a:r>
            <a:endParaRPr lang="en-US" sz="1950" dirty="0"/>
          </a:p>
        </p:txBody>
      </p:sp>
      <p:sp>
        <p:nvSpPr>
          <p:cNvPr id="18" name="Rounded Rectangle 17"/>
          <p:cNvSpPr/>
          <p:nvPr/>
        </p:nvSpPr>
        <p:spPr>
          <a:xfrm>
            <a:off x="4800600" y="1371600"/>
            <a:ext cx="7818120" cy="2788920"/>
          </a:xfrm>
          <a:prstGeom prst="roundRect">
            <a:avLst>
              <a:gd name="adj" fmla="val 3500"/>
            </a:avLst>
          </a:prstGeom>
          <a:solidFill>
            <a:srgbClr val="FFFFFF"/>
          </a:solidFill>
          <a:ln w="9525">
            <a:solidFill>
              <a:srgbClr val="D9E0EC"/>
            </a:solidFill>
          </a:ln>
        </p:spPr>
        <p:txBody>
          <a:bodyPr rtlCol="0" anchor="ctr"/>
          <a:lstStyle/>
          <a:p/>
        </p:txBody>
      </p:sp>
      <p:sp>
        <p:nvSpPr>
          <p:cNvPr id="19" name="Oval 18"/>
          <p:cNvSpPr/>
          <p:nvPr/>
        </p:nvSpPr>
        <p:spPr>
          <a:xfrm>
            <a:off x="5120640" y="1746504"/>
            <a:ext cx="146304" cy="146304"/>
          </a:xfrm>
          <a:prstGeom prst="ellipse">
            <a:avLst/>
          </a:prstGeom>
          <a:solidFill>
            <a:srgbClr val="4FD0F5"/>
          </a:solidFill>
          <a:ln>
            <a:noFill/>
          </a:ln>
        </p:spPr>
        <p:txBody>
          <a:bodyPr rtlCol="0" anchor="ctr"/>
          <a:lstStyle/>
          <a:p>
            <a:pPr algn="ctr"/>
          </a:p>
        </p:txBody>
      </p:sp>
      <p:sp>
        <p:nvSpPr>
          <p:cNvPr id="20" name="TextBox 19"/>
          <p:cNvSpPr txBox="1"/>
          <p:nvPr/>
        </p:nvSpPr>
        <p:spPr>
          <a:xfrm>
            <a:off x="5367527" y="1645920"/>
            <a:ext cx="6931152" cy="384048"/>
          </a:xfrm>
          <a:prstGeom prst="rect">
            <a:avLst/>
          </a:prstGeom>
          <a:noFill/>
        </p:spPr>
        <p:txBody>
          <a:bodyPr wrap="square" anchor="t" lIns="0" rIns="0" tIns="0" bIns="0">
            <a:spAutoFit/>
          </a:bodyPr>
          <a:lstStyle/>
          <a:p>
            <a:pPr algn="l">
              <a:lnSpc>
                <a:spcPct val="112000"/>
              </a:lnSpc>
            </a:pPr>
            <a:r>
              <a:rPr sz="2000" b="1" i="0">
                <a:solidFill>
                  <a:srgbClr val="0B2A6B"/>
                </a:solidFill>
                <a:latin typeface="Pretendard"/>
                <a:ea typeface="Pretendard"/>
                <a:cs typeface="Pretendard"/>
              </a:rPr>
              <a:t>주요 기능(MVP)</a:t>
            </a:r>
          </a:p>
        </p:txBody>
      </p:sp>
      <p:sp>
        <p:nvSpPr>
          <p:cNvPr id="21" name="Rounded Rectangle 20"/>
          <p:cNvSpPr/>
          <p:nvPr/>
        </p:nvSpPr>
        <p:spPr>
          <a:xfrm>
            <a:off x="5120640" y="2148840"/>
            <a:ext cx="3451860" cy="347472"/>
          </a:xfrm>
          <a:prstGeom prst="roundRect">
            <a:avLst>
              <a:gd name="adj" fmla="val 50000"/>
            </a:avLst>
          </a:prstGeom>
          <a:solidFill>
            <a:srgbClr val="4FD0F5"/>
          </a:solidFill>
          <a:ln>
            <a:noFill/>
          </a:ln>
        </p:spPr>
        <p:txBody>
          <a:bodyPr rtlCol="0" anchor="ctr" lIns="73152" rIns="73152" tIns="0" bIns="0"/>
          <a:lstStyle/>
          <a:p>
            <a:pPr algn="ctr"/>
            <a:r>
              <a:rPr sz="1150" b="1" i="0">
                <a:solidFill>
                  <a:srgbClr val="0B2A6B"/>
                </a:solidFill>
                <a:latin typeface="Pretendard"/>
                <a:ea typeface="Pretendard"/>
                <a:cs typeface="Pretendard"/>
              </a:rPr>
              <a:t>현재 동작 프로토타입(2026.09 기준)</a:t>
            </a:r>
          </a:p>
        </p:txBody>
      </p:sp>
      <p:sp>
        <p:nvSpPr>
          <p:cNvPr id="22" name="TextBox 21"/>
          <p:cNvSpPr txBox="1"/>
          <p:nvPr/>
        </p:nvSpPr>
        <p:spPr>
          <a:xfrm>
            <a:off x="5120640" y="2606040"/>
            <a:ext cx="3451860" cy="1417319"/>
          </a:xfrm>
          <a:prstGeom prst="rect">
            <a:avLst/>
          </a:prstGeom>
          <a:noFill/>
        </p:spPr>
        <p:txBody>
          <a:bodyPr wrap="square" anchor="t" lIns="0" rIns="0" tIns="0" bIns="0">
            <a:spAutoFit/>
          </a:bodyPr>
          <a:lstStyle/>
          <a:p>
            <a:pPr marL="167957" indent="-167957">
              <a:lnSpc>
                <a:spcPct val="114000"/>
              </a:lnSpc>
              <a:spcAft>
                <a:spcPts val="300"/>
              </a:spcAft>
              <a:buClr>
                <a:srgbClr val="4FD0F5"/>
              </a:buClr>
              <a:buFont typeface="Arial"/>
              <a:buChar char="•"/>
            </a:pPr>
            <a:r>
              <a:rPr sz="1150" b="0" i="0">
                <a:solidFill>
                  <a:srgbClr val="1F2A44"/>
                </a:solidFill>
                <a:latin typeface="Pretendard"/>
                <a:ea typeface="Pretendard"/>
                <a:cs typeface="Pretendard"/>
              </a:rPr>
              <a:t>로컬 실행 웹앱 — 4대 기능 전 구간 동작(탐지→측정→판정→소견서→PDF→아카이브)</a:t>
            </a:r>
          </a:p>
          <a:p>
            <a:pPr marL="167957" indent="-167957">
              <a:lnSpc>
                <a:spcPct val="114000"/>
              </a:lnSpc>
              <a:spcAft>
                <a:spcPts val="300"/>
              </a:spcAft>
              <a:buClr>
                <a:srgbClr val="4FD0F5"/>
              </a:buClr>
              <a:buFont typeface="Arial"/>
              <a:buChar char="•"/>
            </a:pPr>
            <a:r>
              <a:rPr sz="1150" b="0" i="0">
                <a:solidFill>
                  <a:srgbClr val="1F2A44"/>
                </a:solidFill>
                <a:latin typeface="Pretendard"/>
                <a:ea typeface="Pretendard"/>
                <a:cs typeface="Pretendard"/>
              </a:rPr>
              <a:t>자동 테스트 195건 통과 · 합성 필름 E2E 헤드리스 검증</a:t>
            </a:r>
          </a:p>
          <a:p>
            <a:pPr marL="167957" indent="-167957">
              <a:lnSpc>
                <a:spcPct val="114000"/>
              </a:lnSpc>
              <a:spcAft>
                <a:spcPts val="300"/>
              </a:spcAft>
              <a:buClr>
                <a:srgbClr val="4FD0F5"/>
              </a:buClr>
              <a:buFont typeface="Arial"/>
              <a:buChar char="•"/>
            </a:pPr>
            <a:r>
              <a:rPr sz="1150" b="0" i="0">
                <a:solidFill>
                  <a:srgbClr val="1F2A44"/>
                </a:solidFill>
                <a:latin typeface="Pretendard"/>
                <a:ea typeface="Pretendard"/>
                <a:cs typeface="Pretendard"/>
              </a:rPr>
              <a:t>룰 엔진 판정식 3종(단일·누적·면적률) · 로컬 LLM 우선 정책 · 자연어 검색</a:t>
            </a:r>
          </a:p>
        </p:txBody>
      </p:sp>
      <p:sp>
        <p:nvSpPr>
          <p:cNvPr id="23" name="Rounded Rectangle 22"/>
          <p:cNvSpPr/>
          <p:nvPr/>
        </p:nvSpPr>
        <p:spPr>
          <a:xfrm>
            <a:off x="8846820" y="2148840"/>
            <a:ext cx="3451860" cy="347472"/>
          </a:xfrm>
          <a:prstGeom prst="roundRect">
            <a:avLst>
              <a:gd name="adj" fmla="val 50000"/>
            </a:avLst>
          </a:prstGeom>
          <a:solidFill>
            <a:srgbClr val="0B2A6B"/>
          </a:solidFill>
          <a:ln>
            <a:noFill/>
          </a:ln>
        </p:spPr>
        <p:txBody>
          <a:bodyPr rtlCol="0" anchor="ctr" lIns="73152" rIns="73152" tIns="0" bIns="0"/>
          <a:lstStyle/>
          <a:p>
            <a:pPr algn="ctr"/>
            <a:r>
              <a:rPr sz="1150" b="1" i="0">
                <a:solidFill>
                  <a:srgbClr val="FFFFFF"/>
                </a:solidFill>
                <a:latin typeface="Pretendard"/>
                <a:ea typeface="Pretendard"/>
                <a:cs typeface="Pretendard"/>
              </a:rPr>
              <a:t>본선까지 반드시 동작시킬 것(대체 경로 포함)</a:t>
            </a:r>
          </a:p>
        </p:txBody>
      </p:sp>
      <p:sp>
        <p:nvSpPr>
          <p:cNvPr id="24" name="TextBox 23"/>
          <p:cNvSpPr txBox="1"/>
          <p:nvPr/>
        </p:nvSpPr>
        <p:spPr>
          <a:xfrm>
            <a:off x="8846820" y="2606040"/>
            <a:ext cx="3451860" cy="1417319"/>
          </a:xfrm>
          <a:prstGeom prst="rect">
            <a:avLst/>
          </a:prstGeom>
          <a:noFill/>
        </p:spPr>
        <p:txBody>
          <a:bodyPr wrap="square" anchor="t" lIns="0" rIns="0" tIns="0" bIns="0">
            <a:spAutoFit/>
          </a:bodyPr>
          <a:lstStyle/>
          <a:p>
            <a:pPr marL="167957" indent="-167957">
              <a:lnSpc>
                <a:spcPct val="114000"/>
              </a:lnSpc>
              <a:spcAft>
                <a:spcPts val="300"/>
              </a:spcAft>
              <a:buClr>
                <a:srgbClr val="4FD0F5"/>
              </a:buClr>
              <a:buFont typeface="Arial"/>
              <a:buChar char="•"/>
            </a:pPr>
            <a:r>
              <a:rPr sz="1150" b="0" i="0">
                <a:solidFill>
                  <a:srgbClr val="1F2A44"/>
                </a:solidFill>
                <a:latin typeface="Pretendard"/>
                <a:ea typeface="Pretendard"/>
                <a:cs typeface="Pretendard"/>
              </a:rPr>
              <a:t>YOLO26s 학습 가중치 탑재 — 대체: RIAWELC 사전학습 + GDXray W0001·W0002 검증 → 그래도 불가 시 폴백 탐지기로 시연</a:t>
            </a:r>
          </a:p>
          <a:p>
            <a:pPr marL="167957" indent="-167957">
              <a:lnSpc>
                <a:spcPct val="114000"/>
              </a:lnSpc>
              <a:spcAft>
                <a:spcPts val="300"/>
              </a:spcAft>
              <a:buClr>
                <a:srgbClr val="4FD0F5"/>
              </a:buClr>
              <a:buFont typeface="Arial"/>
              <a:buChar char="•"/>
            </a:pPr>
            <a:r>
              <a:rPr sz="1150" b="0" i="0">
                <a:solidFill>
                  <a:srgbClr val="1F2A44"/>
                </a:solidFill>
                <a:latin typeface="Pretendard"/>
                <a:ea typeface="Pretendard"/>
                <a:cs typeface="Pretendard"/>
              </a:rPr>
              <a:t>기준표 실제 수치 확정(선급 지침·멘토링) — 대체: 공개 규격 구조 기반 데모값 유지, 조항 ID로 구분</a:t>
            </a:r>
          </a:p>
          <a:p>
            <a:pPr marL="167957" indent="-167957">
              <a:lnSpc>
                <a:spcPct val="114000"/>
              </a:lnSpc>
              <a:spcAft>
                <a:spcPts val="300"/>
              </a:spcAft>
              <a:buClr>
                <a:srgbClr val="4FD0F5"/>
              </a:buClr>
              <a:buFont typeface="Arial"/>
              <a:buChar char="•"/>
            </a:pPr>
            <a:r>
              <a:rPr sz="1150" b="0" i="0">
                <a:solidFill>
                  <a:srgbClr val="1F2A44"/>
                </a:solidFill>
                <a:latin typeface="Pretendard"/>
                <a:ea typeface="Pretendard"/>
                <a:cs typeface="Pretendard"/>
              </a:rPr>
              <a:t>현직 판독원 리포트 양식 검증 — 대체: IACS UR W33 §8.2·8.5 필수 항목으로 자체 검증</a:t>
            </a:r>
          </a:p>
        </p:txBody>
      </p:sp>
      <p:sp>
        <p:nvSpPr>
          <p:cNvPr id="25" name="Rounded Rectangle 24"/>
          <p:cNvSpPr/>
          <p:nvPr/>
        </p:nvSpPr>
        <p:spPr>
          <a:xfrm>
            <a:off x="12893040" y="1371600"/>
            <a:ext cx="4782311" cy="2788920"/>
          </a:xfrm>
          <a:prstGeom prst="roundRect">
            <a:avLst>
              <a:gd name="adj" fmla="val 3500"/>
            </a:avLst>
          </a:prstGeom>
          <a:solidFill>
            <a:srgbClr val="FFFFFF"/>
          </a:solidFill>
          <a:ln w="9525">
            <a:solidFill>
              <a:srgbClr val="D9E0EC"/>
            </a:solidFill>
          </a:ln>
        </p:spPr>
        <p:txBody>
          <a:bodyPr rtlCol="0" anchor="ctr"/>
          <a:lstStyle/>
          <a:p/>
        </p:txBody>
      </p:sp>
      <p:sp>
        <p:nvSpPr>
          <p:cNvPr id="26" name="Oval 25"/>
          <p:cNvSpPr/>
          <p:nvPr/>
        </p:nvSpPr>
        <p:spPr>
          <a:xfrm>
            <a:off x="13213080" y="1746504"/>
            <a:ext cx="146304" cy="146304"/>
          </a:xfrm>
          <a:prstGeom prst="ellipse">
            <a:avLst/>
          </a:prstGeom>
          <a:solidFill>
            <a:srgbClr val="4FD0F5"/>
          </a:solidFill>
          <a:ln>
            <a:noFill/>
          </a:ln>
        </p:spPr>
        <p:txBody>
          <a:bodyPr rtlCol="0" anchor="ctr"/>
          <a:lstStyle/>
          <a:p>
            <a:pPr algn="ctr"/>
          </a:p>
        </p:txBody>
      </p:sp>
      <p:sp>
        <p:nvSpPr>
          <p:cNvPr id="27" name="TextBox 26"/>
          <p:cNvSpPr txBox="1"/>
          <p:nvPr/>
        </p:nvSpPr>
        <p:spPr>
          <a:xfrm>
            <a:off x="13459968" y="1645920"/>
            <a:ext cx="3895343" cy="384048"/>
          </a:xfrm>
          <a:prstGeom prst="rect">
            <a:avLst/>
          </a:prstGeom>
          <a:noFill/>
        </p:spPr>
        <p:txBody>
          <a:bodyPr wrap="square" anchor="t" lIns="0" rIns="0" tIns="0" bIns="0">
            <a:spAutoFit/>
          </a:bodyPr>
          <a:lstStyle/>
          <a:p>
            <a:pPr algn="l">
              <a:lnSpc>
                <a:spcPct val="112000"/>
              </a:lnSpc>
            </a:pPr>
            <a:r>
              <a:rPr sz="2000" b="1" i="0">
                <a:solidFill>
                  <a:srgbClr val="0B2A6B"/>
                </a:solidFill>
                <a:latin typeface="Pretendard"/>
                <a:ea typeface="Pretendard"/>
                <a:cs typeface="Pretendard"/>
              </a:rPr>
              <a:t>개발 범위</a:t>
            </a:r>
          </a:p>
        </p:txBody>
      </p:sp>
      <p:sp>
        <p:nvSpPr>
          <p:cNvPr id="28" name="Rounded Rectangle 27"/>
          <p:cNvSpPr/>
          <p:nvPr/>
        </p:nvSpPr>
        <p:spPr>
          <a:xfrm>
            <a:off x="13213080" y="2148840"/>
            <a:ext cx="1234440" cy="310896"/>
          </a:xfrm>
          <a:prstGeom prst="roundRect">
            <a:avLst>
              <a:gd name="adj" fmla="val 50000"/>
            </a:avLst>
          </a:prstGeom>
          <a:solidFill>
            <a:srgbClr val="E3F6FD"/>
          </a:solidFill>
          <a:ln>
            <a:noFill/>
          </a:ln>
        </p:spPr>
        <p:txBody>
          <a:bodyPr rtlCol="0" anchor="ctr" lIns="73152" rIns="73152" tIns="0" bIns="0"/>
          <a:lstStyle/>
          <a:p>
            <a:pPr algn="ctr"/>
            <a:r>
              <a:rPr sz="1150" b="1" i="0">
                <a:solidFill>
                  <a:srgbClr val="0B2A6B"/>
                </a:solidFill>
                <a:latin typeface="Pretendard"/>
                <a:ea typeface="Pretendard"/>
                <a:cs typeface="Pretendard"/>
              </a:rPr>
              <a:t>포함</a:t>
            </a:r>
          </a:p>
        </p:txBody>
      </p:sp>
      <p:sp>
        <p:nvSpPr>
          <p:cNvPr id="29" name="TextBox 28"/>
          <p:cNvSpPr txBox="1"/>
          <p:nvPr/>
        </p:nvSpPr>
        <p:spPr>
          <a:xfrm>
            <a:off x="13213080" y="2560320"/>
            <a:ext cx="1956815" cy="1463039"/>
          </a:xfrm>
          <a:prstGeom prst="rect">
            <a:avLst/>
          </a:prstGeom>
          <a:noFill/>
        </p:spPr>
        <p:txBody>
          <a:bodyPr wrap="square" anchor="t" lIns="0" rIns="0" tIns="0" bIns="0">
            <a:spAutoFit/>
          </a:bodyPr>
          <a:lstStyle/>
          <a:p>
            <a:pPr marL="167957" indent="-167957">
              <a:lnSpc>
                <a:spcPct val="114000"/>
              </a:lnSpc>
              <a:spcAft>
                <a:spcPts val="400"/>
              </a:spcAft>
              <a:buClr>
                <a:srgbClr val="4FD0F5"/>
              </a:buClr>
              <a:buFont typeface="Arial"/>
              <a:buChar char="•"/>
            </a:pPr>
            <a:r>
              <a:rPr sz="1150" b="0" i="0">
                <a:solidFill>
                  <a:srgbClr val="1F2A44"/>
                </a:solidFill>
                <a:latin typeface="Pretendard"/>
                <a:ea typeface="Pretendard"/>
                <a:cs typeface="Pretendard"/>
              </a:rPr>
              <a:t>4대 기능(2차 눈·2클릭 자 + 룰 판정·소견서·아카이브) + 자연어 검색</a:t>
            </a:r>
          </a:p>
          <a:p>
            <a:pPr marL="167957" indent="-167957">
              <a:lnSpc>
                <a:spcPct val="114000"/>
              </a:lnSpc>
              <a:spcAft>
                <a:spcPts val="400"/>
              </a:spcAft>
              <a:buClr>
                <a:srgbClr val="4FD0F5"/>
              </a:buClr>
              <a:buFont typeface="Arial"/>
              <a:buChar char="•"/>
            </a:pPr>
            <a:r>
              <a:rPr sz="1150" b="0" i="0">
                <a:solidFill>
                  <a:srgbClr val="1F2A44"/>
                </a:solidFill>
                <a:latin typeface="Pretendard"/>
                <a:ea typeface="Pretendard"/>
                <a:cs typeface="Pretendard"/>
              </a:rPr>
              <a:t>YOLO 학습 + GDXray 교차 검증 수치(재현율·장당 오탐) 공개</a:t>
            </a:r>
          </a:p>
          <a:p>
            <a:pPr marL="167957" indent="-167957">
              <a:lnSpc>
                <a:spcPct val="114000"/>
              </a:lnSpc>
              <a:spcAft>
                <a:spcPts val="400"/>
              </a:spcAft>
              <a:buClr>
                <a:srgbClr val="4FD0F5"/>
              </a:buClr>
              <a:buFont typeface="Arial"/>
              <a:buChar char="•"/>
            </a:pPr>
            <a:r>
              <a:rPr sz="1150" b="0" i="0">
                <a:solidFill>
                  <a:srgbClr val="1F2A44"/>
                </a:solidFill>
                <a:latin typeface="Pretendard"/>
                <a:ea typeface="Pretendard"/>
                <a:cs typeface="Pretendard"/>
              </a:rPr>
              <a:t>오프라인 시연 모드(템플릿·캐시), PDF·CSV·JSON 백업</a:t>
            </a:r>
          </a:p>
        </p:txBody>
      </p:sp>
      <p:sp>
        <p:nvSpPr>
          <p:cNvPr id="30" name="Rounded Rectangle 29"/>
          <p:cNvSpPr/>
          <p:nvPr/>
        </p:nvSpPr>
        <p:spPr>
          <a:xfrm>
            <a:off x="15398496" y="2148840"/>
            <a:ext cx="1234440" cy="310896"/>
          </a:xfrm>
          <a:prstGeom prst="roundRect">
            <a:avLst>
              <a:gd name="adj" fmla="val 50000"/>
            </a:avLst>
          </a:prstGeom>
          <a:solidFill>
            <a:srgbClr val="E8EDF7"/>
          </a:solidFill>
          <a:ln>
            <a:noFill/>
          </a:ln>
        </p:spPr>
        <p:txBody>
          <a:bodyPr rtlCol="0" anchor="ctr" lIns="73152" rIns="73152" tIns="0" bIns="0"/>
          <a:lstStyle/>
          <a:p>
            <a:pPr algn="ctr"/>
            <a:r>
              <a:rPr sz="1150" b="1" i="0">
                <a:solidFill>
                  <a:srgbClr val="5B6B8C"/>
                </a:solidFill>
                <a:latin typeface="Pretendard"/>
                <a:ea typeface="Pretendard"/>
                <a:cs typeface="Pretendard"/>
              </a:rPr>
              <a:t>제외 (로드맵)</a:t>
            </a:r>
          </a:p>
        </p:txBody>
      </p:sp>
      <p:sp>
        <p:nvSpPr>
          <p:cNvPr id="31" name="TextBox 30"/>
          <p:cNvSpPr txBox="1"/>
          <p:nvPr/>
        </p:nvSpPr>
        <p:spPr>
          <a:xfrm>
            <a:off x="15398496" y="2560320"/>
            <a:ext cx="1956815" cy="1463039"/>
          </a:xfrm>
          <a:prstGeom prst="rect">
            <a:avLst/>
          </a:prstGeom>
          <a:noFill/>
        </p:spPr>
        <p:txBody>
          <a:bodyPr wrap="square" anchor="t" lIns="0" rIns="0" tIns="0" bIns="0">
            <a:spAutoFit/>
          </a:bodyPr>
          <a:lstStyle/>
          <a:p>
            <a:pPr marL="167957" indent="-167957">
              <a:lnSpc>
                <a:spcPct val="114000"/>
              </a:lnSpc>
              <a:spcAft>
                <a:spcPts val="400"/>
              </a:spcAft>
              <a:buClr>
                <a:srgbClr val="4FD0F5"/>
              </a:buClr>
              <a:buFont typeface="Arial"/>
              <a:buChar char="•"/>
            </a:pPr>
            <a:r>
              <a:rPr sz="1150" b="0" i="0">
                <a:solidFill>
                  <a:srgbClr val="1F2A44"/>
                </a:solidFill>
                <a:latin typeface="Pretendard"/>
                <a:ea typeface="Pretendard"/>
                <a:cs typeface="Pretendard"/>
              </a:rPr>
              <a:t>취부 예방 모듈, 폰·ArUco 촬영 측정, AR 고글</a:t>
            </a:r>
          </a:p>
          <a:p>
            <a:pPr marL="167957" indent="-167957">
              <a:lnSpc>
                <a:spcPct val="114000"/>
              </a:lnSpc>
              <a:spcAft>
                <a:spcPts val="400"/>
              </a:spcAft>
              <a:buClr>
                <a:srgbClr val="4FD0F5"/>
              </a:buClr>
              <a:buFont typeface="Arial"/>
              <a:buChar char="•"/>
            </a:pPr>
            <a:r>
              <a:rPr sz="1150" b="0" i="0">
                <a:solidFill>
                  <a:srgbClr val="1F2A44"/>
                </a:solidFill>
                <a:latin typeface="Pretendard"/>
                <a:ea typeface="Pretendard"/>
                <a:cs typeface="Pretendard"/>
              </a:rPr>
              <a:t>위험도 샘플링 추천(검사 지점은 선급·선주·QC 권한)</a:t>
            </a:r>
          </a:p>
          <a:p>
            <a:pPr marL="167957" indent="-167957">
              <a:lnSpc>
                <a:spcPct val="114000"/>
              </a:lnSpc>
              <a:spcAft>
                <a:spcPts val="400"/>
              </a:spcAft>
              <a:buClr>
                <a:srgbClr val="4FD0F5"/>
              </a:buClr>
              <a:buFont typeface="Arial"/>
              <a:buChar char="•"/>
            </a:pPr>
            <a:r>
              <a:rPr sz="1150" b="0" i="0">
                <a:solidFill>
                  <a:srgbClr val="1F2A44"/>
                </a:solidFill>
                <a:latin typeface="Pretendard"/>
                <a:ea typeface="Pretendard"/>
                <a:cs typeface="Pretendard"/>
              </a:rPr>
              <a:t>재학습 파이프라인·UT(PAUT·TOFD) 판독·야드 파일럿 → 로드맵</a:t>
            </a:r>
          </a:p>
        </p:txBody>
      </p:sp>
      <p:sp>
        <p:nvSpPr>
          <p:cNvPr id="32" name="Rounded Rectangle 31"/>
          <p:cNvSpPr/>
          <p:nvPr/>
        </p:nvSpPr>
        <p:spPr>
          <a:xfrm>
            <a:off x="4800600" y="4389120"/>
            <a:ext cx="7818120" cy="1691640"/>
          </a:xfrm>
          <a:prstGeom prst="roundRect">
            <a:avLst>
              <a:gd name="adj" fmla="val 3500"/>
            </a:avLst>
          </a:prstGeom>
          <a:solidFill>
            <a:srgbClr val="FFFFFF"/>
          </a:solidFill>
          <a:ln w="9525">
            <a:solidFill>
              <a:srgbClr val="D9E0EC"/>
            </a:solidFill>
          </a:ln>
        </p:spPr>
        <p:txBody>
          <a:bodyPr rtlCol="0" anchor="ctr"/>
          <a:lstStyle/>
          <a:p/>
        </p:txBody>
      </p:sp>
      <p:sp>
        <p:nvSpPr>
          <p:cNvPr id="33" name="Oval 32"/>
          <p:cNvSpPr/>
          <p:nvPr/>
        </p:nvSpPr>
        <p:spPr>
          <a:xfrm>
            <a:off x="5120640" y="4672584"/>
            <a:ext cx="146304" cy="146304"/>
          </a:xfrm>
          <a:prstGeom prst="ellipse">
            <a:avLst/>
          </a:prstGeom>
          <a:solidFill>
            <a:srgbClr val="4FD0F5"/>
          </a:solidFill>
          <a:ln>
            <a:noFill/>
          </a:ln>
        </p:spPr>
        <p:txBody>
          <a:bodyPr rtlCol="0" anchor="ctr"/>
          <a:lstStyle/>
          <a:p>
            <a:pPr algn="ctr"/>
          </a:p>
        </p:txBody>
      </p:sp>
      <p:sp>
        <p:nvSpPr>
          <p:cNvPr id="34" name="TextBox 33"/>
          <p:cNvSpPr txBox="1"/>
          <p:nvPr/>
        </p:nvSpPr>
        <p:spPr>
          <a:xfrm>
            <a:off x="5367527" y="4572000"/>
            <a:ext cx="6931152" cy="384048"/>
          </a:xfrm>
          <a:prstGeom prst="rect">
            <a:avLst/>
          </a:prstGeom>
          <a:noFill/>
        </p:spPr>
        <p:txBody>
          <a:bodyPr wrap="square" anchor="t" lIns="0" rIns="0" tIns="0" bIns="0">
            <a:spAutoFit/>
          </a:bodyPr>
          <a:lstStyle/>
          <a:p>
            <a:pPr algn="l">
              <a:lnSpc>
                <a:spcPct val="112000"/>
              </a:lnSpc>
            </a:pPr>
            <a:r>
              <a:rPr sz="1700" b="1" i="0">
                <a:solidFill>
                  <a:srgbClr val="0B2A6B"/>
                </a:solidFill>
                <a:latin typeface="Pretendard"/>
                <a:ea typeface="Pretendard"/>
                <a:cs typeface="Pretendard"/>
              </a:rPr>
              <a:t>팀원별 역할 분담</a:t>
            </a:r>
          </a:p>
        </p:txBody>
      </p:sp>
      <p:sp>
        <p:nvSpPr>
          <p:cNvPr id="35" name="TextBox 34"/>
          <p:cNvSpPr txBox="1"/>
          <p:nvPr/>
        </p:nvSpPr>
        <p:spPr>
          <a:xfrm>
            <a:off x="5120640" y="4956048"/>
            <a:ext cx="7178040" cy="1051560"/>
          </a:xfrm>
          <a:prstGeom prst="rect">
            <a:avLst/>
          </a:prstGeom>
          <a:noFill/>
        </p:spPr>
        <p:txBody>
          <a:bodyPr wrap="square" anchor="t" lIns="0" rIns="0" tIns="0" bIns="0">
            <a:spAutoFit/>
          </a:bodyPr>
          <a:lstStyle/>
          <a:p>
            <a:pPr marL="167957" indent="-167957">
              <a:lnSpc>
                <a:spcPct val="114000"/>
              </a:lnSpc>
              <a:spcAft>
                <a:spcPts val="200"/>
              </a:spcAft>
              <a:buClr>
                <a:srgbClr val="4FD0F5"/>
              </a:buClr>
              <a:buFont typeface="Arial"/>
              <a:buChar char="•"/>
            </a:pPr>
            <a:r>
              <a:rPr sz="1150" b="1" i="0">
                <a:solidFill>
                  <a:srgbClr val="1F2A44"/>
                </a:solidFill>
                <a:latin typeface="Pretendard"/>
                <a:ea typeface="Pretendard"/>
                <a:cs typeface="Pretendard"/>
              </a:rPr>
              <a:t>1인 참가</a:t>
            </a:r>
            <a:r>
              <a:rPr sz="1150" b="0" i="0">
                <a:solidFill>
                  <a:srgbClr val="1F2A44"/>
                </a:solidFill>
                <a:latin typeface="Pretendard"/>
                <a:ea typeface="Pretendard"/>
                <a:cs typeface="Pretendard"/>
              </a:rPr>
              <a:t> — 기획·개발·데이터·디자인 전담</a:t>
            </a:r>
          </a:p>
          <a:p>
            <a:pPr marL="167957" indent="-167957">
              <a:lnSpc>
                <a:spcPct val="114000"/>
              </a:lnSpc>
              <a:spcAft>
                <a:spcPts val="200"/>
              </a:spcAft>
              <a:buClr>
                <a:srgbClr val="4FD0F5"/>
              </a:buClr>
              <a:buFont typeface="Arial"/>
              <a:buChar char="•"/>
            </a:pPr>
            <a:r>
              <a:rPr sz="1150" b="0" i="0">
                <a:solidFill>
                  <a:srgbClr val="1F2A44"/>
                </a:solidFill>
                <a:latin typeface="Pretendard"/>
                <a:ea typeface="Pretendard"/>
                <a:cs typeface="Pretendard"/>
              </a:rPr>
              <a:t>보유 경험: YOLO 결함 탐지(랩실)·LLM 파이프라인 프로토타입 / 프로토타입 적용 스택: Python·Streamlit·OpenCV·SQLite</a:t>
            </a:r>
          </a:p>
          <a:p>
            <a:pPr marL="167957" indent="-167957">
              <a:lnSpc>
                <a:spcPct val="114000"/>
              </a:lnSpc>
              <a:spcAft>
                <a:spcPts val="200"/>
              </a:spcAft>
              <a:buClr>
                <a:srgbClr val="4FD0F5"/>
              </a:buClr>
              <a:buFont typeface="Arial"/>
              <a:buChar char="•"/>
            </a:pPr>
            <a:r>
              <a:rPr sz="1150" b="0" i="0">
                <a:solidFill>
                  <a:srgbClr val="1F2A44"/>
                </a:solidFill>
                <a:latin typeface="Pretendard"/>
                <a:ea typeface="Pretendard"/>
                <a:cs typeface="Pretendard"/>
              </a:rPr>
              <a:t>외부 자원(본선 진출 시): 도메인 멘토링 2회(기준 원문·리포트 양식), 기술 멘토링 2회(모델 성능·자 도구 UX·리허설), 현직자 오픈카톡</a:t>
            </a:r>
          </a:p>
        </p:txBody>
      </p:sp>
      <p:sp>
        <p:nvSpPr>
          <p:cNvPr id="36" name="Rounded Rectangle 35"/>
          <p:cNvSpPr/>
          <p:nvPr/>
        </p:nvSpPr>
        <p:spPr>
          <a:xfrm>
            <a:off x="4800600" y="6309360"/>
            <a:ext cx="7818120" cy="2944367"/>
          </a:xfrm>
          <a:prstGeom prst="roundRect">
            <a:avLst>
              <a:gd name="adj" fmla="val 3500"/>
            </a:avLst>
          </a:prstGeom>
          <a:solidFill>
            <a:srgbClr val="FFFFFF"/>
          </a:solidFill>
          <a:ln w="9525">
            <a:solidFill>
              <a:srgbClr val="D9E0EC"/>
            </a:solidFill>
          </a:ln>
        </p:spPr>
        <p:txBody>
          <a:bodyPr rtlCol="0" anchor="ctr"/>
          <a:lstStyle/>
          <a:p/>
        </p:txBody>
      </p:sp>
      <p:sp>
        <p:nvSpPr>
          <p:cNvPr id="37" name="Oval 36"/>
          <p:cNvSpPr/>
          <p:nvPr/>
        </p:nvSpPr>
        <p:spPr>
          <a:xfrm>
            <a:off x="5120640" y="6638544"/>
            <a:ext cx="146304" cy="146304"/>
          </a:xfrm>
          <a:prstGeom prst="ellipse">
            <a:avLst/>
          </a:prstGeom>
          <a:solidFill>
            <a:srgbClr val="4FD0F5"/>
          </a:solidFill>
          <a:ln>
            <a:noFill/>
          </a:ln>
        </p:spPr>
        <p:txBody>
          <a:bodyPr rtlCol="0" anchor="ctr"/>
          <a:lstStyle/>
          <a:p>
            <a:pPr algn="ctr"/>
          </a:p>
        </p:txBody>
      </p:sp>
      <p:sp>
        <p:nvSpPr>
          <p:cNvPr id="38" name="TextBox 37"/>
          <p:cNvSpPr txBox="1"/>
          <p:nvPr/>
        </p:nvSpPr>
        <p:spPr>
          <a:xfrm>
            <a:off x="5367527" y="6537960"/>
            <a:ext cx="6931152" cy="384048"/>
          </a:xfrm>
          <a:prstGeom prst="rect">
            <a:avLst/>
          </a:prstGeom>
          <a:noFill/>
        </p:spPr>
        <p:txBody>
          <a:bodyPr wrap="square" anchor="t" lIns="0" rIns="0" tIns="0" bIns="0">
            <a:spAutoFit/>
          </a:bodyPr>
          <a:lstStyle/>
          <a:p>
            <a:pPr algn="l">
              <a:lnSpc>
                <a:spcPct val="112000"/>
              </a:lnSpc>
            </a:pPr>
            <a:r>
              <a:rPr sz="1800" b="1" i="0">
                <a:solidFill>
                  <a:srgbClr val="0B2A6B"/>
                </a:solidFill>
                <a:latin typeface="Pretendard"/>
                <a:ea typeface="Pretendard"/>
                <a:cs typeface="Pretendard"/>
              </a:rPr>
              <a:t>시연 시나리오</a:t>
            </a:r>
          </a:p>
        </p:txBody>
      </p:sp>
      <p:sp>
        <p:nvSpPr>
          <p:cNvPr id="39" name="Rounded Rectangle 38"/>
          <p:cNvSpPr/>
          <p:nvPr/>
        </p:nvSpPr>
        <p:spPr>
          <a:xfrm>
            <a:off x="5120640" y="6931152"/>
            <a:ext cx="1657350" cy="731520"/>
          </a:xfrm>
          <a:prstGeom prst="roundRect">
            <a:avLst>
              <a:gd name="adj" fmla="val 8000"/>
            </a:avLst>
          </a:prstGeom>
          <a:solidFill>
            <a:srgbClr val="F2F5FA"/>
          </a:solidFill>
          <a:ln>
            <a:noFill/>
          </a:ln>
        </p:spPr>
        <p:txBody>
          <a:bodyPr rtlCol="0" anchor="ctr"/>
          <a:lstStyle/>
          <a:p/>
        </p:txBody>
      </p:sp>
      <p:sp>
        <p:nvSpPr>
          <p:cNvPr id="40" name="Rounded Rectangle 39"/>
          <p:cNvSpPr/>
          <p:nvPr/>
        </p:nvSpPr>
        <p:spPr>
          <a:xfrm>
            <a:off x="5230368" y="7031736"/>
            <a:ext cx="310896" cy="310896"/>
          </a:xfrm>
          <a:prstGeom prst="roundRect">
            <a:avLst>
              <a:gd name="adj" fmla="val 50000"/>
            </a:avLst>
          </a:prstGeom>
          <a:solidFill>
            <a:srgbClr val="0B2A6B"/>
          </a:solidFill>
          <a:ln>
            <a:noFill/>
          </a:ln>
        </p:spPr>
        <p:txBody>
          <a:bodyPr rtlCol="0" anchor="ctr" lIns="73152" rIns="73152" tIns="0" bIns="0"/>
          <a:lstStyle/>
          <a:p>
            <a:pPr algn="ctr"/>
            <a:r>
              <a:rPr sz="1100" b="1" i="0">
                <a:solidFill>
                  <a:srgbClr val="FFFFFF"/>
                </a:solidFill>
                <a:latin typeface="Pretendard"/>
                <a:ea typeface="Pretendard"/>
                <a:cs typeface="Pretendard"/>
              </a:rPr>
              <a:t>1</a:t>
            </a:r>
          </a:p>
        </p:txBody>
      </p:sp>
      <p:sp>
        <p:nvSpPr>
          <p:cNvPr id="41" name="TextBox 40"/>
          <p:cNvSpPr txBox="1"/>
          <p:nvPr/>
        </p:nvSpPr>
        <p:spPr>
          <a:xfrm>
            <a:off x="5623559" y="7004304"/>
            <a:ext cx="1062990" cy="621792"/>
          </a:xfrm>
          <a:prstGeom prst="rect">
            <a:avLst/>
          </a:prstGeom>
          <a:noFill/>
        </p:spPr>
        <p:txBody>
          <a:bodyPr wrap="square" anchor="t" lIns="0" rIns="0" tIns="0" bIns="0">
            <a:spAutoFit/>
          </a:bodyPr>
          <a:lstStyle/>
          <a:p>
            <a:pPr algn="l">
              <a:lnSpc>
                <a:spcPct val="108000"/>
              </a:lnSpc>
            </a:pPr>
            <a:r>
              <a:rPr sz="1100" b="0" i="0">
                <a:solidFill>
                  <a:srgbClr val="1F2A44"/>
                </a:solidFill>
                <a:latin typeface="Pretendard"/>
                <a:ea typeface="Pretendard"/>
                <a:cs typeface="Pretendard"/>
              </a:rPr>
              <a:t>이미지 로드(스캔 필름) · CLAHE 대비 향상</a:t>
            </a:r>
          </a:p>
        </p:txBody>
      </p:sp>
      <p:sp>
        <p:nvSpPr>
          <p:cNvPr id="42" name="Rounded Rectangle 41"/>
          <p:cNvSpPr/>
          <p:nvPr/>
        </p:nvSpPr>
        <p:spPr>
          <a:xfrm>
            <a:off x="6960870" y="6931152"/>
            <a:ext cx="1657350" cy="731520"/>
          </a:xfrm>
          <a:prstGeom prst="roundRect">
            <a:avLst>
              <a:gd name="adj" fmla="val 8000"/>
            </a:avLst>
          </a:prstGeom>
          <a:solidFill>
            <a:srgbClr val="F2F5FA"/>
          </a:solidFill>
          <a:ln>
            <a:noFill/>
          </a:ln>
        </p:spPr>
        <p:txBody>
          <a:bodyPr rtlCol="0" anchor="ctr"/>
          <a:lstStyle/>
          <a:p/>
        </p:txBody>
      </p:sp>
      <p:sp>
        <p:nvSpPr>
          <p:cNvPr id="43" name="Rounded Rectangle 42"/>
          <p:cNvSpPr/>
          <p:nvPr/>
        </p:nvSpPr>
        <p:spPr>
          <a:xfrm>
            <a:off x="7070598" y="7031736"/>
            <a:ext cx="310896" cy="310896"/>
          </a:xfrm>
          <a:prstGeom prst="roundRect">
            <a:avLst>
              <a:gd name="adj" fmla="val 50000"/>
            </a:avLst>
          </a:prstGeom>
          <a:solidFill>
            <a:srgbClr val="0B2A6B"/>
          </a:solidFill>
          <a:ln>
            <a:noFill/>
          </a:ln>
        </p:spPr>
        <p:txBody>
          <a:bodyPr rtlCol="0" anchor="ctr" lIns="73152" rIns="73152" tIns="0" bIns="0"/>
          <a:lstStyle/>
          <a:p>
            <a:pPr algn="ctr"/>
            <a:r>
              <a:rPr sz="1100" b="1" i="0">
                <a:solidFill>
                  <a:srgbClr val="FFFFFF"/>
                </a:solidFill>
                <a:latin typeface="Pretendard"/>
                <a:ea typeface="Pretendard"/>
                <a:cs typeface="Pretendard"/>
              </a:rPr>
              <a:t>2</a:t>
            </a:r>
          </a:p>
        </p:txBody>
      </p:sp>
      <p:sp>
        <p:nvSpPr>
          <p:cNvPr id="44" name="TextBox 43"/>
          <p:cNvSpPr txBox="1"/>
          <p:nvPr/>
        </p:nvSpPr>
        <p:spPr>
          <a:xfrm>
            <a:off x="7463790" y="7004304"/>
            <a:ext cx="1062990" cy="621792"/>
          </a:xfrm>
          <a:prstGeom prst="rect">
            <a:avLst/>
          </a:prstGeom>
          <a:noFill/>
        </p:spPr>
        <p:txBody>
          <a:bodyPr wrap="square" anchor="t" lIns="0" rIns="0" tIns="0" bIns="0">
            <a:spAutoFit/>
          </a:bodyPr>
          <a:lstStyle/>
          <a:p>
            <a:pPr algn="l">
              <a:lnSpc>
                <a:spcPct val="108000"/>
              </a:lnSpc>
            </a:pPr>
            <a:r>
              <a:rPr sz="1100" b="0" i="0">
                <a:solidFill>
                  <a:srgbClr val="1F2A44"/>
                </a:solidFill>
                <a:latin typeface="Pretendard"/>
                <a:ea typeface="Pretendard"/>
                <a:cs typeface="Pretendard"/>
              </a:rPr>
              <a:t>AI 후보 표시 → 유형 확정·채택 / 오탐 기각</a:t>
            </a:r>
          </a:p>
        </p:txBody>
      </p:sp>
      <p:sp>
        <p:nvSpPr>
          <p:cNvPr id="45" name="Rounded Rectangle 44"/>
          <p:cNvSpPr/>
          <p:nvPr/>
        </p:nvSpPr>
        <p:spPr>
          <a:xfrm>
            <a:off x="8801100" y="6931152"/>
            <a:ext cx="1657350" cy="731520"/>
          </a:xfrm>
          <a:prstGeom prst="roundRect">
            <a:avLst>
              <a:gd name="adj" fmla="val 8000"/>
            </a:avLst>
          </a:prstGeom>
          <a:solidFill>
            <a:srgbClr val="F2F5FA"/>
          </a:solidFill>
          <a:ln>
            <a:noFill/>
          </a:ln>
        </p:spPr>
        <p:txBody>
          <a:bodyPr rtlCol="0" anchor="ctr"/>
          <a:lstStyle/>
          <a:p/>
        </p:txBody>
      </p:sp>
      <p:sp>
        <p:nvSpPr>
          <p:cNvPr id="46" name="Rounded Rectangle 45"/>
          <p:cNvSpPr/>
          <p:nvPr/>
        </p:nvSpPr>
        <p:spPr>
          <a:xfrm>
            <a:off x="8910828" y="7031736"/>
            <a:ext cx="310896" cy="310896"/>
          </a:xfrm>
          <a:prstGeom prst="roundRect">
            <a:avLst>
              <a:gd name="adj" fmla="val 50000"/>
            </a:avLst>
          </a:prstGeom>
          <a:solidFill>
            <a:srgbClr val="0B2A6B"/>
          </a:solidFill>
          <a:ln>
            <a:noFill/>
          </a:ln>
        </p:spPr>
        <p:txBody>
          <a:bodyPr rtlCol="0" anchor="ctr" lIns="73152" rIns="73152" tIns="0" bIns="0"/>
          <a:lstStyle/>
          <a:p>
            <a:pPr algn="ctr"/>
            <a:r>
              <a:rPr sz="1100" b="1" i="0">
                <a:solidFill>
                  <a:srgbClr val="FFFFFF"/>
                </a:solidFill>
                <a:latin typeface="Pretendard"/>
                <a:ea typeface="Pretendard"/>
                <a:cs typeface="Pretendard"/>
              </a:rPr>
              <a:t>3</a:t>
            </a:r>
          </a:p>
        </p:txBody>
      </p:sp>
      <p:sp>
        <p:nvSpPr>
          <p:cNvPr id="47" name="TextBox 46"/>
          <p:cNvSpPr txBox="1"/>
          <p:nvPr/>
        </p:nvSpPr>
        <p:spPr>
          <a:xfrm>
            <a:off x="9304020" y="7004304"/>
            <a:ext cx="1062990" cy="621792"/>
          </a:xfrm>
          <a:prstGeom prst="rect">
            <a:avLst/>
          </a:prstGeom>
          <a:noFill/>
        </p:spPr>
        <p:txBody>
          <a:bodyPr wrap="square" anchor="t" lIns="0" rIns="0" tIns="0" bIns="0">
            <a:spAutoFit/>
          </a:bodyPr>
          <a:lstStyle/>
          <a:p>
            <a:pPr algn="l">
              <a:lnSpc>
                <a:spcPct val="108000"/>
              </a:lnSpc>
            </a:pPr>
            <a:r>
              <a:rPr sz="1100" b="0" i="0">
                <a:solidFill>
                  <a:srgbClr val="1F2A44"/>
                </a:solidFill>
                <a:latin typeface="Pretendard"/>
                <a:ea typeface="Pretendard"/>
                <a:cs typeface="Pretendard"/>
              </a:rPr>
              <a:t>납마커 양 끝 2클릭 캘리브레이션(mm/px)</a:t>
            </a:r>
          </a:p>
        </p:txBody>
      </p:sp>
      <p:sp>
        <p:nvSpPr>
          <p:cNvPr id="48" name="Rounded Rectangle 47"/>
          <p:cNvSpPr/>
          <p:nvPr/>
        </p:nvSpPr>
        <p:spPr>
          <a:xfrm>
            <a:off x="10641330" y="6931152"/>
            <a:ext cx="1657350" cy="731520"/>
          </a:xfrm>
          <a:prstGeom prst="roundRect">
            <a:avLst>
              <a:gd name="adj" fmla="val 8000"/>
            </a:avLst>
          </a:prstGeom>
          <a:solidFill>
            <a:srgbClr val="F2F5FA"/>
          </a:solidFill>
          <a:ln>
            <a:noFill/>
          </a:ln>
        </p:spPr>
        <p:txBody>
          <a:bodyPr rtlCol="0" anchor="ctr"/>
          <a:lstStyle/>
          <a:p/>
        </p:txBody>
      </p:sp>
      <p:sp>
        <p:nvSpPr>
          <p:cNvPr id="49" name="Rounded Rectangle 48"/>
          <p:cNvSpPr/>
          <p:nvPr/>
        </p:nvSpPr>
        <p:spPr>
          <a:xfrm>
            <a:off x="10751057" y="7031736"/>
            <a:ext cx="310896" cy="310896"/>
          </a:xfrm>
          <a:prstGeom prst="roundRect">
            <a:avLst>
              <a:gd name="adj" fmla="val 50000"/>
            </a:avLst>
          </a:prstGeom>
          <a:solidFill>
            <a:srgbClr val="0B2A6B"/>
          </a:solidFill>
          <a:ln>
            <a:noFill/>
          </a:ln>
        </p:spPr>
        <p:txBody>
          <a:bodyPr rtlCol="0" anchor="ctr" lIns="73152" rIns="73152" tIns="0" bIns="0"/>
          <a:lstStyle/>
          <a:p>
            <a:pPr algn="ctr"/>
            <a:r>
              <a:rPr sz="1100" b="1" i="0">
                <a:solidFill>
                  <a:srgbClr val="FFFFFF"/>
                </a:solidFill>
                <a:latin typeface="Pretendard"/>
                <a:ea typeface="Pretendard"/>
                <a:cs typeface="Pretendard"/>
              </a:rPr>
              <a:t>4</a:t>
            </a:r>
          </a:p>
        </p:txBody>
      </p:sp>
      <p:sp>
        <p:nvSpPr>
          <p:cNvPr id="50" name="TextBox 49"/>
          <p:cNvSpPr txBox="1"/>
          <p:nvPr/>
        </p:nvSpPr>
        <p:spPr>
          <a:xfrm>
            <a:off x="11144250" y="7004304"/>
            <a:ext cx="1062990" cy="621792"/>
          </a:xfrm>
          <a:prstGeom prst="rect">
            <a:avLst/>
          </a:prstGeom>
          <a:noFill/>
        </p:spPr>
        <p:txBody>
          <a:bodyPr wrap="square" anchor="t" lIns="0" rIns="0" tIns="0" bIns="0">
            <a:spAutoFit/>
          </a:bodyPr>
          <a:lstStyle/>
          <a:p>
            <a:pPr algn="l">
              <a:lnSpc>
                <a:spcPct val="108000"/>
              </a:lnSpc>
            </a:pPr>
            <a:r>
              <a:rPr sz="1100" b="0" i="0">
                <a:solidFill>
                  <a:srgbClr val="1F2A44"/>
                </a:solidFill>
                <a:latin typeface="Pretendard"/>
                <a:ea typeface="Pretendard"/>
                <a:cs typeface="Pretendard"/>
              </a:rPr>
              <a:t>결함 양 끝 2클릭 → 크기 확정</a:t>
            </a:r>
          </a:p>
        </p:txBody>
      </p:sp>
      <p:sp>
        <p:nvSpPr>
          <p:cNvPr id="51" name="Rounded Rectangle 50"/>
          <p:cNvSpPr/>
          <p:nvPr/>
        </p:nvSpPr>
        <p:spPr>
          <a:xfrm>
            <a:off x="5120640" y="7772400"/>
            <a:ext cx="1657350" cy="731520"/>
          </a:xfrm>
          <a:prstGeom prst="roundRect">
            <a:avLst>
              <a:gd name="adj" fmla="val 8000"/>
            </a:avLst>
          </a:prstGeom>
          <a:solidFill>
            <a:srgbClr val="F2F5FA"/>
          </a:solidFill>
          <a:ln>
            <a:noFill/>
          </a:ln>
        </p:spPr>
        <p:txBody>
          <a:bodyPr rtlCol="0" anchor="ctr"/>
          <a:lstStyle/>
          <a:p/>
        </p:txBody>
      </p:sp>
      <p:sp>
        <p:nvSpPr>
          <p:cNvPr id="52" name="Rounded Rectangle 51"/>
          <p:cNvSpPr/>
          <p:nvPr/>
        </p:nvSpPr>
        <p:spPr>
          <a:xfrm>
            <a:off x="5230368" y="7872983"/>
            <a:ext cx="310896" cy="310896"/>
          </a:xfrm>
          <a:prstGeom prst="roundRect">
            <a:avLst>
              <a:gd name="adj" fmla="val 50000"/>
            </a:avLst>
          </a:prstGeom>
          <a:solidFill>
            <a:srgbClr val="0B2A6B"/>
          </a:solidFill>
          <a:ln>
            <a:noFill/>
          </a:ln>
        </p:spPr>
        <p:txBody>
          <a:bodyPr rtlCol="0" anchor="ctr" lIns="73152" rIns="73152" tIns="0" bIns="0"/>
          <a:lstStyle/>
          <a:p>
            <a:pPr algn="ctr"/>
            <a:r>
              <a:rPr sz="1100" b="1" i="0">
                <a:solidFill>
                  <a:srgbClr val="FFFFFF"/>
                </a:solidFill>
                <a:latin typeface="Pretendard"/>
                <a:ea typeface="Pretendard"/>
                <a:cs typeface="Pretendard"/>
              </a:rPr>
              <a:t>5</a:t>
            </a:r>
          </a:p>
        </p:txBody>
      </p:sp>
      <p:sp>
        <p:nvSpPr>
          <p:cNvPr id="53" name="TextBox 52"/>
          <p:cNvSpPr txBox="1"/>
          <p:nvPr/>
        </p:nvSpPr>
        <p:spPr>
          <a:xfrm>
            <a:off x="5623559" y="7845552"/>
            <a:ext cx="1062990" cy="621792"/>
          </a:xfrm>
          <a:prstGeom prst="rect">
            <a:avLst/>
          </a:prstGeom>
          <a:noFill/>
        </p:spPr>
        <p:txBody>
          <a:bodyPr wrap="square" anchor="t" lIns="0" rIns="0" tIns="0" bIns="0">
            <a:spAutoFit/>
          </a:bodyPr>
          <a:lstStyle/>
          <a:p>
            <a:pPr algn="l">
              <a:lnSpc>
                <a:spcPct val="108000"/>
              </a:lnSpc>
            </a:pPr>
            <a:r>
              <a:rPr sz="1100" b="0" i="0">
                <a:solidFill>
                  <a:srgbClr val="1F2A44"/>
                </a:solidFill>
                <a:latin typeface="Pretendard"/>
                <a:ea typeface="Pretendard"/>
                <a:cs typeface="Pretendard"/>
              </a:rPr>
              <a:t>판정 실행 → 단일·누적·면적률 + 근거 조항</a:t>
            </a:r>
          </a:p>
        </p:txBody>
      </p:sp>
      <p:sp>
        <p:nvSpPr>
          <p:cNvPr id="54" name="Rounded Rectangle 53"/>
          <p:cNvSpPr/>
          <p:nvPr/>
        </p:nvSpPr>
        <p:spPr>
          <a:xfrm>
            <a:off x="6960870" y="7772400"/>
            <a:ext cx="1657350" cy="731520"/>
          </a:xfrm>
          <a:prstGeom prst="roundRect">
            <a:avLst>
              <a:gd name="adj" fmla="val 8000"/>
            </a:avLst>
          </a:prstGeom>
          <a:solidFill>
            <a:srgbClr val="F2F5FA"/>
          </a:solidFill>
          <a:ln>
            <a:noFill/>
          </a:ln>
        </p:spPr>
        <p:txBody>
          <a:bodyPr rtlCol="0" anchor="ctr"/>
          <a:lstStyle/>
          <a:p/>
        </p:txBody>
      </p:sp>
      <p:sp>
        <p:nvSpPr>
          <p:cNvPr id="55" name="Rounded Rectangle 54"/>
          <p:cNvSpPr/>
          <p:nvPr/>
        </p:nvSpPr>
        <p:spPr>
          <a:xfrm>
            <a:off x="7070598" y="7872983"/>
            <a:ext cx="310896" cy="310896"/>
          </a:xfrm>
          <a:prstGeom prst="roundRect">
            <a:avLst>
              <a:gd name="adj" fmla="val 50000"/>
            </a:avLst>
          </a:prstGeom>
          <a:solidFill>
            <a:srgbClr val="0B2A6B"/>
          </a:solidFill>
          <a:ln>
            <a:noFill/>
          </a:ln>
        </p:spPr>
        <p:txBody>
          <a:bodyPr rtlCol="0" anchor="ctr" lIns="73152" rIns="73152" tIns="0" bIns="0"/>
          <a:lstStyle/>
          <a:p>
            <a:pPr algn="ctr"/>
            <a:r>
              <a:rPr sz="1100" b="1" i="0">
                <a:solidFill>
                  <a:srgbClr val="FFFFFF"/>
                </a:solidFill>
                <a:latin typeface="Pretendard"/>
                <a:ea typeface="Pretendard"/>
                <a:cs typeface="Pretendard"/>
              </a:rPr>
              <a:t>6</a:t>
            </a:r>
          </a:p>
        </p:txBody>
      </p:sp>
      <p:sp>
        <p:nvSpPr>
          <p:cNvPr id="56" name="TextBox 55"/>
          <p:cNvSpPr txBox="1"/>
          <p:nvPr/>
        </p:nvSpPr>
        <p:spPr>
          <a:xfrm>
            <a:off x="7463790" y="7845552"/>
            <a:ext cx="1062990" cy="621792"/>
          </a:xfrm>
          <a:prstGeom prst="rect">
            <a:avLst/>
          </a:prstGeom>
          <a:noFill/>
        </p:spPr>
        <p:txBody>
          <a:bodyPr wrap="square" anchor="t" lIns="0" rIns="0" tIns="0" bIns="0">
            <a:spAutoFit/>
          </a:bodyPr>
          <a:lstStyle/>
          <a:p>
            <a:pPr algn="l">
              <a:lnSpc>
                <a:spcPct val="108000"/>
              </a:lnSpc>
            </a:pPr>
            <a:r>
              <a:rPr sz="1100" b="0" i="0">
                <a:solidFill>
                  <a:srgbClr val="1F2A44"/>
                </a:solidFill>
                <a:latin typeface="Pretendard"/>
                <a:ea typeface="Pretendard"/>
                <a:cs typeface="Pretendard"/>
              </a:rPr>
              <a:t>소견서 초안 → 편집 → 승인 · PDF</a:t>
            </a:r>
          </a:p>
        </p:txBody>
      </p:sp>
      <p:sp>
        <p:nvSpPr>
          <p:cNvPr id="57" name="Rounded Rectangle 56"/>
          <p:cNvSpPr/>
          <p:nvPr/>
        </p:nvSpPr>
        <p:spPr>
          <a:xfrm>
            <a:off x="8801100" y="7772400"/>
            <a:ext cx="1657350" cy="731520"/>
          </a:xfrm>
          <a:prstGeom prst="roundRect">
            <a:avLst>
              <a:gd name="adj" fmla="val 8000"/>
            </a:avLst>
          </a:prstGeom>
          <a:solidFill>
            <a:srgbClr val="F2F5FA"/>
          </a:solidFill>
          <a:ln>
            <a:noFill/>
          </a:ln>
        </p:spPr>
        <p:txBody>
          <a:bodyPr rtlCol="0" anchor="ctr"/>
          <a:lstStyle/>
          <a:p/>
        </p:txBody>
      </p:sp>
      <p:sp>
        <p:nvSpPr>
          <p:cNvPr id="58" name="Rounded Rectangle 57"/>
          <p:cNvSpPr/>
          <p:nvPr/>
        </p:nvSpPr>
        <p:spPr>
          <a:xfrm>
            <a:off x="8910828" y="7872983"/>
            <a:ext cx="310896" cy="310896"/>
          </a:xfrm>
          <a:prstGeom prst="roundRect">
            <a:avLst>
              <a:gd name="adj" fmla="val 50000"/>
            </a:avLst>
          </a:prstGeom>
          <a:solidFill>
            <a:srgbClr val="0B2A6B"/>
          </a:solidFill>
          <a:ln>
            <a:noFill/>
          </a:ln>
        </p:spPr>
        <p:txBody>
          <a:bodyPr rtlCol="0" anchor="ctr" lIns="73152" rIns="73152" tIns="0" bIns="0"/>
          <a:lstStyle/>
          <a:p>
            <a:pPr algn="ctr"/>
            <a:r>
              <a:rPr sz="1100" b="1" i="0">
                <a:solidFill>
                  <a:srgbClr val="FFFFFF"/>
                </a:solidFill>
                <a:latin typeface="Pretendard"/>
                <a:ea typeface="Pretendard"/>
                <a:cs typeface="Pretendard"/>
              </a:rPr>
              <a:t>7</a:t>
            </a:r>
          </a:p>
        </p:txBody>
      </p:sp>
      <p:sp>
        <p:nvSpPr>
          <p:cNvPr id="59" name="TextBox 58"/>
          <p:cNvSpPr txBox="1"/>
          <p:nvPr/>
        </p:nvSpPr>
        <p:spPr>
          <a:xfrm>
            <a:off x="9304020" y="7845552"/>
            <a:ext cx="1062990" cy="621792"/>
          </a:xfrm>
          <a:prstGeom prst="rect">
            <a:avLst/>
          </a:prstGeom>
          <a:noFill/>
        </p:spPr>
        <p:txBody>
          <a:bodyPr wrap="square" anchor="t" lIns="0" rIns="0" tIns="0" bIns="0">
            <a:spAutoFit/>
          </a:bodyPr>
          <a:lstStyle/>
          <a:p>
            <a:pPr algn="l">
              <a:lnSpc>
                <a:spcPct val="108000"/>
              </a:lnSpc>
            </a:pPr>
            <a:r>
              <a:rPr sz="1100" b="0" i="0">
                <a:solidFill>
                  <a:srgbClr val="1F2A44"/>
                </a:solidFill>
                <a:latin typeface="Pretendard"/>
                <a:ea typeface="Pretendard"/>
                <a:cs typeface="Pretendard"/>
              </a:rPr>
              <a:t>자연어로 ‘3번 블록 기공 이력’ 검색·요약</a:t>
            </a:r>
          </a:p>
        </p:txBody>
      </p:sp>
      <p:sp>
        <p:nvSpPr>
          <p:cNvPr id="60" name="Rounded Rectangle 59"/>
          <p:cNvSpPr/>
          <p:nvPr/>
        </p:nvSpPr>
        <p:spPr>
          <a:xfrm>
            <a:off x="10641330" y="7772400"/>
            <a:ext cx="1657350" cy="731520"/>
          </a:xfrm>
          <a:prstGeom prst="roundRect">
            <a:avLst>
              <a:gd name="adj" fmla="val 8000"/>
            </a:avLst>
          </a:prstGeom>
          <a:solidFill>
            <a:srgbClr val="F2F5FA"/>
          </a:solidFill>
          <a:ln>
            <a:noFill/>
          </a:ln>
        </p:spPr>
        <p:txBody>
          <a:bodyPr rtlCol="0" anchor="ctr"/>
          <a:lstStyle/>
          <a:p/>
        </p:txBody>
      </p:sp>
      <p:sp>
        <p:nvSpPr>
          <p:cNvPr id="61" name="Rounded Rectangle 60"/>
          <p:cNvSpPr/>
          <p:nvPr/>
        </p:nvSpPr>
        <p:spPr>
          <a:xfrm>
            <a:off x="10751057" y="7872983"/>
            <a:ext cx="310896" cy="310896"/>
          </a:xfrm>
          <a:prstGeom prst="roundRect">
            <a:avLst>
              <a:gd name="adj" fmla="val 50000"/>
            </a:avLst>
          </a:prstGeom>
          <a:solidFill>
            <a:srgbClr val="0B2A6B"/>
          </a:solidFill>
          <a:ln>
            <a:noFill/>
          </a:ln>
        </p:spPr>
        <p:txBody>
          <a:bodyPr rtlCol="0" anchor="ctr" lIns="73152" rIns="73152" tIns="0" bIns="0"/>
          <a:lstStyle/>
          <a:p>
            <a:pPr algn="ctr"/>
            <a:r>
              <a:rPr sz="1100" b="1" i="0">
                <a:solidFill>
                  <a:srgbClr val="FFFFFF"/>
                </a:solidFill>
                <a:latin typeface="Pretendard"/>
                <a:ea typeface="Pretendard"/>
                <a:cs typeface="Pretendard"/>
              </a:rPr>
              <a:t>8</a:t>
            </a:r>
          </a:p>
        </p:txBody>
      </p:sp>
      <p:sp>
        <p:nvSpPr>
          <p:cNvPr id="62" name="TextBox 61"/>
          <p:cNvSpPr txBox="1"/>
          <p:nvPr/>
        </p:nvSpPr>
        <p:spPr>
          <a:xfrm>
            <a:off x="11144250" y="7845552"/>
            <a:ext cx="1062990" cy="621792"/>
          </a:xfrm>
          <a:prstGeom prst="rect">
            <a:avLst/>
          </a:prstGeom>
          <a:noFill/>
        </p:spPr>
        <p:txBody>
          <a:bodyPr wrap="square" anchor="t" lIns="0" rIns="0" tIns="0" bIns="0">
            <a:spAutoFit/>
          </a:bodyPr>
          <a:lstStyle/>
          <a:p>
            <a:pPr algn="l">
              <a:lnSpc>
                <a:spcPct val="108000"/>
              </a:lnSpc>
            </a:pPr>
            <a:r>
              <a:rPr sz="1100" b="0" i="0">
                <a:solidFill>
                  <a:srgbClr val="1F2A44"/>
                </a:solidFill>
                <a:latin typeface="Pretendard"/>
                <a:ea typeface="Pretendard"/>
                <a:cs typeface="Pretendard"/>
              </a:rPr>
              <a:t>채택률·미탐 지표 확인 · YOLO 라벨 export</a:t>
            </a:r>
          </a:p>
        </p:txBody>
      </p:sp>
      <p:sp>
        <p:nvSpPr>
          <p:cNvPr id="63" name="TextBox 62"/>
          <p:cNvSpPr txBox="1"/>
          <p:nvPr/>
        </p:nvSpPr>
        <p:spPr>
          <a:xfrm>
            <a:off x="5120640" y="8796528"/>
            <a:ext cx="7178040" cy="411480"/>
          </a:xfrm>
          <a:prstGeom prst="rect">
            <a:avLst/>
          </a:prstGeom>
          <a:noFill/>
        </p:spPr>
        <p:txBody>
          <a:bodyPr wrap="square" anchor="t" lIns="0" rIns="0" tIns="0" bIns="0">
            <a:spAutoFit/>
          </a:bodyPr>
          <a:lstStyle/>
          <a:p>
            <a:pPr algn="l">
              <a:lnSpc>
                <a:spcPct val="108000"/>
              </a:lnSpc>
            </a:pPr>
            <a:r>
              <a:rPr sz="950" b="0" i="0">
                <a:solidFill>
                  <a:srgbClr val="5B6B8C"/>
                </a:solidFill>
                <a:latin typeface="Pretendard"/>
                <a:ea typeface="Pretendard"/>
                <a:cs typeface="Pretendard"/>
              </a:rPr>
              <a:t>균열 포함 불합격 1건 + 무결함 합격 1건, 합성 RT 필름으로 시연(실필름은 현장 보안 통제로 기간 내 확보 곤란). 오른쪽 화면의 후보 박스는 OpenCV 폴백 탐지기 출력(탐지 임계 0.5는 내부값, 화면 슬라이더는 표시 필터)</a:t>
            </a:r>
          </a:p>
        </p:txBody>
      </p:sp>
      <p:sp>
        <p:nvSpPr>
          <p:cNvPr id="64" name="Rounded Rectangle 63"/>
          <p:cNvSpPr/>
          <p:nvPr/>
        </p:nvSpPr>
        <p:spPr>
          <a:xfrm>
            <a:off x="12893040" y="4389120"/>
            <a:ext cx="4782311" cy="4864607"/>
          </a:xfrm>
          <a:prstGeom prst="roundRect">
            <a:avLst>
              <a:gd name="adj" fmla="val 3500"/>
            </a:avLst>
          </a:prstGeom>
          <a:solidFill>
            <a:srgbClr val="FFFFFF"/>
          </a:solidFill>
          <a:ln w="9525">
            <a:solidFill>
              <a:srgbClr val="D9E0EC"/>
            </a:solidFill>
          </a:ln>
        </p:spPr>
        <p:txBody>
          <a:bodyPr rtlCol="0" anchor="ctr"/>
          <a:lstStyle/>
          <a:p/>
        </p:txBody>
      </p:sp>
      <p:sp>
        <p:nvSpPr>
          <p:cNvPr id="65" name="TextBox 64"/>
          <p:cNvSpPr txBox="1"/>
          <p:nvPr/>
        </p:nvSpPr>
        <p:spPr>
          <a:xfrm>
            <a:off x="13213080" y="4617720"/>
            <a:ext cx="4142231" cy="292608"/>
          </a:xfrm>
          <a:prstGeom prst="rect">
            <a:avLst/>
          </a:prstGeom>
          <a:noFill/>
        </p:spPr>
        <p:txBody>
          <a:bodyPr wrap="square" anchor="t" lIns="0" rIns="0" tIns="0" bIns="0">
            <a:spAutoFit/>
          </a:bodyPr>
          <a:lstStyle/>
          <a:p>
            <a:pPr algn="l">
              <a:lnSpc>
                <a:spcPct val="112000"/>
              </a:lnSpc>
            </a:pPr>
            <a:r>
              <a:rPr sz="1400" b="1" i="0">
                <a:solidFill>
                  <a:srgbClr val="0B2A6B"/>
                </a:solidFill>
                <a:latin typeface="Pretendard"/>
                <a:ea typeface="Pretendard"/>
                <a:cs typeface="Pretendard"/>
              </a:rPr>
              <a:t>동작 프로토타입 화면</a:t>
            </a:r>
          </a:p>
        </p:txBody>
      </p:sp>
      <p:pic>
        <p:nvPicPr>
          <p:cNvPr id="66" name="Picture 65" descr="app_shot.png"/>
          <p:cNvPicPr>
            <a:picLocks noChangeAspect="1"/>
          </p:cNvPicPr>
          <p:nvPr/>
        </p:nvPicPr>
        <p:blipFill>
          <a:blip r:embed="rId3"/>
          <a:stretch>
            <a:fillRect/>
          </a:stretch>
        </p:blipFill>
        <p:spPr>
          <a:xfrm>
            <a:off x="13213080" y="5010912"/>
            <a:ext cx="4142231" cy="2816717"/>
          </a:xfrm>
          <a:prstGeom prst="rect">
            <a:avLst/>
          </a:prstGeom>
          <a:ln w="9525">
            <a:solidFill>
              <a:srgbClr val="D9E0EC"/>
            </a:solidFill>
          </a:ln>
        </p:spPr>
      </p:pic>
      <p:sp>
        <p:nvSpPr>
          <p:cNvPr id="67" name="TextBox 66"/>
          <p:cNvSpPr txBox="1"/>
          <p:nvPr/>
        </p:nvSpPr>
        <p:spPr>
          <a:xfrm>
            <a:off x="13213080" y="8686800"/>
            <a:ext cx="4142231" cy="457200"/>
          </a:xfrm>
          <a:prstGeom prst="rect">
            <a:avLst/>
          </a:prstGeom>
          <a:noFill/>
        </p:spPr>
        <p:txBody>
          <a:bodyPr wrap="square" anchor="t" lIns="0" rIns="0" tIns="0" bIns="0">
            <a:spAutoFit/>
          </a:bodyPr>
          <a:lstStyle/>
          <a:p>
            <a:pPr algn="l">
              <a:lnSpc>
                <a:spcPct val="112000"/>
              </a:lnSpc>
            </a:pPr>
            <a:r>
              <a:rPr sz="1050" b="0" i="0">
                <a:solidFill>
                  <a:srgbClr val="5B6B8C"/>
                </a:solidFill>
                <a:latin typeface="Pretendard"/>
                <a:ea typeface="Pretendard"/>
                <a:cs typeface="Pretendard"/>
              </a:rPr>
              <a:t>합성 RT 필름 · AI 후보 오버레이(주황) · 클릭 도구 · 스케일 확정 — Streamlit 앱 실제 화면</a:t>
            </a:r>
          </a:p>
        </p:txBody>
      </p:sp>
      <p:sp>
        <p:nvSpPr>
          <p:cNvPr id="68" name="TextBox 67"/>
          <p:cNvSpPr txBox="1"/>
          <p:nvPr/>
        </p:nvSpPr>
        <p:spPr>
          <a:xfrm>
            <a:off x="4800600" y="9299448"/>
            <a:ext cx="12874752" cy="502920"/>
          </a:xfrm>
          <a:prstGeom prst="rect">
            <a:avLst/>
          </a:prstGeom>
          <a:noFill/>
        </p:spPr>
        <p:txBody>
          <a:bodyPr wrap="square" anchor="t" lIns="0" rIns="0" tIns="0" bIns="0">
            <a:spAutoFit/>
          </a:bodyPr>
          <a:lstStyle/>
          <a:p>
            <a:pPr algn="l">
              <a:lnSpc>
                <a:spcPct val="108000"/>
              </a:lnSpc>
            </a:pPr>
            <a:r>
              <a:rPr sz="850" b="0" i="0">
                <a:solidFill>
                  <a:srgbClr val="5B6B8C"/>
                </a:solidFill>
                <a:latin typeface="Pretendard"/>
                <a:ea typeface="Pretendard"/>
                <a:cs typeface="Pretendard"/>
              </a:rPr>
              <a:t>출처: rt-workbench 저장소(2026.09 — 테스트 195건·E2E 로그·탐지 측정 스크립트) · IACS UR W33 Rev.1/Corr.1(2021) §8.2·8.5 보고 항목 · 화면은 Streamlit 앱 실제 캡처(합성 필름)</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5FA"/>
        </a:solidFill>
        <a:effectLst/>
      </p:bgPr>
    </p:bg>
    <p:spTree>
      <p:nvGrpSpPr>
        <p:cNvPr id="1" name=""/>
        <p:cNvGrpSpPr/>
        <p:nvPr/>
      </p:nvGrpSpPr>
      <p:grpSpPr>
        <a:xfrm>
          <a:off x="0" y="0"/>
          <a:ext cx="0" cy="0"/>
          <a:chOff x="0" y="0"/>
          <a:chExt cx="0" cy="0"/>
        </a:xfrm>
      </p:grpSpPr>
      <p:sp>
        <p:nvSpPr>
          <p:cNvPr id="2" name="Shape 0"/>
          <p:cNvSpPr/>
          <p:nvPr/>
        </p:nvSpPr>
        <p:spPr>
          <a:xfrm>
            <a:off x="0" y="0"/>
            <a:ext cx="4191000" cy="10287000"/>
          </a:xfrm>
          <a:prstGeom prst="rect">
            <a:avLst/>
          </a:prstGeom>
          <a:solidFill>
            <a:srgbClr val="0B2A6B"/>
          </a:solidFill>
          <a:ln/>
        </p:spPr>
        <p:txBody>
          <a:bodyPr/>
          <a:lstStyle/>
          <a:p>
            <a:endParaRPr lang="ko-KR" altLang="en-US"/>
          </a:p>
        </p:txBody>
      </p:sp>
      <p:sp>
        <p:nvSpPr>
          <p:cNvPr id="3" name="Text 1"/>
          <p:cNvSpPr/>
          <p:nvPr/>
        </p:nvSpPr>
        <p:spPr>
          <a:xfrm>
            <a:off x="571500" y="685800"/>
            <a:ext cx="924669" cy="603796"/>
          </a:xfrm>
          <a:prstGeom prst="rect">
            <a:avLst/>
          </a:prstGeom>
          <a:noFill/>
          <a:ln/>
        </p:spPr>
        <p:txBody>
          <a:bodyPr wrap="square" lIns="25400" tIns="25400" rIns="25400" bIns="25400" rtlCol="0" anchor="t">
            <a:normAutofit/>
          </a:bodyPr>
          <a:lstStyle/>
          <a:p>
            <a:pPr marL="0" indent="0" algn="l">
              <a:lnSpc>
                <a:spcPct val="77143"/>
              </a:lnSpc>
              <a:buNone/>
            </a:pPr>
            <a:r>
              <a:rPr lang="en-US" sz="4950" b="1" dirty="0">
                <a:solidFill>
                  <a:srgbClr val="4FD0F5"/>
                </a:solidFill>
                <a:latin typeface="Pretendard" pitchFamily="34" charset="0"/>
                <a:ea typeface="Pretendard" pitchFamily="34" charset="-122"/>
                <a:cs typeface="Pretendard" pitchFamily="34" charset="-120"/>
              </a:rPr>
              <a:t>04</a:t>
            </a:r>
            <a:endParaRPr lang="en-US" sz="4950" dirty="0"/>
          </a:p>
        </p:txBody>
      </p:sp>
      <p:sp>
        <p:nvSpPr>
          <p:cNvPr id="4" name="Shape 2"/>
          <p:cNvSpPr/>
          <p:nvPr/>
        </p:nvSpPr>
        <p:spPr>
          <a:xfrm>
            <a:off x="1648569" y="1028700"/>
            <a:ext cx="533400" cy="28575"/>
          </a:xfrm>
          <a:prstGeom prst="rect">
            <a:avLst/>
          </a:prstGeom>
          <a:solidFill>
            <a:srgbClr val="7FDCFF">
              <a:alpha val="50000"/>
            </a:srgbClr>
          </a:solidFill>
          <a:ln/>
        </p:spPr>
        <p:txBody>
          <a:bodyPr/>
          <a:lstStyle/>
          <a:p>
            <a:endParaRPr lang="ko-KR" altLang="en-US"/>
          </a:p>
        </p:txBody>
      </p:sp>
      <p:sp>
        <p:nvSpPr>
          <p:cNvPr id="5" name="Text 3"/>
          <p:cNvSpPr/>
          <p:nvPr/>
        </p:nvSpPr>
        <p:spPr>
          <a:xfrm>
            <a:off x="571500" y="1613446"/>
            <a:ext cx="3296412" cy="1089422"/>
          </a:xfrm>
          <a:prstGeom prst="rect">
            <a:avLst/>
          </a:prstGeom>
          <a:noFill/>
          <a:ln/>
        </p:spPr>
        <p:txBody>
          <a:bodyPr wrap="square" lIns="25400" tIns="25400" rIns="25400" bIns="25400" rtlCol="0" anchor="t">
            <a:normAutofit lnSpcReduction="10000"/>
          </a:bodyPr>
          <a:lstStyle/>
          <a:p>
            <a:pPr marL="0" indent="0" algn="l">
              <a:lnSpc>
                <a:spcPct val="102222"/>
              </a:lnSpc>
              <a:buNone/>
            </a:pPr>
            <a:r>
              <a:rPr lang="en-US" sz="3450" b="1" kern="0" spc="-69" dirty="0">
                <a:solidFill>
                  <a:srgbClr val="FFFFFF"/>
                </a:solidFill>
                <a:latin typeface="Pretendard" pitchFamily="34" charset="0"/>
                <a:ea typeface="Pretendard" pitchFamily="34" charset="-122"/>
                <a:cs typeface="Pretendard" pitchFamily="34" charset="-120"/>
              </a:rPr>
              <a:t>필요 </a:t>
            </a:r>
            <a:r>
              <a:rPr lang="en-US" sz="3450" b="1" kern="0" spc="-69" dirty="0" err="1">
                <a:solidFill>
                  <a:srgbClr val="FFFFFF"/>
                </a:solidFill>
                <a:latin typeface="Pretendard" pitchFamily="34" charset="0"/>
                <a:ea typeface="Pretendard" pitchFamily="34" charset="-122"/>
                <a:cs typeface="Pretendard" pitchFamily="34" charset="-120"/>
              </a:rPr>
              <a:t>데이터</a:t>
            </a:r>
            <a:r>
              <a:rPr lang="en-US" sz="3450" b="1" kern="0" spc="-69" dirty="0">
                <a:solidFill>
                  <a:srgbClr val="FFFFFF"/>
                </a:solidFill>
                <a:latin typeface="Pretendard" pitchFamily="34" charset="0"/>
                <a:ea typeface="Pretendard" pitchFamily="34" charset="-122"/>
                <a:cs typeface="Pretendard" pitchFamily="34" charset="-120"/>
              </a:rPr>
              <a:t> 및</a:t>
            </a:r>
          </a:p>
          <a:p>
            <a:pPr marL="0" indent="0" algn="l">
              <a:lnSpc>
                <a:spcPct val="102222"/>
              </a:lnSpc>
              <a:buNone/>
            </a:pPr>
            <a:r>
              <a:rPr lang="en-US" sz="3450" b="1" kern="0" spc="-69" dirty="0" err="1">
                <a:solidFill>
                  <a:srgbClr val="FFFFFF"/>
                </a:solidFill>
                <a:latin typeface="Pretendard" pitchFamily="34" charset="0"/>
                <a:ea typeface="Pretendard" pitchFamily="34" charset="-122"/>
                <a:cs typeface="Pretendard" pitchFamily="34" charset="-120"/>
              </a:rPr>
              <a:t>확보</a:t>
            </a:r>
            <a:r>
              <a:rPr lang="en-US" sz="3450" b="1" kern="0" spc="-69" dirty="0">
                <a:solidFill>
                  <a:srgbClr val="FFFFFF"/>
                </a:solidFill>
                <a:latin typeface="Pretendard" pitchFamily="34" charset="0"/>
                <a:ea typeface="Pretendard" pitchFamily="34" charset="-122"/>
                <a:cs typeface="Pretendard" pitchFamily="34" charset="-120"/>
              </a:rPr>
              <a:t> 방안</a:t>
            </a:r>
            <a:endParaRPr lang="en-US" sz="3450" dirty="0"/>
          </a:p>
        </p:txBody>
      </p:sp>
      <p:sp>
        <p:nvSpPr>
          <p:cNvPr id="6" name="Shape 4"/>
          <p:cNvSpPr/>
          <p:nvPr/>
        </p:nvSpPr>
        <p:spPr>
          <a:xfrm>
            <a:off x="571500" y="3026718"/>
            <a:ext cx="3200400" cy="19050"/>
          </a:xfrm>
          <a:prstGeom prst="rect">
            <a:avLst/>
          </a:prstGeom>
          <a:solidFill>
            <a:srgbClr val="7FDCFF">
              <a:alpha val="35000"/>
            </a:srgbClr>
          </a:solidFill>
          <a:ln/>
        </p:spPr>
        <p:txBody>
          <a:bodyPr/>
          <a:lstStyle/>
          <a:p>
            <a:endParaRPr lang="ko-KR" altLang="en-US"/>
          </a:p>
        </p:txBody>
      </p:sp>
      <p:sp>
        <p:nvSpPr>
          <p:cNvPr id="7" name="Text 5"/>
          <p:cNvSpPr/>
          <p:nvPr/>
        </p:nvSpPr>
        <p:spPr>
          <a:xfrm>
            <a:off x="571500" y="3312468"/>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활용 예정 데이터</a:t>
            </a:r>
            <a:endParaRPr lang="en-US" sz="2025" dirty="0"/>
          </a:p>
        </p:txBody>
      </p:sp>
      <p:sp>
        <p:nvSpPr>
          <p:cNvPr id="8" name="Text 6"/>
          <p:cNvSpPr/>
          <p:nvPr/>
        </p:nvSpPr>
        <p:spPr>
          <a:xfrm>
            <a:off x="571500" y="3702993"/>
            <a:ext cx="3296412" cy="70098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FFFFFF">
                    <a:alpha val="72000"/>
                  </a:srgbClr>
                </a:solidFill>
                <a:latin typeface="Pretendard" pitchFamily="34" charset="0"/>
                <a:ea typeface="Pretendard" pitchFamily="34" charset="-122"/>
                <a:cs typeface="Pretendard" pitchFamily="34" charset="-120"/>
              </a:rPr>
              <a:t>데이터 유형·형태·규모(예: 설비 센서 로그, 도면 이미지, 텍스트 문서 등)</a:t>
            </a:r>
            <a:endParaRPr lang="en-US" sz="1800" dirty="0"/>
          </a:p>
        </p:txBody>
      </p:sp>
      <p:sp>
        <p:nvSpPr>
          <p:cNvPr id="9" name="Text 7"/>
          <p:cNvSpPr/>
          <p:nvPr/>
        </p:nvSpPr>
        <p:spPr>
          <a:xfrm>
            <a:off x="571500" y="4613523"/>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확보 방법</a:t>
            </a:r>
            <a:endParaRPr lang="en-US" sz="2025" dirty="0"/>
          </a:p>
        </p:txBody>
      </p:sp>
      <p:sp>
        <p:nvSpPr>
          <p:cNvPr id="10" name="Text 8"/>
          <p:cNvSpPr/>
          <p:nvPr/>
        </p:nvSpPr>
        <p:spPr>
          <a:xfrm>
            <a:off x="571500" y="5004048"/>
            <a:ext cx="3296412" cy="70098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FFFFFF">
                    <a:alpha val="72000"/>
                  </a:srgbClr>
                </a:solidFill>
                <a:latin typeface="Pretendard" pitchFamily="34" charset="0"/>
                <a:ea typeface="Pretendard" pitchFamily="34" charset="-122"/>
                <a:cs typeface="Pretendard" pitchFamily="34" charset="-120"/>
              </a:rPr>
              <a:t>공개 데이터 / 직접 수집 / 합성 데이터 생성 / 크롤링 등 구체적 경로</a:t>
            </a:r>
            <a:endParaRPr lang="en-US" sz="1800" dirty="0"/>
          </a:p>
        </p:txBody>
      </p:sp>
      <p:sp>
        <p:nvSpPr>
          <p:cNvPr id="11" name="Text 9"/>
          <p:cNvSpPr/>
          <p:nvPr/>
        </p:nvSpPr>
        <p:spPr>
          <a:xfrm>
            <a:off x="571500" y="5914579"/>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대체 방안</a:t>
            </a:r>
            <a:endParaRPr lang="en-US" sz="2025" dirty="0"/>
          </a:p>
        </p:txBody>
      </p:sp>
      <p:sp>
        <p:nvSpPr>
          <p:cNvPr id="12" name="Text 10"/>
          <p:cNvSpPr/>
          <p:nvPr/>
        </p:nvSpPr>
        <p:spPr>
          <a:xfrm>
            <a:off x="571500" y="6305104"/>
            <a:ext cx="3296412" cy="70098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FFFFFF">
                    <a:alpha val="72000"/>
                  </a:srgbClr>
                </a:solidFill>
                <a:latin typeface="Pretendard" pitchFamily="34" charset="0"/>
                <a:ea typeface="Pretendard" pitchFamily="34" charset="-122"/>
                <a:cs typeface="Pretendard" pitchFamily="34" charset="-120"/>
              </a:rPr>
              <a:t>데이터 확보가 어려울 경우의 대안 또는 축소 실행안</a:t>
            </a:r>
            <a:endParaRPr lang="en-US" sz="1800" dirty="0"/>
          </a:p>
        </p:txBody>
      </p:sp>
      <p:sp>
        <p:nvSpPr>
          <p:cNvPr id="13" name="Shape 11"/>
          <p:cNvSpPr/>
          <p:nvPr/>
        </p:nvSpPr>
        <p:spPr>
          <a:xfrm>
            <a:off x="4800600" y="1057275"/>
            <a:ext cx="12877800" cy="19050"/>
          </a:xfrm>
          <a:prstGeom prst="rect">
            <a:avLst/>
          </a:prstGeom>
          <a:solidFill>
            <a:srgbClr val="0B2A6B"/>
          </a:solidFill>
          <a:ln/>
        </p:spPr>
        <p:txBody>
          <a:bodyPr/>
          <a:lstStyle/>
          <a:p>
            <a:endParaRPr lang="ko-KR" altLang="en-US"/>
          </a:p>
        </p:txBody>
      </p:sp>
      <p:sp>
        <p:nvSpPr>
          <p:cNvPr id="14" name="Text 12"/>
          <p:cNvSpPr/>
          <p:nvPr/>
        </p:nvSpPr>
        <p:spPr>
          <a:xfrm>
            <a:off x="4800600" y="571500"/>
            <a:ext cx="852041" cy="333375"/>
          </a:xfrm>
          <a:prstGeom prst="rect">
            <a:avLst/>
          </a:prstGeom>
          <a:noFill/>
          <a:ln/>
        </p:spPr>
        <p:txBody>
          <a:bodyPr wrap="square" lIns="25400" tIns="25400" rIns="25400" bIns="25400" rtlCol="0" anchor="t">
            <a:normAutofit/>
          </a:bodyPr>
          <a:lstStyle/>
          <a:p>
            <a:pPr marL="0" indent="0" algn="l">
              <a:buNone/>
            </a:pPr>
            <a:r>
              <a:rPr lang="en-US" sz="1950" b="1" kern="0" spc="351" dirty="0">
                <a:solidFill>
                  <a:srgbClr val="0B2A6B"/>
                </a:solidFill>
                <a:latin typeface="Pretendard" pitchFamily="34" charset="0"/>
                <a:ea typeface="Pretendard" pitchFamily="34" charset="-122"/>
                <a:cs typeface="Pretendard" pitchFamily="34" charset="-120"/>
              </a:rPr>
              <a:t>작성란</a:t>
            </a:r>
            <a:endParaRPr lang="en-US" sz="1950" dirty="0"/>
          </a:p>
        </p:txBody>
      </p:sp>
      <p:sp>
        <p:nvSpPr>
          <p:cNvPr id="15" name="Text 13"/>
          <p:cNvSpPr/>
          <p:nvPr/>
        </p:nvSpPr>
        <p:spPr>
          <a:xfrm>
            <a:off x="15126444" y="571500"/>
            <a:ext cx="2807151" cy="333375"/>
          </a:xfrm>
          <a:prstGeom prst="rect">
            <a:avLst/>
          </a:prstGeom>
          <a:noFill/>
          <a:ln/>
        </p:spPr>
        <p:txBody>
          <a:bodyPr wrap="square" lIns="25400" tIns="25400" rIns="25400" bIns="25400" rtlCol="0" anchor="t">
            <a:normAutofit/>
          </a:bodyPr>
          <a:lstStyle/>
          <a:p>
            <a:pPr marL="0" indent="0" algn="l">
              <a:buNone/>
            </a:pPr>
            <a:r>
              <a:rPr lang="en-US" sz="1950" b="1" dirty="0">
                <a:solidFill>
                  <a:srgbClr val="8B9AB5"/>
                </a:solidFill>
                <a:latin typeface="Pretendard" pitchFamily="34" charset="0"/>
                <a:ea typeface="Pretendard" pitchFamily="34" charset="-122"/>
                <a:cs typeface="Pretendard" pitchFamily="34" charset="-120"/>
              </a:rPr>
              <a:t>2026 K-조선 해커톤 · 05</a:t>
            </a:r>
            <a:endParaRPr lang="en-US" sz="1950" dirty="0"/>
          </a:p>
        </p:txBody>
      </p:sp>
      <p:sp>
        <p:nvSpPr>
          <p:cNvPr id="16" name="Oval 15"/>
          <p:cNvSpPr/>
          <p:nvPr/>
        </p:nvSpPr>
        <p:spPr>
          <a:xfrm>
            <a:off x="4800600" y="1472184"/>
            <a:ext cx="146304" cy="146304"/>
          </a:xfrm>
          <a:prstGeom prst="ellipse">
            <a:avLst/>
          </a:prstGeom>
          <a:solidFill>
            <a:srgbClr val="4FD0F5"/>
          </a:solidFill>
          <a:ln>
            <a:noFill/>
          </a:ln>
        </p:spPr>
        <p:txBody>
          <a:bodyPr rtlCol="0" anchor="ctr"/>
          <a:lstStyle/>
          <a:p>
            <a:pPr algn="ctr"/>
          </a:p>
        </p:txBody>
      </p:sp>
      <p:sp>
        <p:nvSpPr>
          <p:cNvPr id="17" name="TextBox 16"/>
          <p:cNvSpPr txBox="1"/>
          <p:nvPr/>
        </p:nvSpPr>
        <p:spPr>
          <a:xfrm>
            <a:off x="5047488" y="1371600"/>
            <a:ext cx="12627864" cy="384048"/>
          </a:xfrm>
          <a:prstGeom prst="rect">
            <a:avLst/>
          </a:prstGeom>
          <a:noFill/>
        </p:spPr>
        <p:txBody>
          <a:bodyPr wrap="square" anchor="t" lIns="0" rIns="0" tIns="0" bIns="0">
            <a:spAutoFit/>
          </a:bodyPr>
          <a:lstStyle/>
          <a:p>
            <a:pPr algn="l">
              <a:lnSpc>
                <a:spcPct val="112000"/>
              </a:lnSpc>
            </a:pPr>
            <a:r>
              <a:rPr sz="2000" b="1" i="0">
                <a:solidFill>
                  <a:srgbClr val="0B2A6B"/>
                </a:solidFill>
                <a:latin typeface="Pretendard"/>
                <a:ea typeface="Pretendard"/>
                <a:cs typeface="Pretendard"/>
              </a:rPr>
              <a:t>활용 예정 데이터</a:t>
            </a:r>
          </a:p>
        </p:txBody>
      </p:sp>
      <p:sp>
        <p:nvSpPr>
          <p:cNvPr id="18" name="Rounded Rectangle 17"/>
          <p:cNvSpPr/>
          <p:nvPr/>
        </p:nvSpPr>
        <p:spPr>
          <a:xfrm>
            <a:off x="4800600" y="1874519"/>
            <a:ext cx="4108704" cy="2606040"/>
          </a:xfrm>
          <a:prstGeom prst="roundRect">
            <a:avLst>
              <a:gd name="adj" fmla="val 3500"/>
            </a:avLst>
          </a:prstGeom>
          <a:solidFill>
            <a:srgbClr val="FFFFFF"/>
          </a:solidFill>
          <a:ln w="9525">
            <a:solidFill>
              <a:srgbClr val="D9E0EC"/>
            </a:solidFill>
          </a:ln>
        </p:spPr>
        <p:txBody>
          <a:bodyPr rtlCol="0" anchor="ctr"/>
          <a:lstStyle/>
          <a:p/>
        </p:txBody>
      </p:sp>
      <p:sp>
        <p:nvSpPr>
          <p:cNvPr id="19" name="TextBox 18"/>
          <p:cNvSpPr txBox="1"/>
          <p:nvPr/>
        </p:nvSpPr>
        <p:spPr>
          <a:xfrm>
            <a:off x="5074920" y="2130552"/>
            <a:ext cx="3560064" cy="365760"/>
          </a:xfrm>
          <a:prstGeom prst="rect">
            <a:avLst/>
          </a:prstGeom>
          <a:noFill/>
        </p:spPr>
        <p:txBody>
          <a:bodyPr wrap="square" anchor="t" lIns="0" rIns="0" tIns="0" bIns="0">
            <a:spAutoFit/>
          </a:bodyPr>
          <a:lstStyle/>
          <a:p>
            <a:pPr algn="l">
              <a:lnSpc>
                <a:spcPct val="112000"/>
              </a:lnSpc>
            </a:pPr>
            <a:r>
              <a:rPr sz="1600" b="1" i="0">
                <a:solidFill>
                  <a:srgbClr val="0B2A6B"/>
                </a:solidFill>
                <a:latin typeface="Pretendard"/>
                <a:ea typeface="Pretendard"/>
                <a:cs typeface="Pretendard"/>
              </a:rPr>
              <a:t>AI Hub 용접 AI 학습 데이터</a:t>
            </a:r>
          </a:p>
        </p:txBody>
      </p:sp>
      <p:sp>
        <p:nvSpPr>
          <p:cNvPr id="20" name="Rounded Rectangle 19"/>
          <p:cNvSpPr/>
          <p:nvPr/>
        </p:nvSpPr>
        <p:spPr>
          <a:xfrm>
            <a:off x="5074920" y="2587752"/>
            <a:ext cx="3108960" cy="329184"/>
          </a:xfrm>
          <a:prstGeom prst="roundRect">
            <a:avLst>
              <a:gd name="adj" fmla="val 50000"/>
            </a:avLst>
          </a:prstGeom>
          <a:solidFill>
            <a:srgbClr val="E3F6FD"/>
          </a:solidFill>
          <a:ln>
            <a:noFill/>
          </a:ln>
        </p:spPr>
        <p:txBody>
          <a:bodyPr rtlCol="0" anchor="ctr" lIns="73152" rIns="73152" tIns="0" bIns="0"/>
          <a:lstStyle/>
          <a:p>
            <a:pPr algn="ctr"/>
            <a:r>
              <a:rPr sz="1100" b="1" i="0">
                <a:solidFill>
                  <a:srgbClr val="0B2A6B"/>
                </a:solidFill>
                <a:latin typeface="Pretendard"/>
                <a:ea typeface="Pretendard"/>
                <a:cs typeface="Pretendard"/>
              </a:rPr>
              <a:t>AI Hub 71761 · NIA 2023</a:t>
            </a:r>
          </a:p>
        </p:txBody>
      </p:sp>
      <p:sp>
        <p:nvSpPr>
          <p:cNvPr id="21" name="TextBox 20"/>
          <p:cNvSpPr txBox="1"/>
          <p:nvPr/>
        </p:nvSpPr>
        <p:spPr>
          <a:xfrm>
            <a:off x="5074920" y="2971800"/>
            <a:ext cx="3560064" cy="1097280"/>
          </a:xfrm>
          <a:prstGeom prst="rect">
            <a:avLst/>
          </a:prstGeom>
          <a:noFill/>
        </p:spPr>
        <p:txBody>
          <a:bodyPr wrap="square" anchor="t" lIns="0" rIns="0" tIns="0" bIns="0">
            <a:spAutoFit/>
          </a:bodyPr>
          <a:lstStyle/>
          <a:p>
            <a:pPr algn="l">
              <a:lnSpc>
                <a:spcPct val="108000"/>
              </a:lnSpc>
            </a:pPr>
            <a:r>
              <a:rPr sz="1050" b="0" i="0">
                <a:solidFill>
                  <a:srgbClr val="1F2A44"/>
                </a:solidFill>
                <a:latin typeface="Pretendard"/>
                <a:ea typeface="Pretendard"/>
                <a:cs typeface="Pretendard"/>
              </a:rPr>
              <a:t>「창원 지역 특화산업 고도화 및 디지털 전환 촉진을 위한 용접 AI 학습 데이터」 — 강재(RT·VT)·알루미늄(RT) 용접 이미지 144,019장(RT 70,000장 — 활용 신청 시 페이지에서 확인한 수치), 폴리곤 JSON 라벨, 공식 활용예시 YOLOv5x-seg</a:t>
            </a:r>
          </a:p>
        </p:txBody>
      </p:sp>
      <p:sp>
        <p:nvSpPr>
          <p:cNvPr id="22" name="Rounded Rectangle 21"/>
          <p:cNvSpPr/>
          <p:nvPr/>
        </p:nvSpPr>
        <p:spPr>
          <a:xfrm>
            <a:off x="5074920" y="3913632"/>
            <a:ext cx="2011680" cy="329184"/>
          </a:xfrm>
          <a:prstGeom prst="roundRect">
            <a:avLst>
              <a:gd name="adj" fmla="val 50000"/>
            </a:avLst>
          </a:prstGeom>
          <a:solidFill>
            <a:srgbClr val="0B2A6B"/>
          </a:solidFill>
          <a:ln>
            <a:noFill/>
          </a:ln>
        </p:spPr>
        <p:txBody>
          <a:bodyPr rtlCol="0" anchor="ctr" lIns="73152" rIns="73152" tIns="0" bIns="0"/>
          <a:lstStyle/>
          <a:p>
            <a:pPr algn="ctr"/>
            <a:r>
              <a:rPr sz="1150" b="1" i="0">
                <a:solidFill>
                  <a:srgbClr val="FFFFFF"/>
                </a:solidFill>
                <a:latin typeface="Pretendard"/>
                <a:ea typeface="Pretendard"/>
                <a:cs typeface="Pretendard"/>
              </a:rPr>
              <a:t>주력 학습</a:t>
            </a:r>
          </a:p>
        </p:txBody>
      </p:sp>
      <p:sp>
        <p:nvSpPr>
          <p:cNvPr id="23" name="Rounded Rectangle 22"/>
          <p:cNvSpPr/>
          <p:nvPr/>
        </p:nvSpPr>
        <p:spPr>
          <a:xfrm>
            <a:off x="9183624" y="1874519"/>
            <a:ext cx="4108704" cy="2606040"/>
          </a:xfrm>
          <a:prstGeom prst="roundRect">
            <a:avLst>
              <a:gd name="adj" fmla="val 3500"/>
            </a:avLst>
          </a:prstGeom>
          <a:solidFill>
            <a:srgbClr val="FFFFFF"/>
          </a:solidFill>
          <a:ln w="9525">
            <a:solidFill>
              <a:srgbClr val="D9E0EC"/>
            </a:solidFill>
          </a:ln>
        </p:spPr>
        <p:txBody>
          <a:bodyPr rtlCol="0" anchor="ctr"/>
          <a:lstStyle/>
          <a:p/>
        </p:txBody>
      </p:sp>
      <p:sp>
        <p:nvSpPr>
          <p:cNvPr id="24" name="TextBox 23"/>
          <p:cNvSpPr txBox="1"/>
          <p:nvPr/>
        </p:nvSpPr>
        <p:spPr>
          <a:xfrm>
            <a:off x="9457944" y="2130552"/>
            <a:ext cx="3560064" cy="365760"/>
          </a:xfrm>
          <a:prstGeom prst="rect">
            <a:avLst/>
          </a:prstGeom>
          <a:noFill/>
        </p:spPr>
        <p:txBody>
          <a:bodyPr wrap="square" anchor="t" lIns="0" rIns="0" tIns="0" bIns="0">
            <a:spAutoFit/>
          </a:bodyPr>
          <a:lstStyle/>
          <a:p>
            <a:pPr algn="l">
              <a:lnSpc>
                <a:spcPct val="112000"/>
              </a:lnSpc>
            </a:pPr>
            <a:r>
              <a:rPr sz="1600" b="1" i="0">
                <a:solidFill>
                  <a:srgbClr val="0B2A6B"/>
                </a:solidFill>
                <a:latin typeface="Pretendard"/>
                <a:ea typeface="Pretendard"/>
                <a:cs typeface="Pretendard"/>
              </a:rPr>
              <a:t>RIAWELC</a:t>
            </a:r>
          </a:p>
        </p:txBody>
      </p:sp>
      <p:sp>
        <p:nvSpPr>
          <p:cNvPr id="25" name="Rounded Rectangle 24"/>
          <p:cNvSpPr/>
          <p:nvPr/>
        </p:nvSpPr>
        <p:spPr>
          <a:xfrm>
            <a:off x="9457944" y="2587752"/>
            <a:ext cx="3108960" cy="329184"/>
          </a:xfrm>
          <a:prstGeom prst="roundRect">
            <a:avLst>
              <a:gd name="adj" fmla="val 50000"/>
            </a:avLst>
          </a:prstGeom>
          <a:solidFill>
            <a:srgbClr val="E3F6FD"/>
          </a:solidFill>
          <a:ln>
            <a:noFill/>
          </a:ln>
        </p:spPr>
        <p:txBody>
          <a:bodyPr rtlCol="0" anchor="ctr" lIns="73152" rIns="73152" tIns="0" bIns="0"/>
          <a:lstStyle/>
          <a:p>
            <a:pPr algn="ctr"/>
            <a:r>
              <a:rPr sz="1100" b="1" i="0">
                <a:solidFill>
                  <a:srgbClr val="0B2A6B"/>
                </a:solidFill>
                <a:latin typeface="Pretendard"/>
                <a:ea typeface="Pretendard"/>
                <a:cs typeface="Pretendard"/>
              </a:rPr>
              <a:t>GitHub 공개 · Perri 외 2022</a:t>
            </a:r>
          </a:p>
        </p:txBody>
      </p:sp>
      <p:sp>
        <p:nvSpPr>
          <p:cNvPr id="26" name="TextBox 25"/>
          <p:cNvSpPr txBox="1"/>
          <p:nvPr/>
        </p:nvSpPr>
        <p:spPr>
          <a:xfrm>
            <a:off x="9457944" y="2971800"/>
            <a:ext cx="3560064" cy="1097280"/>
          </a:xfrm>
          <a:prstGeom prst="rect">
            <a:avLst/>
          </a:prstGeom>
          <a:noFill/>
        </p:spPr>
        <p:txBody>
          <a:bodyPr wrap="square" anchor="t" lIns="0" rIns="0" tIns="0" bIns="0">
            <a:spAutoFit/>
          </a:bodyPr>
          <a:lstStyle/>
          <a:p>
            <a:pPr algn="l">
              <a:lnSpc>
                <a:spcPct val="108000"/>
              </a:lnSpc>
            </a:pPr>
            <a:r>
              <a:rPr sz="1050" b="0" i="0">
                <a:solidFill>
                  <a:srgbClr val="1F2A44"/>
                </a:solidFill>
                <a:latin typeface="Pretendard"/>
                <a:ea typeface="Pretendard"/>
                <a:cs typeface="Pretendard"/>
              </a:rPr>
              <a:t>224×224(공칭) 패치 24,407장 · 4클래스 분류(균열 7,635 · 기공 6,320 · 용입부족 4,452 · 정상 6,000 — 클래스명 매핑은 문헌 기준, 원저자 확인 예정) — bbox 없음, 2000×8640 산업 방사선 원본에서 잘라낸 패치, 라이선스 파일 없음(논문 인용 의무)</a:t>
            </a:r>
          </a:p>
        </p:txBody>
      </p:sp>
      <p:sp>
        <p:nvSpPr>
          <p:cNvPr id="27" name="Rounded Rectangle 26"/>
          <p:cNvSpPr/>
          <p:nvPr/>
        </p:nvSpPr>
        <p:spPr>
          <a:xfrm>
            <a:off x="9457944" y="3913632"/>
            <a:ext cx="2011680" cy="329184"/>
          </a:xfrm>
          <a:prstGeom prst="roundRect">
            <a:avLst>
              <a:gd name="adj" fmla="val 50000"/>
            </a:avLst>
          </a:prstGeom>
          <a:solidFill>
            <a:srgbClr val="0B2A6B"/>
          </a:solidFill>
          <a:ln>
            <a:noFill/>
          </a:ln>
        </p:spPr>
        <p:txBody>
          <a:bodyPr rtlCol="0" anchor="ctr" lIns="73152" rIns="73152" tIns="0" bIns="0"/>
          <a:lstStyle/>
          <a:p>
            <a:pPr algn="ctr"/>
            <a:r>
              <a:rPr sz="1150" b="1" i="0">
                <a:solidFill>
                  <a:srgbClr val="FFFFFF"/>
                </a:solidFill>
                <a:latin typeface="Pretendard"/>
                <a:ea typeface="Pretendard"/>
                <a:cs typeface="Pretendard"/>
              </a:rPr>
              <a:t>사전학습·분류 검증</a:t>
            </a:r>
          </a:p>
        </p:txBody>
      </p:sp>
      <p:sp>
        <p:nvSpPr>
          <p:cNvPr id="28" name="Rounded Rectangle 27"/>
          <p:cNvSpPr/>
          <p:nvPr/>
        </p:nvSpPr>
        <p:spPr>
          <a:xfrm>
            <a:off x="13566648" y="1874519"/>
            <a:ext cx="4108704" cy="2606040"/>
          </a:xfrm>
          <a:prstGeom prst="roundRect">
            <a:avLst>
              <a:gd name="adj" fmla="val 3500"/>
            </a:avLst>
          </a:prstGeom>
          <a:solidFill>
            <a:srgbClr val="FFFFFF"/>
          </a:solidFill>
          <a:ln w="9525">
            <a:solidFill>
              <a:srgbClr val="D9E0EC"/>
            </a:solidFill>
          </a:ln>
        </p:spPr>
        <p:txBody>
          <a:bodyPr rtlCol="0" anchor="ctr"/>
          <a:lstStyle/>
          <a:p/>
        </p:txBody>
      </p:sp>
      <p:sp>
        <p:nvSpPr>
          <p:cNvPr id="29" name="TextBox 28"/>
          <p:cNvSpPr txBox="1"/>
          <p:nvPr/>
        </p:nvSpPr>
        <p:spPr>
          <a:xfrm>
            <a:off x="13840968" y="2130552"/>
            <a:ext cx="3560064" cy="365760"/>
          </a:xfrm>
          <a:prstGeom prst="rect">
            <a:avLst/>
          </a:prstGeom>
          <a:noFill/>
        </p:spPr>
        <p:txBody>
          <a:bodyPr wrap="square" anchor="t" lIns="0" rIns="0" tIns="0" bIns="0">
            <a:spAutoFit/>
          </a:bodyPr>
          <a:lstStyle/>
          <a:p>
            <a:pPr algn="l">
              <a:lnSpc>
                <a:spcPct val="112000"/>
              </a:lnSpc>
            </a:pPr>
            <a:r>
              <a:rPr sz="1600" b="1" i="0">
                <a:solidFill>
                  <a:srgbClr val="0B2A6B"/>
                </a:solidFill>
                <a:latin typeface="Pretendard"/>
                <a:ea typeface="Pretendard"/>
                <a:cs typeface="Pretendard"/>
              </a:rPr>
              <a:t>GDXray Welds</a:t>
            </a:r>
          </a:p>
        </p:txBody>
      </p:sp>
      <p:sp>
        <p:nvSpPr>
          <p:cNvPr id="30" name="Rounded Rectangle 29"/>
          <p:cNvSpPr/>
          <p:nvPr/>
        </p:nvSpPr>
        <p:spPr>
          <a:xfrm>
            <a:off x="13840968" y="2587752"/>
            <a:ext cx="3108960" cy="329184"/>
          </a:xfrm>
          <a:prstGeom prst="roundRect">
            <a:avLst>
              <a:gd name="adj" fmla="val 50000"/>
            </a:avLst>
          </a:prstGeom>
          <a:solidFill>
            <a:srgbClr val="E3F6FD"/>
          </a:solidFill>
          <a:ln>
            <a:noFill/>
          </a:ln>
        </p:spPr>
        <p:txBody>
          <a:bodyPr rtlCol="0" anchor="ctr" lIns="73152" rIns="73152" tIns="0" bIns="0"/>
          <a:lstStyle/>
          <a:p>
            <a:pPr algn="ctr"/>
            <a:r>
              <a:rPr sz="1100" b="1" i="0">
                <a:solidFill>
                  <a:srgbClr val="0B2A6B"/>
                </a:solidFill>
                <a:latin typeface="Pretendard"/>
                <a:ea typeface="Pretendard"/>
                <a:cs typeface="Pretendard"/>
              </a:rPr>
              <a:t>Mery et al. 2015 · BAM 제공</a:t>
            </a:r>
          </a:p>
        </p:txBody>
      </p:sp>
      <p:sp>
        <p:nvSpPr>
          <p:cNvPr id="31" name="TextBox 30"/>
          <p:cNvSpPr txBox="1"/>
          <p:nvPr/>
        </p:nvSpPr>
        <p:spPr>
          <a:xfrm>
            <a:off x="13840968" y="2971800"/>
            <a:ext cx="3560064" cy="1097280"/>
          </a:xfrm>
          <a:prstGeom prst="rect">
            <a:avLst/>
          </a:prstGeom>
          <a:noFill/>
        </p:spPr>
        <p:txBody>
          <a:bodyPr wrap="square" anchor="t" lIns="0" rIns="0" tIns="0" bIns="0">
            <a:spAutoFit/>
          </a:bodyPr>
          <a:lstStyle/>
          <a:p>
            <a:pPr algn="l">
              <a:lnSpc>
                <a:spcPct val="108000"/>
              </a:lnSpc>
            </a:pPr>
            <a:r>
              <a:rPr sz="1050" b="0" i="0">
                <a:solidFill>
                  <a:srgbClr val="1F2A44"/>
                </a:solidFill>
                <a:latin typeface="Pretendard"/>
                <a:ea typeface="Pretendard"/>
                <a:cs typeface="Pretendard"/>
              </a:rPr>
              <a:t>3시리즈 88장 — W0001 10장 + W0002 정답 마스크(결함 641개 bbox·이진 GT), W0003 BAM 라운드로빈 필름 68장(논문 표 기준, 본문은 67장; ISO 17636-1 A급 촬영, ISO 14096-2 DB급 스캔) · 연구·교육 목적만</a:t>
            </a:r>
          </a:p>
        </p:txBody>
      </p:sp>
      <p:sp>
        <p:nvSpPr>
          <p:cNvPr id="32" name="Rounded Rectangle 31"/>
          <p:cNvSpPr/>
          <p:nvPr/>
        </p:nvSpPr>
        <p:spPr>
          <a:xfrm>
            <a:off x="13840968" y="3913632"/>
            <a:ext cx="2011680" cy="329184"/>
          </a:xfrm>
          <a:prstGeom prst="roundRect">
            <a:avLst>
              <a:gd name="adj" fmla="val 50000"/>
            </a:avLst>
          </a:prstGeom>
          <a:solidFill>
            <a:srgbClr val="0B2A6B"/>
          </a:solidFill>
          <a:ln>
            <a:noFill/>
          </a:ln>
        </p:spPr>
        <p:txBody>
          <a:bodyPr rtlCol="0" anchor="ctr" lIns="73152" rIns="73152" tIns="0" bIns="0"/>
          <a:lstStyle/>
          <a:p>
            <a:pPr algn="ctr"/>
            <a:r>
              <a:rPr sz="1150" b="1" i="0">
                <a:solidFill>
                  <a:srgbClr val="FFFFFF"/>
                </a:solidFill>
                <a:latin typeface="Pretendard"/>
                <a:ea typeface="Pretendard"/>
                <a:cs typeface="Pretendard"/>
              </a:rPr>
              <a:t>탐지 교차 검증</a:t>
            </a:r>
          </a:p>
        </p:txBody>
      </p:sp>
      <p:sp>
        <p:nvSpPr>
          <p:cNvPr id="33" name="TextBox 32"/>
          <p:cNvSpPr txBox="1"/>
          <p:nvPr/>
        </p:nvSpPr>
        <p:spPr>
          <a:xfrm>
            <a:off x="4800600" y="4572000"/>
            <a:ext cx="12874752" cy="566928"/>
          </a:xfrm>
          <a:prstGeom prst="rect">
            <a:avLst/>
          </a:prstGeom>
          <a:noFill/>
        </p:spPr>
        <p:txBody>
          <a:bodyPr wrap="square" anchor="t" lIns="0" rIns="0" tIns="0" bIns="0">
            <a:spAutoFit/>
          </a:bodyPr>
          <a:lstStyle/>
          <a:p>
            <a:pPr algn="l">
              <a:lnSpc>
                <a:spcPct val="108000"/>
              </a:lnSpc>
            </a:pPr>
            <a:r>
              <a:rPr sz="1050" b="0" i="0">
                <a:solidFill>
                  <a:srgbClr val="5B6B8C"/>
                </a:solidFill>
                <a:latin typeface="Pretendard"/>
                <a:ea typeface="Pretendard"/>
                <a:cs typeface="Pretendard"/>
              </a:rPr>
              <a:t>형태·규모는 위와 같고(3종 모두 실존 확인, 수치는 논문·README·신청 확인 기준) AI Hub 폴리곤 라벨은 YOLO bbox로 변환, RIAWELC는 위치정보가 없어 분류 사전학습에만 사용. AI Hub는 내국인 활용 신청·승인 필요·국외 반출 금지·NIA 출처 표기 의무, GDXray는 상업 이용 금지, RIAWELC는 공개 분할의 학습·테스트 중복이 확인되어 자체 재분할</a:t>
            </a:r>
          </a:p>
        </p:txBody>
      </p:sp>
      <p:sp>
        <p:nvSpPr>
          <p:cNvPr id="34" name="Rounded Rectangle 33"/>
          <p:cNvSpPr/>
          <p:nvPr/>
        </p:nvSpPr>
        <p:spPr>
          <a:xfrm>
            <a:off x="4800600" y="5212080"/>
            <a:ext cx="6400800" cy="4041647"/>
          </a:xfrm>
          <a:prstGeom prst="roundRect">
            <a:avLst>
              <a:gd name="adj" fmla="val 3500"/>
            </a:avLst>
          </a:prstGeom>
          <a:solidFill>
            <a:srgbClr val="FFFFFF"/>
          </a:solidFill>
          <a:ln w="9525">
            <a:solidFill>
              <a:srgbClr val="D9E0EC"/>
            </a:solidFill>
          </a:ln>
        </p:spPr>
        <p:txBody>
          <a:bodyPr rtlCol="0" anchor="ctr"/>
          <a:lstStyle/>
          <a:p/>
        </p:txBody>
      </p:sp>
      <p:sp>
        <p:nvSpPr>
          <p:cNvPr id="35" name="Oval 34"/>
          <p:cNvSpPr/>
          <p:nvPr/>
        </p:nvSpPr>
        <p:spPr>
          <a:xfrm>
            <a:off x="5120640" y="5586984"/>
            <a:ext cx="146304" cy="146304"/>
          </a:xfrm>
          <a:prstGeom prst="ellipse">
            <a:avLst/>
          </a:prstGeom>
          <a:solidFill>
            <a:srgbClr val="4FD0F5"/>
          </a:solidFill>
          <a:ln>
            <a:noFill/>
          </a:ln>
        </p:spPr>
        <p:txBody>
          <a:bodyPr rtlCol="0" anchor="ctr"/>
          <a:lstStyle/>
          <a:p>
            <a:pPr algn="ctr"/>
          </a:p>
        </p:txBody>
      </p:sp>
      <p:sp>
        <p:nvSpPr>
          <p:cNvPr id="36" name="TextBox 35"/>
          <p:cNvSpPr txBox="1"/>
          <p:nvPr/>
        </p:nvSpPr>
        <p:spPr>
          <a:xfrm>
            <a:off x="5367527" y="5486400"/>
            <a:ext cx="5513831" cy="384048"/>
          </a:xfrm>
          <a:prstGeom prst="rect">
            <a:avLst/>
          </a:prstGeom>
          <a:noFill/>
        </p:spPr>
        <p:txBody>
          <a:bodyPr wrap="square" anchor="t" lIns="0" rIns="0" tIns="0" bIns="0">
            <a:spAutoFit/>
          </a:bodyPr>
          <a:lstStyle/>
          <a:p>
            <a:pPr algn="l">
              <a:lnSpc>
                <a:spcPct val="112000"/>
              </a:lnSpc>
            </a:pPr>
            <a:r>
              <a:rPr sz="2000" b="1" i="0">
                <a:solidFill>
                  <a:srgbClr val="0B2A6B"/>
                </a:solidFill>
                <a:latin typeface="Pretendard"/>
                <a:ea typeface="Pretendard"/>
                <a:cs typeface="Pretendard"/>
              </a:rPr>
              <a:t>확보 방법</a:t>
            </a:r>
          </a:p>
        </p:txBody>
      </p:sp>
      <p:sp>
        <p:nvSpPr>
          <p:cNvPr id="37" name="TextBox 36"/>
          <p:cNvSpPr txBox="1"/>
          <p:nvPr/>
        </p:nvSpPr>
        <p:spPr>
          <a:xfrm>
            <a:off x="5120640" y="6080760"/>
            <a:ext cx="5760720" cy="3035807"/>
          </a:xfrm>
          <a:prstGeom prst="rect">
            <a:avLst/>
          </a:prstGeom>
          <a:noFill/>
        </p:spPr>
        <p:txBody>
          <a:bodyPr wrap="square" anchor="t" lIns="0" rIns="0" tIns="0" bIns="0">
            <a:spAutoFit/>
          </a:bodyPr>
          <a:lstStyle/>
          <a:p>
            <a:pPr marL="182562" indent="-182562">
              <a:lnSpc>
                <a:spcPct val="114000"/>
              </a:lnSpc>
              <a:spcAft>
                <a:spcPts val="800"/>
              </a:spcAft>
              <a:buClr>
                <a:srgbClr val="4FD0F5"/>
              </a:buClr>
              <a:buFont typeface="Arial"/>
              <a:buChar char="•"/>
            </a:pPr>
            <a:r>
              <a:rPr sz="1250" b="1" i="0">
                <a:solidFill>
                  <a:srgbClr val="1F2A44"/>
                </a:solidFill>
                <a:latin typeface="Pretendard"/>
                <a:ea typeface="Pretendard"/>
                <a:cs typeface="Pretendard"/>
              </a:rPr>
              <a:t>공개 데이터</a:t>
            </a:r>
            <a:r>
              <a:rPr sz="1250" b="0" i="0">
                <a:solidFill>
                  <a:srgbClr val="1F2A44"/>
                </a:solidFill>
                <a:latin typeface="Pretendard"/>
                <a:ea typeface="Pretendard"/>
                <a:cs typeface="Pretendard"/>
              </a:rPr>
              <a:t>: AI Hub 활용 신청(내국인·승인 수일) — 일부 검색 결과는 이 데이터셋을 국방데이터로 분류해 군 담당자 별도 승인이 필요하다고 언급하므로 </a:t>
            </a:r>
            <a:r>
              <a:rPr sz="1250" b="1" i="0">
                <a:solidFill>
                  <a:srgbClr val="1F2A44"/>
                </a:solidFill>
                <a:latin typeface="Pretendard"/>
                <a:ea typeface="Pretendard"/>
                <a:cs typeface="Pretendard"/>
              </a:rPr>
              <a:t>신청 시 접근 가능 여부를 최우선 확인</a:t>
            </a:r>
            <a:r>
              <a:rPr sz="1250" b="0" i="0">
                <a:solidFill>
                  <a:srgbClr val="1F2A44"/>
                </a:solidFill>
                <a:latin typeface="Pretendard"/>
                <a:ea typeface="Pretendard"/>
                <a:cs typeface="Pretendard"/>
              </a:rPr>
              <a:t>(불가 시 RIAWELC+GDXray+SWRD로 전환). RIAWELC·GDXray는 직접 다운로드</a:t>
            </a:r>
          </a:p>
          <a:p>
            <a:pPr marL="182562" indent="-182562">
              <a:lnSpc>
                <a:spcPct val="114000"/>
              </a:lnSpc>
              <a:spcAft>
                <a:spcPts val="800"/>
              </a:spcAft>
              <a:buClr>
                <a:srgbClr val="4FD0F5"/>
              </a:buClr>
              <a:buFont typeface="Arial"/>
              <a:buChar char="•"/>
            </a:pPr>
            <a:r>
              <a:rPr sz="1250" b="1" i="0">
                <a:solidFill>
                  <a:srgbClr val="1F2A44"/>
                </a:solidFill>
                <a:latin typeface="Pretendard"/>
                <a:ea typeface="Pretendard"/>
                <a:cs typeface="Pretendard"/>
              </a:rPr>
              <a:t>합성 데이터</a:t>
            </a:r>
            <a:r>
              <a:rPr sz="1250" b="0" i="0">
                <a:solidFill>
                  <a:srgbClr val="1F2A44"/>
                </a:solidFill>
                <a:latin typeface="Pretendard"/>
                <a:ea typeface="Pretendard"/>
                <a:cs typeface="Pretendard"/>
              </a:rPr>
              <a:t>: 개발·시연용 합성 RT 필름 생성기(IQI·납마커·결함 시딩) — 프로토타입 포함, 재현율·오탐 측정에 사용</a:t>
            </a:r>
          </a:p>
          <a:p>
            <a:pPr marL="182562" indent="-182562">
              <a:lnSpc>
                <a:spcPct val="114000"/>
              </a:lnSpc>
              <a:spcAft>
                <a:spcPts val="800"/>
              </a:spcAft>
              <a:buClr>
                <a:srgbClr val="4FD0F5"/>
              </a:buClr>
              <a:buFont typeface="Arial"/>
              <a:buChar char="•"/>
            </a:pPr>
            <a:r>
              <a:rPr sz="1250" b="1" i="0">
                <a:solidFill>
                  <a:srgbClr val="1F2A44"/>
                </a:solidFill>
                <a:latin typeface="Pretendard"/>
                <a:ea typeface="Pretendard"/>
                <a:cs typeface="Pretendard"/>
              </a:rPr>
              <a:t>자체 축적</a:t>
            </a:r>
            <a:r>
              <a:rPr sz="1250" b="0" i="0">
                <a:solidFill>
                  <a:srgbClr val="1F2A44"/>
                </a:solidFill>
                <a:latin typeface="Pretendard"/>
                <a:ea typeface="Pretendard"/>
                <a:cs typeface="Pretendard"/>
              </a:rPr>
              <a:t>: 채택·직접 추가 bbox가 YOLO 라벨로 export되는 구조 — 데이터는 검사업체·조선소 소유, 반출 없이 온프레미스 보관</a:t>
            </a:r>
          </a:p>
          <a:p>
            <a:pPr marL="182562" indent="-182562">
              <a:lnSpc>
                <a:spcPct val="114000"/>
              </a:lnSpc>
              <a:spcAft>
                <a:spcPts val="800"/>
              </a:spcAft>
              <a:buClr>
                <a:srgbClr val="4FD0F5"/>
              </a:buClr>
              <a:buFont typeface="Arial"/>
              <a:buChar char="•"/>
            </a:pPr>
            <a:r>
              <a:rPr sz="1250" b="1" i="0">
                <a:solidFill>
                  <a:srgbClr val="1F2A44"/>
                </a:solidFill>
                <a:latin typeface="Pretendard"/>
                <a:ea typeface="Pretendard"/>
                <a:cs typeface="Pretendard"/>
              </a:rPr>
              <a:t>필름 디지털화 전제</a:t>
            </a:r>
            <a:r>
              <a:rPr sz="1250" b="0" i="0">
                <a:solidFill>
                  <a:srgbClr val="1F2A44"/>
                </a:solidFill>
                <a:latin typeface="Pretendard"/>
                <a:ea typeface="Pretendard"/>
                <a:cs typeface="Pretendard"/>
              </a:rPr>
              <a:t>: ISO 14096-2 등급(DS/DB/DA) 디지타이저는 3만 달러급 장비(VIDAR NDT PRO 리셀러 가격 기준) → 조직 공용 장비 또는 국내 RT 필름 스캔 서비스로 확보</a:t>
            </a:r>
          </a:p>
        </p:txBody>
      </p:sp>
      <p:sp>
        <p:nvSpPr>
          <p:cNvPr id="38" name="Rounded Rectangle 37"/>
          <p:cNvSpPr/>
          <p:nvPr/>
        </p:nvSpPr>
        <p:spPr>
          <a:xfrm>
            <a:off x="11475720" y="5212080"/>
            <a:ext cx="6199631" cy="4041647"/>
          </a:xfrm>
          <a:prstGeom prst="roundRect">
            <a:avLst>
              <a:gd name="adj" fmla="val 3500"/>
            </a:avLst>
          </a:prstGeom>
          <a:solidFill>
            <a:srgbClr val="FFFFFF"/>
          </a:solidFill>
          <a:ln w="9525">
            <a:solidFill>
              <a:srgbClr val="D9E0EC"/>
            </a:solidFill>
          </a:ln>
        </p:spPr>
        <p:txBody>
          <a:bodyPr rtlCol="0" anchor="ctr"/>
          <a:lstStyle/>
          <a:p/>
        </p:txBody>
      </p:sp>
      <p:sp>
        <p:nvSpPr>
          <p:cNvPr id="39" name="Oval 38"/>
          <p:cNvSpPr/>
          <p:nvPr/>
        </p:nvSpPr>
        <p:spPr>
          <a:xfrm>
            <a:off x="11795760" y="5586984"/>
            <a:ext cx="146304" cy="146304"/>
          </a:xfrm>
          <a:prstGeom prst="ellipse">
            <a:avLst/>
          </a:prstGeom>
          <a:solidFill>
            <a:srgbClr val="4FD0F5"/>
          </a:solidFill>
          <a:ln>
            <a:noFill/>
          </a:ln>
        </p:spPr>
        <p:txBody>
          <a:bodyPr rtlCol="0" anchor="ctr"/>
          <a:lstStyle/>
          <a:p>
            <a:pPr algn="ctr"/>
          </a:p>
        </p:txBody>
      </p:sp>
      <p:sp>
        <p:nvSpPr>
          <p:cNvPr id="40" name="TextBox 39"/>
          <p:cNvSpPr txBox="1"/>
          <p:nvPr/>
        </p:nvSpPr>
        <p:spPr>
          <a:xfrm>
            <a:off x="12042648" y="5486400"/>
            <a:ext cx="5312663" cy="384048"/>
          </a:xfrm>
          <a:prstGeom prst="rect">
            <a:avLst/>
          </a:prstGeom>
          <a:noFill/>
        </p:spPr>
        <p:txBody>
          <a:bodyPr wrap="square" anchor="t" lIns="0" rIns="0" tIns="0" bIns="0">
            <a:spAutoFit/>
          </a:bodyPr>
          <a:lstStyle/>
          <a:p>
            <a:pPr algn="l">
              <a:lnSpc>
                <a:spcPct val="112000"/>
              </a:lnSpc>
            </a:pPr>
            <a:r>
              <a:rPr sz="2000" b="1" i="0">
                <a:solidFill>
                  <a:srgbClr val="0B2A6B"/>
                </a:solidFill>
                <a:latin typeface="Pretendard"/>
                <a:ea typeface="Pretendard"/>
                <a:cs typeface="Pretendard"/>
              </a:rPr>
              <a:t>대체 방안</a:t>
            </a:r>
          </a:p>
        </p:txBody>
      </p:sp>
      <p:sp>
        <p:nvSpPr>
          <p:cNvPr id="41" name="TextBox 40"/>
          <p:cNvSpPr txBox="1"/>
          <p:nvPr/>
        </p:nvSpPr>
        <p:spPr>
          <a:xfrm>
            <a:off x="11795760" y="6080760"/>
            <a:ext cx="5559551" cy="3035807"/>
          </a:xfrm>
          <a:prstGeom prst="rect">
            <a:avLst/>
          </a:prstGeom>
          <a:noFill/>
        </p:spPr>
        <p:txBody>
          <a:bodyPr wrap="square" anchor="t" lIns="0" rIns="0" tIns="0" bIns="0">
            <a:spAutoFit/>
          </a:bodyPr>
          <a:lstStyle/>
          <a:p>
            <a:pPr marL="182562" indent="-182562">
              <a:lnSpc>
                <a:spcPct val="114000"/>
              </a:lnSpc>
              <a:spcAft>
                <a:spcPts val="800"/>
              </a:spcAft>
              <a:buClr>
                <a:srgbClr val="4FD0F5"/>
              </a:buClr>
              <a:buFont typeface="Arial"/>
              <a:buChar char="•"/>
            </a:pPr>
            <a:r>
              <a:rPr sz="1250" b="0" i="0">
                <a:solidFill>
                  <a:srgbClr val="1F2A44"/>
                </a:solidFill>
                <a:latin typeface="Pretendard"/>
                <a:ea typeface="Pretendard"/>
                <a:cs typeface="Pretendard"/>
              </a:rPr>
              <a:t>AI Hub 승인 지연·제공 제한 시 </a:t>
            </a:r>
            <a:r>
              <a:rPr sz="1250" b="1" i="0">
                <a:solidFill>
                  <a:srgbClr val="1F2A44"/>
                </a:solidFill>
                <a:latin typeface="Pretendard"/>
                <a:ea typeface="Pretendard"/>
                <a:cs typeface="Pretendard"/>
              </a:rPr>
              <a:t>RIAWELC 사전학습 + GDXray W0001·W0002(결함 641개 bbox+GT) 탐지 검증</a:t>
            </a:r>
            <a:r>
              <a:rPr sz="1250" b="0" i="0">
                <a:solidFill>
                  <a:srgbClr val="1F2A44"/>
                </a:solidFill>
                <a:latin typeface="Pretendard"/>
                <a:ea typeface="Pretendard"/>
                <a:cs typeface="Pretendard"/>
              </a:rPr>
              <a:t>으로 대체 — 분류→탐지 전이의 한계는 수치로 공개. 폴리곤 라벨 공개 데이터 SWRD(2025, 3,600장 이상)도 후보(라이선스 확인 후)</a:t>
            </a:r>
          </a:p>
          <a:p>
            <a:pPr marL="182562" indent="-182562">
              <a:lnSpc>
                <a:spcPct val="114000"/>
              </a:lnSpc>
              <a:spcAft>
                <a:spcPts val="800"/>
              </a:spcAft>
              <a:buClr>
                <a:srgbClr val="4FD0F5"/>
              </a:buClr>
              <a:buFont typeface="Arial"/>
              <a:buChar char="•"/>
            </a:pPr>
            <a:r>
              <a:rPr sz="1250" b="0" i="0">
                <a:solidFill>
                  <a:srgbClr val="1F2A44"/>
                </a:solidFill>
                <a:latin typeface="Pretendard"/>
                <a:ea typeface="Pretendard"/>
                <a:cs typeface="Pretendard"/>
              </a:rPr>
              <a:t>실 조선소 필름은 보안 통제로 기간 내 확보 곤란 → 공개 데이터 + 합성 필름으로 시연하고 </a:t>
            </a:r>
            <a:r>
              <a:rPr sz="1250" b="1" i="0">
                <a:solidFill>
                  <a:srgbClr val="1F2A44"/>
                </a:solidFill>
                <a:latin typeface="Pretendard"/>
                <a:ea typeface="Pretendard"/>
                <a:cs typeface="Pretendard"/>
              </a:rPr>
              <a:t>야드 파일럿 필요를 명시</a:t>
            </a:r>
          </a:p>
          <a:p>
            <a:pPr marL="182562" indent="-182562">
              <a:lnSpc>
                <a:spcPct val="114000"/>
              </a:lnSpc>
              <a:spcAft>
                <a:spcPts val="800"/>
              </a:spcAft>
              <a:buClr>
                <a:srgbClr val="4FD0F5"/>
              </a:buClr>
              <a:buFont typeface="Arial"/>
              <a:buChar char="•"/>
            </a:pPr>
            <a:r>
              <a:rPr sz="1250" b="0" i="0">
                <a:solidFill>
                  <a:srgbClr val="1F2A44"/>
                </a:solidFill>
                <a:latin typeface="Pretendard"/>
                <a:ea typeface="Pretendard"/>
                <a:cs typeface="Pretendard"/>
              </a:rPr>
              <a:t>성능 목표는 </a:t>
            </a:r>
            <a:r>
              <a:rPr sz="1250" b="1" i="0">
                <a:solidFill>
                  <a:srgbClr val="1F2A44"/>
                </a:solidFill>
                <a:latin typeface="Pretendard"/>
                <a:ea typeface="Pretendard"/>
                <a:cs typeface="Pretendard"/>
              </a:rPr>
              <a:t>재현율 우선</a:t>
            </a:r>
            <a:r>
              <a:rPr sz="1250" b="0" i="0">
                <a:solidFill>
                  <a:srgbClr val="1F2A44"/>
                </a:solidFill>
                <a:latin typeface="Pretendard"/>
                <a:ea typeface="Pretendard"/>
                <a:cs typeface="Pretendard"/>
              </a:rPr>
              <a:t>: 채택 운영점에서 재현율 ≥ 95%·장당 오탐 ≤ 5건(AI Hub RT 테스트셋), mAP는 보조 지표. 문헌은 정제셋 mAP@0.5 약 93~97%(Lu 2025·MGDR-YOLO 2026), 강관 X-ray 세트는 99%(DSF-YOLO 2025)까지 보고하지만 데이터셋 간 제로샷 전이는 macro-F1 약 64%로 급락(WeldVGG, Sensors 2025) → </a:t>
            </a:r>
            <a:r>
              <a:rPr sz="1250" b="1" i="0">
                <a:solidFill>
                  <a:srgbClr val="1F2A44"/>
                </a:solidFill>
                <a:latin typeface="Pretendard"/>
                <a:ea typeface="Pretendard"/>
                <a:cs typeface="Pretendard"/>
              </a:rPr>
              <a:t>한계까지 측정·공개</a:t>
            </a:r>
          </a:p>
        </p:txBody>
      </p:sp>
      <p:sp>
        <p:nvSpPr>
          <p:cNvPr id="42" name="TextBox 41"/>
          <p:cNvSpPr txBox="1"/>
          <p:nvPr/>
        </p:nvSpPr>
        <p:spPr>
          <a:xfrm>
            <a:off x="4800600" y="9299448"/>
            <a:ext cx="12874752" cy="502920"/>
          </a:xfrm>
          <a:prstGeom prst="rect">
            <a:avLst/>
          </a:prstGeom>
          <a:noFill/>
        </p:spPr>
        <p:txBody>
          <a:bodyPr wrap="square" anchor="t" lIns="0" rIns="0" tIns="0" bIns="0">
            <a:spAutoFit/>
          </a:bodyPr>
          <a:lstStyle/>
          <a:p>
            <a:pPr algn="l">
              <a:lnSpc>
                <a:spcPct val="108000"/>
              </a:lnSpc>
            </a:pPr>
            <a:r>
              <a:rPr sz="850" b="0" i="0">
                <a:solidFill>
                  <a:srgbClr val="5B6B8C"/>
                </a:solidFill>
                <a:latin typeface="Pretendard"/>
                <a:ea typeface="Pretendard"/>
                <a:cs typeface="Pretendard"/>
              </a:rPr>
              <a:t>출처: Mery et al., J Nondestruct Eval 34:42(2015) 본문·표 5 · RIAWELC GitHub README, Totino·Spagnolo·Perri ICMECE 2022/IJECER 2023 · AI Hub 71761(활용 신청 시 확인 자료·검색 요약 — 페이지 자동 조회 미검증)·이용정책 · WeldVGG, Sensors 25(19):6183(2025) · Heliyon 2024 e30590(ResNet50 정확도 98.75/90.3/75.8%) · Lu et al., J Nondestruct Eval 44:91(2025, 개선 YOLOv8, GDXray mAP@0.5 97.2%) · MGDR-YOLO, Sensors 2026 · DSF-YOLO, Sci Rep 2025 · SWRD, J Nondestruct Eval 2025 · ISO 14096-2, VIDAR NDT PRO 리셀러 가격(검색 요약 기준)</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5FA"/>
        </a:solidFill>
        <a:effectLst/>
      </p:bgPr>
    </p:bg>
    <p:spTree>
      <p:nvGrpSpPr>
        <p:cNvPr id="1" name=""/>
        <p:cNvGrpSpPr/>
        <p:nvPr/>
      </p:nvGrpSpPr>
      <p:grpSpPr>
        <a:xfrm>
          <a:off x="0" y="0"/>
          <a:ext cx="0" cy="0"/>
          <a:chOff x="0" y="0"/>
          <a:chExt cx="0" cy="0"/>
        </a:xfrm>
      </p:grpSpPr>
      <p:sp>
        <p:nvSpPr>
          <p:cNvPr id="2" name="Shape 0"/>
          <p:cNvSpPr/>
          <p:nvPr/>
        </p:nvSpPr>
        <p:spPr>
          <a:xfrm>
            <a:off x="0" y="0"/>
            <a:ext cx="4191000" cy="10287000"/>
          </a:xfrm>
          <a:prstGeom prst="rect">
            <a:avLst/>
          </a:prstGeom>
          <a:solidFill>
            <a:srgbClr val="0B2A6B"/>
          </a:solidFill>
          <a:ln/>
        </p:spPr>
        <p:txBody>
          <a:bodyPr/>
          <a:lstStyle/>
          <a:p>
            <a:endParaRPr lang="ko-KR" altLang="en-US"/>
          </a:p>
        </p:txBody>
      </p:sp>
      <p:sp>
        <p:nvSpPr>
          <p:cNvPr id="3" name="Text 1"/>
          <p:cNvSpPr/>
          <p:nvPr/>
        </p:nvSpPr>
        <p:spPr>
          <a:xfrm>
            <a:off x="571500" y="685800"/>
            <a:ext cx="905619" cy="603796"/>
          </a:xfrm>
          <a:prstGeom prst="rect">
            <a:avLst/>
          </a:prstGeom>
          <a:noFill/>
          <a:ln/>
        </p:spPr>
        <p:txBody>
          <a:bodyPr wrap="square" lIns="25400" tIns="25400" rIns="25400" bIns="25400" rtlCol="0" anchor="t">
            <a:normAutofit/>
          </a:bodyPr>
          <a:lstStyle/>
          <a:p>
            <a:pPr marL="0" indent="0" algn="l">
              <a:lnSpc>
                <a:spcPct val="77143"/>
              </a:lnSpc>
              <a:buNone/>
            </a:pPr>
            <a:r>
              <a:rPr lang="en-US" sz="4950" b="1" dirty="0">
                <a:solidFill>
                  <a:srgbClr val="4FD0F5"/>
                </a:solidFill>
                <a:latin typeface="Pretendard" pitchFamily="34" charset="0"/>
                <a:ea typeface="Pretendard" pitchFamily="34" charset="-122"/>
                <a:cs typeface="Pretendard" pitchFamily="34" charset="-120"/>
              </a:rPr>
              <a:t>05</a:t>
            </a:r>
            <a:endParaRPr lang="en-US" sz="4950" dirty="0"/>
          </a:p>
        </p:txBody>
      </p:sp>
      <p:sp>
        <p:nvSpPr>
          <p:cNvPr id="4" name="Shape 2"/>
          <p:cNvSpPr/>
          <p:nvPr/>
        </p:nvSpPr>
        <p:spPr>
          <a:xfrm>
            <a:off x="1629519" y="1028700"/>
            <a:ext cx="533400" cy="28575"/>
          </a:xfrm>
          <a:prstGeom prst="rect">
            <a:avLst/>
          </a:prstGeom>
          <a:solidFill>
            <a:srgbClr val="7FDCFF">
              <a:alpha val="50000"/>
            </a:srgbClr>
          </a:solidFill>
          <a:ln/>
        </p:spPr>
        <p:txBody>
          <a:bodyPr/>
          <a:lstStyle/>
          <a:p>
            <a:endParaRPr lang="ko-KR" altLang="en-US"/>
          </a:p>
        </p:txBody>
      </p:sp>
      <p:sp>
        <p:nvSpPr>
          <p:cNvPr id="5" name="Text 3"/>
          <p:cNvSpPr/>
          <p:nvPr/>
        </p:nvSpPr>
        <p:spPr>
          <a:xfrm>
            <a:off x="571500" y="1613446"/>
            <a:ext cx="3520440" cy="563761"/>
          </a:xfrm>
          <a:prstGeom prst="rect">
            <a:avLst/>
          </a:prstGeom>
          <a:noFill/>
          <a:ln/>
        </p:spPr>
        <p:txBody>
          <a:bodyPr wrap="square" lIns="25400" tIns="25400" rIns="25400" bIns="25400" rtlCol="0" anchor="t">
            <a:normAutofit/>
          </a:bodyPr>
          <a:lstStyle/>
          <a:p>
            <a:pPr marL="0" indent="0" algn="l">
              <a:lnSpc>
                <a:spcPct val="102222"/>
              </a:lnSpc>
              <a:buNone/>
            </a:pPr>
            <a:r>
              <a:rPr lang="en-US" sz="3450" b="1" kern="0" spc="-69" dirty="0">
                <a:solidFill>
                  <a:srgbClr val="FFFFFF"/>
                </a:solidFill>
                <a:latin typeface="Pretendard" pitchFamily="34" charset="0"/>
                <a:ea typeface="Pretendard" pitchFamily="34" charset="-122"/>
                <a:cs typeface="Pretendard" pitchFamily="34" charset="-120"/>
              </a:rPr>
              <a:t>예상 효과</a:t>
            </a:r>
            <a:endParaRPr lang="en-US" sz="3450" dirty="0"/>
          </a:p>
        </p:txBody>
      </p:sp>
      <p:sp>
        <p:nvSpPr>
          <p:cNvPr id="6" name="Shape 4"/>
          <p:cNvSpPr/>
          <p:nvPr/>
        </p:nvSpPr>
        <p:spPr>
          <a:xfrm>
            <a:off x="571500" y="2501057"/>
            <a:ext cx="3200400" cy="19050"/>
          </a:xfrm>
          <a:prstGeom prst="rect">
            <a:avLst/>
          </a:prstGeom>
          <a:solidFill>
            <a:srgbClr val="7FDCFF">
              <a:alpha val="35000"/>
            </a:srgbClr>
          </a:solidFill>
          <a:ln/>
        </p:spPr>
        <p:txBody>
          <a:bodyPr/>
          <a:lstStyle/>
          <a:p>
            <a:endParaRPr lang="ko-KR" altLang="en-US"/>
          </a:p>
        </p:txBody>
      </p:sp>
      <p:sp>
        <p:nvSpPr>
          <p:cNvPr id="7" name="Text 5"/>
          <p:cNvSpPr/>
          <p:nvPr/>
        </p:nvSpPr>
        <p:spPr>
          <a:xfrm>
            <a:off x="571500" y="2786807"/>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산업적 효과</a:t>
            </a:r>
            <a:endParaRPr lang="en-US" sz="2025" dirty="0"/>
          </a:p>
        </p:txBody>
      </p:sp>
      <p:sp>
        <p:nvSpPr>
          <p:cNvPr id="8" name="Text 6"/>
          <p:cNvSpPr/>
          <p:nvPr/>
        </p:nvSpPr>
        <p:spPr>
          <a:xfrm>
            <a:off x="571500" y="3177332"/>
            <a:ext cx="3296412" cy="70098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FFFFFF">
                    <a:alpha val="72000"/>
                  </a:srgbClr>
                </a:solidFill>
                <a:latin typeface="Pretendard" pitchFamily="34" charset="0"/>
                <a:ea typeface="Pretendard" pitchFamily="34" charset="-122"/>
                <a:cs typeface="Pretendard" pitchFamily="34" charset="-120"/>
              </a:rPr>
              <a:t>조선산업 현장에 적용되었을 때 기대되는 효과</a:t>
            </a:r>
            <a:endParaRPr lang="en-US" sz="1800" dirty="0"/>
          </a:p>
        </p:txBody>
      </p:sp>
      <p:sp>
        <p:nvSpPr>
          <p:cNvPr id="9" name="Text 7"/>
          <p:cNvSpPr/>
          <p:nvPr/>
        </p:nvSpPr>
        <p:spPr>
          <a:xfrm>
            <a:off x="571500" y="4087862"/>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정량 지표</a:t>
            </a:r>
            <a:endParaRPr lang="en-US" sz="2025" dirty="0"/>
          </a:p>
        </p:txBody>
      </p:sp>
      <p:sp>
        <p:nvSpPr>
          <p:cNvPr id="10" name="Text 8"/>
          <p:cNvSpPr/>
          <p:nvPr/>
        </p:nvSpPr>
        <p:spPr>
          <a:xfrm>
            <a:off x="571500" y="4478387"/>
            <a:ext cx="3296412" cy="70098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FFFFFF">
                    <a:alpha val="72000"/>
                  </a:srgbClr>
                </a:solidFill>
                <a:latin typeface="Pretendard" pitchFamily="34" charset="0"/>
                <a:ea typeface="Pretendard" pitchFamily="34" charset="-122"/>
                <a:cs typeface="Pretendard" pitchFamily="34" charset="-120"/>
              </a:rPr>
              <a:t>가능한 경우 수치(시간 절감, 오류율 감소 등)로 제시</a:t>
            </a:r>
            <a:endParaRPr lang="en-US" sz="1800" dirty="0"/>
          </a:p>
        </p:txBody>
      </p:sp>
      <p:sp>
        <p:nvSpPr>
          <p:cNvPr id="11" name="Text 9"/>
          <p:cNvSpPr/>
          <p:nvPr/>
        </p:nvSpPr>
        <p:spPr>
          <a:xfrm>
            <a:off x="571500" y="5388918"/>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확장 가능성</a:t>
            </a:r>
            <a:endParaRPr lang="en-US" sz="2025" dirty="0"/>
          </a:p>
        </p:txBody>
      </p:sp>
      <p:sp>
        <p:nvSpPr>
          <p:cNvPr id="12" name="Text 10"/>
          <p:cNvSpPr/>
          <p:nvPr/>
        </p:nvSpPr>
        <p:spPr>
          <a:xfrm>
            <a:off x="571500" y="5779443"/>
            <a:ext cx="3296412" cy="70098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FFFFFF">
                    <a:alpha val="72000"/>
                  </a:srgbClr>
                </a:solidFill>
                <a:latin typeface="Pretendard" pitchFamily="34" charset="0"/>
                <a:ea typeface="Pretendard" pitchFamily="34" charset="-122"/>
                <a:cs typeface="Pretendard" pitchFamily="34" charset="-120"/>
              </a:rPr>
              <a:t>타 공정·타 산업으로의 확장 또는 고도화 방향</a:t>
            </a:r>
            <a:endParaRPr lang="en-US" sz="1800" dirty="0"/>
          </a:p>
        </p:txBody>
      </p:sp>
      <p:sp>
        <p:nvSpPr>
          <p:cNvPr id="13" name="Shape 11"/>
          <p:cNvSpPr/>
          <p:nvPr/>
        </p:nvSpPr>
        <p:spPr>
          <a:xfrm>
            <a:off x="4800600" y="1057275"/>
            <a:ext cx="12877800" cy="19050"/>
          </a:xfrm>
          <a:prstGeom prst="rect">
            <a:avLst/>
          </a:prstGeom>
          <a:solidFill>
            <a:srgbClr val="0B2A6B"/>
          </a:solidFill>
          <a:ln/>
        </p:spPr>
        <p:txBody>
          <a:bodyPr/>
          <a:lstStyle/>
          <a:p>
            <a:endParaRPr lang="ko-KR" altLang="en-US"/>
          </a:p>
        </p:txBody>
      </p:sp>
      <p:sp>
        <p:nvSpPr>
          <p:cNvPr id="14" name="Text 12"/>
          <p:cNvSpPr/>
          <p:nvPr/>
        </p:nvSpPr>
        <p:spPr>
          <a:xfrm>
            <a:off x="4800600" y="571500"/>
            <a:ext cx="852041" cy="333375"/>
          </a:xfrm>
          <a:prstGeom prst="rect">
            <a:avLst/>
          </a:prstGeom>
          <a:noFill/>
          <a:ln/>
        </p:spPr>
        <p:txBody>
          <a:bodyPr wrap="square" lIns="25400" tIns="25400" rIns="25400" bIns="25400" rtlCol="0" anchor="t">
            <a:normAutofit/>
          </a:bodyPr>
          <a:lstStyle/>
          <a:p>
            <a:pPr marL="0" indent="0" algn="l">
              <a:buNone/>
            </a:pPr>
            <a:r>
              <a:rPr lang="en-US" sz="1950" b="1" kern="0" spc="351" dirty="0">
                <a:solidFill>
                  <a:srgbClr val="0B2A6B"/>
                </a:solidFill>
                <a:latin typeface="Pretendard" pitchFamily="34" charset="0"/>
                <a:ea typeface="Pretendard" pitchFamily="34" charset="-122"/>
                <a:cs typeface="Pretendard" pitchFamily="34" charset="-120"/>
              </a:rPr>
              <a:t>작성란</a:t>
            </a:r>
            <a:endParaRPr lang="en-US" sz="1950" dirty="0"/>
          </a:p>
        </p:txBody>
      </p:sp>
      <p:sp>
        <p:nvSpPr>
          <p:cNvPr id="15" name="Text 13"/>
          <p:cNvSpPr/>
          <p:nvPr/>
        </p:nvSpPr>
        <p:spPr>
          <a:xfrm>
            <a:off x="15122575" y="571500"/>
            <a:ext cx="2811408" cy="333375"/>
          </a:xfrm>
          <a:prstGeom prst="rect">
            <a:avLst/>
          </a:prstGeom>
          <a:noFill/>
          <a:ln/>
        </p:spPr>
        <p:txBody>
          <a:bodyPr wrap="square" lIns="25400" tIns="25400" rIns="25400" bIns="25400" rtlCol="0" anchor="t">
            <a:normAutofit/>
          </a:bodyPr>
          <a:lstStyle/>
          <a:p>
            <a:pPr marL="0" indent="0" algn="l">
              <a:buNone/>
            </a:pPr>
            <a:r>
              <a:rPr lang="en-US" sz="1950" b="1" dirty="0">
                <a:solidFill>
                  <a:srgbClr val="8B9AB5"/>
                </a:solidFill>
                <a:latin typeface="Pretendard" pitchFamily="34" charset="0"/>
                <a:ea typeface="Pretendard" pitchFamily="34" charset="-122"/>
                <a:cs typeface="Pretendard" pitchFamily="34" charset="-120"/>
              </a:rPr>
              <a:t>2026 K-조선 해커톤 · 06</a:t>
            </a:r>
            <a:endParaRPr lang="en-US" sz="1950" dirty="0"/>
          </a:p>
        </p:txBody>
      </p:sp>
      <p:sp>
        <p:nvSpPr>
          <p:cNvPr id="16" name="Rounded Rectangle 15"/>
          <p:cNvSpPr/>
          <p:nvPr/>
        </p:nvSpPr>
        <p:spPr>
          <a:xfrm>
            <a:off x="4800600" y="1371600"/>
            <a:ext cx="6903720" cy="4389120"/>
          </a:xfrm>
          <a:prstGeom prst="roundRect">
            <a:avLst>
              <a:gd name="adj" fmla="val 3500"/>
            </a:avLst>
          </a:prstGeom>
          <a:solidFill>
            <a:srgbClr val="FFFFFF"/>
          </a:solidFill>
          <a:ln w="9525">
            <a:solidFill>
              <a:srgbClr val="D9E0EC"/>
            </a:solidFill>
          </a:ln>
        </p:spPr>
        <p:txBody>
          <a:bodyPr rtlCol="0" anchor="ctr"/>
          <a:lstStyle/>
          <a:p/>
        </p:txBody>
      </p:sp>
      <p:sp>
        <p:nvSpPr>
          <p:cNvPr id="17" name="Oval 16"/>
          <p:cNvSpPr/>
          <p:nvPr/>
        </p:nvSpPr>
        <p:spPr>
          <a:xfrm>
            <a:off x="5120640" y="1746504"/>
            <a:ext cx="146304" cy="146304"/>
          </a:xfrm>
          <a:prstGeom prst="ellipse">
            <a:avLst/>
          </a:prstGeom>
          <a:solidFill>
            <a:srgbClr val="4FD0F5"/>
          </a:solidFill>
          <a:ln>
            <a:noFill/>
          </a:ln>
        </p:spPr>
        <p:txBody>
          <a:bodyPr rtlCol="0" anchor="ctr"/>
          <a:lstStyle/>
          <a:p>
            <a:pPr algn="ctr"/>
          </a:p>
        </p:txBody>
      </p:sp>
      <p:sp>
        <p:nvSpPr>
          <p:cNvPr id="18" name="TextBox 17"/>
          <p:cNvSpPr txBox="1"/>
          <p:nvPr/>
        </p:nvSpPr>
        <p:spPr>
          <a:xfrm>
            <a:off x="5367527" y="1645920"/>
            <a:ext cx="6016752" cy="384048"/>
          </a:xfrm>
          <a:prstGeom prst="rect">
            <a:avLst/>
          </a:prstGeom>
          <a:noFill/>
        </p:spPr>
        <p:txBody>
          <a:bodyPr wrap="square" anchor="t" lIns="0" rIns="0" tIns="0" bIns="0">
            <a:spAutoFit/>
          </a:bodyPr>
          <a:lstStyle/>
          <a:p>
            <a:pPr algn="l">
              <a:lnSpc>
                <a:spcPct val="112000"/>
              </a:lnSpc>
            </a:pPr>
            <a:r>
              <a:rPr sz="2000" b="1" i="0">
                <a:solidFill>
                  <a:srgbClr val="0B2A6B"/>
                </a:solidFill>
                <a:latin typeface="Pretendard"/>
                <a:ea typeface="Pretendard"/>
                <a:cs typeface="Pretendard"/>
              </a:rPr>
              <a:t>산업적 효과</a:t>
            </a:r>
          </a:p>
        </p:txBody>
      </p:sp>
      <p:sp>
        <p:nvSpPr>
          <p:cNvPr id="19" name="TextBox 18"/>
          <p:cNvSpPr txBox="1"/>
          <p:nvPr/>
        </p:nvSpPr>
        <p:spPr>
          <a:xfrm>
            <a:off x="5120640" y="2240280"/>
            <a:ext cx="6263640" cy="3383279"/>
          </a:xfrm>
          <a:prstGeom prst="rect">
            <a:avLst/>
          </a:prstGeom>
          <a:noFill/>
        </p:spPr>
        <p:txBody>
          <a:bodyPr wrap="square" anchor="t" lIns="0" rIns="0" tIns="0" bIns="0">
            <a:spAutoFit/>
          </a:bodyPr>
          <a:lstStyle/>
          <a:p>
            <a:pPr marL="192785" indent="-192785">
              <a:lnSpc>
                <a:spcPct val="114000"/>
              </a:lnSpc>
              <a:spcAft>
                <a:spcPts val="900"/>
              </a:spcAft>
              <a:buClr>
                <a:srgbClr val="4FD0F5"/>
              </a:buClr>
              <a:buFont typeface="Arial"/>
              <a:buChar char="•"/>
            </a:pPr>
            <a:r>
              <a:rPr sz="1320" b="0" i="0">
                <a:solidFill>
                  <a:srgbClr val="1F2A44"/>
                </a:solidFill>
                <a:latin typeface="Pretendard"/>
                <a:ea typeface="Pretendard"/>
                <a:cs typeface="Pretendard"/>
              </a:rPr>
              <a:t>판독원의 </a:t>
            </a:r>
            <a:r>
              <a:rPr sz="1320" b="1" i="0">
                <a:solidFill>
                  <a:srgbClr val="1F2A44"/>
                </a:solidFill>
                <a:latin typeface="Pretendard"/>
                <a:ea typeface="Pretendard"/>
                <a:cs typeface="Pretendard"/>
              </a:rPr>
              <a:t>문서·이력 검색 노동 제거</a:t>
            </a:r>
            <a:r>
              <a:rPr sz="1320" b="0" i="0">
                <a:solidFill>
                  <a:srgbClr val="1F2A44"/>
                </a:solidFill>
                <a:latin typeface="Pretendard"/>
                <a:ea typeface="Pretendard"/>
                <a:cs typeface="Pretendard"/>
              </a:rPr>
              <a:t> → 자격자가 판독에 집중. 인력 감소 국면(두산에너빌리티 2026, 가스신문 2025.09)에서 1인당 처리량 향상 — 앱이 기록하는 소요시간과 수기 기준선으로 실측</a:t>
            </a:r>
          </a:p>
          <a:p>
            <a:pPr marL="192785" indent="-192785">
              <a:lnSpc>
                <a:spcPct val="114000"/>
              </a:lnSpc>
              <a:spcAft>
                <a:spcPts val="900"/>
              </a:spcAft>
              <a:buClr>
                <a:srgbClr val="4FD0F5"/>
              </a:buClr>
              <a:buFont typeface="Arial"/>
              <a:buChar char="•"/>
            </a:pPr>
            <a:r>
              <a:rPr sz="1320" b="0" i="0">
                <a:solidFill>
                  <a:srgbClr val="1F2A44"/>
                </a:solidFill>
                <a:latin typeface="Pretendard"/>
                <a:ea typeface="Pretendard"/>
                <a:cs typeface="Pretendard"/>
              </a:rPr>
              <a:t>검사 기록의 </a:t>
            </a:r>
            <a:r>
              <a:rPr sz="1320" b="1" i="0">
                <a:solidFill>
                  <a:srgbClr val="1F2A44"/>
                </a:solidFill>
                <a:latin typeface="Pretendard"/>
                <a:ea typeface="Pretendard"/>
                <a:cs typeface="Pretendard"/>
              </a:rPr>
              <a:t>디지털 자산화</a:t>
            </a:r>
            <a:r>
              <a:rPr sz="1320" b="0" i="0">
                <a:solidFill>
                  <a:srgbClr val="1F2A44"/>
                </a:solidFill>
                <a:latin typeface="Pretendard"/>
                <a:ea typeface="Pretendard"/>
                <a:cs typeface="Pretendard"/>
              </a:rPr>
              <a:t>: IACS UR W33 §8.2 일반 보고 항목 13개 중 7개(일자·부재·용접부·이음·두께·판정 기준·결과·판정자)를 이미 구조화 저장, 나머지와 RT 특정 12개 항목은 본선에서 필드 추가 → 선주·선급 요청 시 서류 수색을 조회로 대체</a:t>
            </a:r>
          </a:p>
          <a:p>
            <a:pPr marL="192785" indent="-192785">
              <a:lnSpc>
                <a:spcPct val="114000"/>
              </a:lnSpc>
              <a:spcAft>
                <a:spcPts val="900"/>
              </a:spcAft>
              <a:buClr>
                <a:srgbClr val="4FD0F5"/>
              </a:buClr>
              <a:buFont typeface="Arial"/>
              <a:buChar char="•"/>
            </a:pPr>
            <a:r>
              <a:rPr sz="1320" b="1" i="0">
                <a:solidFill>
                  <a:srgbClr val="1F2A44"/>
                </a:solidFill>
                <a:latin typeface="Pretendard"/>
                <a:ea typeface="Pretendard"/>
                <a:cs typeface="Pretendard"/>
              </a:rPr>
              <a:t>2028.01 시행 IACS 신규칙의 100mm 판독 단위를 이미 기본값으로 구현</a:t>
            </a:r>
            <a:r>
              <a:rPr sz="1320" b="0" i="0">
                <a:solidFill>
                  <a:srgbClr val="1F2A44"/>
                </a:solidFill>
                <a:latin typeface="Pretendard"/>
                <a:ea typeface="Pretendard"/>
                <a:cs typeface="Pretendard"/>
              </a:rPr>
              <a:t> — 규칙이 바뀌기 전에 준비된 판정 엔진. 스캔 필름과 CR/DR 이미지가 같은 파이프라인이라 필름→디지털 과도기 양쪽에 적용</a:t>
            </a:r>
          </a:p>
          <a:p>
            <a:pPr marL="192785" indent="-192785">
              <a:lnSpc>
                <a:spcPct val="114000"/>
              </a:lnSpc>
              <a:spcAft>
                <a:spcPts val="900"/>
              </a:spcAft>
              <a:buClr>
                <a:srgbClr val="4FD0F5"/>
              </a:buClr>
              <a:buFont typeface="Arial"/>
              <a:buChar char="•"/>
            </a:pPr>
            <a:r>
              <a:rPr sz="1320" b="0" i="0">
                <a:solidFill>
                  <a:srgbClr val="1F2A44"/>
                </a:solidFill>
                <a:latin typeface="Pretendard"/>
                <a:ea typeface="Pretendard"/>
                <a:cs typeface="Pretendard"/>
              </a:rPr>
              <a:t>도입 2경로: ① 검사업체의 생산성 도구 ② 조선소 QC의 리포트 표준화·아카이브 발주 — 어느 쪽도 클라우드 반출 없이 온프레미스</a:t>
            </a:r>
          </a:p>
        </p:txBody>
      </p:sp>
      <p:sp>
        <p:nvSpPr>
          <p:cNvPr id="20" name="Rounded Rectangle 19"/>
          <p:cNvSpPr/>
          <p:nvPr/>
        </p:nvSpPr>
        <p:spPr>
          <a:xfrm>
            <a:off x="11978640" y="1371600"/>
            <a:ext cx="5696711" cy="4389120"/>
          </a:xfrm>
          <a:prstGeom prst="roundRect">
            <a:avLst>
              <a:gd name="adj" fmla="val 3500"/>
            </a:avLst>
          </a:prstGeom>
          <a:solidFill>
            <a:srgbClr val="FFFFFF"/>
          </a:solidFill>
          <a:ln w="9525">
            <a:solidFill>
              <a:srgbClr val="D9E0EC"/>
            </a:solidFill>
          </a:ln>
        </p:spPr>
        <p:txBody>
          <a:bodyPr rtlCol="0" anchor="ctr"/>
          <a:lstStyle/>
          <a:p/>
        </p:txBody>
      </p:sp>
      <p:sp>
        <p:nvSpPr>
          <p:cNvPr id="21" name="Oval 20"/>
          <p:cNvSpPr/>
          <p:nvPr/>
        </p:nvSpPr>
        <p:spPr>
          <a:xfrm>
            <a:off x="12298680" y="1746504"/>
            <a:ext cx="146304" cy="146304"/>
          </a:xfrm>
          <a:prstGeom prst="ellipse">
            <a:avLst/>
          </a:prstGeom>
          <a:solidFill>
            <a:srgbClr val="4FD0F5"/>
          </a:solidFill>
          <a:ln>
            <a:noFill/>
          </a:ln>
        </p:spPr>
        <p:txBody>
          <a:bodyPr rtlCol="0" anchor="ctr"/>
          <a:lstStyle/>
          <a:p>
            <a:pPr algn="ctr"/>
          </a:p>
        </p:txBody>
      </p:sp>
      <p:sp>
        <p:nvSpPr>
          <p:cNvPr id="22" name="TextBox 21"/>
          <p:cNvSpPr txBox="1"/>
          <p:nvPr/>
        </p:nvSpPr>
        <p:spPr>
          <a:xfrm>
            <a:off x="12545568" y="1645920"/>
            <a:ext cx="4809743" cy="384048"/>
          </a:xfrm>
          <a:prstGeom prst="rect">
            <a:avLst/>
          </a:prstGeom>
          <a:noFill/>
        </p:spPr>
        <p:txBody>
          <a:bodyPr wrap="square" anchor="t" lIns="0" rIns="0" tIns="0" bIns="0">
            <a:spAutoFit/>
          </a:bodyPr>
          <a:lstStyle/>
          <a:p>
            <a:pPr algn="l">
              <a:lnSpc>
                <a:spcPct val="112000"/>
              </a:lnSpc>
            </a:pPr>
            <a:r>
              <a:rPr sz="2000" b="1" i="0">
                <a:solidFill>
                  <a:srgbClr val="0B2A6B"/>
                </a:solidFill>
                <a:latin typeface="Pretendard"/>
                <a:ea typeface="Pretendard"/>
                <a:cs typeface="Pretendard"/>
              </a:rPr>
              <a:t>확장 가능성</a:t>
            </a:r>
          </a:p>
        </p:txBody>
      </p:sp>
      <p:sp>
        <p:nvSpPr>
          <p:cNvPr id="23" name="TextBox 22"/>
          <p:cNvSpPr txBox="1"/>
          <p:nvPr/>
        </p:nvSpPr>
        <p:spPr>
          <a:xfrm>
            <a:off x="12298680" y="2240280"/>
            <a:ext cx="5056631" cy="3383279"/>
          </a:xfrm>
          <a:prstGeom prst="rect">
            <a:avLst/>
          </a:prstGeom>
          <a:noFill/>
        </p:spPr>
        <p:txBody>
          <a:bodyPr wrap="square" anchor="t" lIns="0" rIns="0" tIns="0" bIns="0">
            <a:spAutoFit/>
          </a:bodyPr>
          <a:lstStyle/>
          <a:p>
            <a:pPr marL="192785" indent="-192785">
              <a:lnSpc>
                <a:spcPct val="114000"/>
              </a:lnSpc>
              <a:spcAft>
                <a:spcPts val="900"/>
              </a:spcAft>
              <a:buClr>
                <a:srgbClr val="4FD0F5"/>
              </a:buClr>
              <a:buFont typeface="Arial"/>
              <a:buChar char="•"/>
            </a:pPr>
            <a:r>
              <a:rPr sz="1320" b="0" i="0">
                <a:solidFill>
                  <a:srgbClr val="1F2A44"/>
                </a:solidFill>
                <a:latin typeface="Pretendard"/>
                <a:ea typeface="Pretendard"/>
                <a:cs typeface="Pretendard"/>
              </a:rPr>
              <a:t>기준표는 데이터 주도 JSON — </a:t>
            </a:r>
            <a:r>
              <a:rPr sz="1320" b="1" i="0">
                <a:solidFill>
                  <a:srgbClr val="1F2A44"/>
                </a:solidFill>
                <a:latin typeface="Pretendard"/>
                <a:ea typeface="Pretendard"/>
                <a:cs typeface="Pretendard"/>
              </a:rPr>
              <a:t>판정식 3종(단일 치수·누적 길이·투영 면적률)</a:t>
            </a:r>
            <a:r>
              <a:rPr sz="1320" b="0" i="0">
                <a:solidFill>
                  <a:srgbClr val="1F2A44"/>
                </a:solidFill>
                <a:latin typeface="Pretendard"/>
                <a:ea typeface="Pretendard"/>
                <a:cs typeface="Pretendard"/>
              </a:rPr>
              <a:t> 구조 안에서는 수치 교체만으로 전환(룰 엔진 코드 무변경)</a:t>
            </a:r>
          </a:p>
          <a:p>
            <a:pPr marL="192785" indent="-192785">
              <a:lnSpc>
                <a:spcPct val="114000"/>
              </a:lnSpc>
              <a:spcAft>
                <a:spcPts val="900"/>
              </a:spcAft>
              <a:buClr>
                <a:srgbClr val="4FD0F5"/>
              </a:buClr>
              <a:buFont typeface="Arial"/>
              <a:buChar char="•"/>
            </a:pPr>
            <a:r>
              <a:rPr sz="1320" b="1" i="0">
                <a:solidFill>
                  <a:srgbClr val="1F2A44"/>
                </a:solidFill>
                <a:latin typeface="Pretendard"/>
                <a:ea typeface="Pretendard"/>
                <a:cs typeface="Pretendard"/>
              </a:rPr>
              <a:t>디지털 RT(CR/DR) 이미지</a:t>
            </a:r>
            <a:r>
              <a:rPr sz="1320" b="0" i="0">
                <a:solidFill>
                  <a:srgbClr val="1F2A44"/>
                </a:solidFill>
                <a:latin typeface="Pretendard"/>
                <a:ea typeface="Pretendard"/>
                <a:cs typeface="Pretendard"/>
              </a:rPr>
              <a:t>는 동일 파이프라인으로 즉시 적용 — IACS UR W34 적용 선박(2021.07 이후 계약)의 검사 흐름에 그대로 편입. KR도 2026.06 AI 기반 디지털 선급 협력에 착수(검색 요약 기준). UT 판독은 신호 기반이라 범위 밖</a:t>
            </a:r>
          </a:p>
          <a:p>
            <a:pPr marL="192785" indent="-192785">
              <a:lnSpc>
                <a:spcPct val="114000"/>
              </a:lnSpc>
              <a:spcAft>
                <a:spcPts val="900"/>
              </a:spcAft>
              <a:buClr>
                <a:srgbClr val="4FD0F5"/>
              </a:buClr>
              <a:buFont typeface="Arial"/>
              <a:buChar char="•"/>
            </a:pPr>
            <a:r>
              <a:rPr sz="1320" b="0" i="0">
                <a:solidFill>
                  <a:srgbClr val="1F2A44"/>
                </a:solidFill>
                <a:latin typeface="Pretendard"/>
                <a:ea typeface="Pretendard"/>
                <a:cs typeface="Pretendard"/>
              </a:rPr>
              <a:t>발전 플랜트 배관·튜브 등 </a:t>
            </a:r>
            <a:r>
              <a:rPr sz="1320" b="1" i="0">
                <a:solidFill>
                  <a:srgbClr val="1F2A44"/>
                </a:solidFill>
                <a:latin typeface="Pretendard"/>
                <a:ea typeface="Pretendard"/>
                <a:cs typeface="Pretendard"/>
              </a:rPr>
              <a:t>RT 판독 직군 공통</a:t>
            </a:r>
            <a:r>
              <a:rPr sz="1320" b="0" i="0">
                <a:solidFill>
                  <a:srgbClr val="1F2A44"/>
                </a:solidFill>
                <a:latin typeface="Pretendard"/>
                <a:ea typeface="Pretendard"/>
                <a:cs typeface="Pretendard"/>
              </a:rPr>
              <a:t> 문제(두산에너빌리티 사례) → 타 산업 전개</a:t>
            </a:r>
          </a:p>
          <a:p>
            <a:pPr marL="192785" indent="-192785">
              <a:lnSpc>
                <a:spcPct val="114000"/>
              </a:lnSpc>
              <a:spcAft>
                <a:spcPts val="900"/>
              </a:spcAft>
              <a:buClr>
                <a:srgbClr val="4FD0F5"/>
              </a:buClr>
              <a:buFont typeface="Arial"/>
              <a:buChar char="•"/>
            </a:pPr>
            <a:r>
              <a:rPr sz="1320" b="0" i="0">
                <a:solidFill>
                  <a:srgbClr val="1F2A44"/>
                </a:solidFill>
                <a:latin typeface="Pretendard"/>
                <a:ea typeface="Pretendard"/>
                <a:cs typeface="Pretendard"/>
              </a:rPr>
              <a:t>로드맵: 야드 파일럿, 재학습 파이프라인(라벨 검수 큐 포함), DNV-RP-0671(2023) 등 AI 보증 프레임워크 기준의 검증 문서화, 설치형 패키징</a:t>
            </a:r>
          </a:p>
        </p:txBody>
      </p:sp>
      <p:sp>
        <p:nvSpPr>
          <p:cNvPr id="24" name="Oval 23"/>
          <p:cNvSpPr/>
          <p:nvPr/>
        </p:nvSpPr>
        <p:spPr>
          <a:xfrm>
            <a:off x="4800600" y="6181344"/>
            <a:ext cx="146304" cy="146304"/>
          </a:xfrm>
          <a:prstGeom prst="ellipse">
            <a:avLst/>
          </a:prstGeom>
          <a:solidFill>
            <a:srgbClr val="4FD0F5"/>
          </a:solidFill>
          <a:ln>
            <a:noFill/>
          </a:ln>
        </p:spPr>
        <p:txBody>
          <a:bodyPr rtlCol="0" anchor="ctr"/>
          <a:lstStyle/>
          <a:p>
            <a:pPr algn="ctr"/>
          </a:p>
        </p:txBody>
      </p:sp>
      <p:sp>
        <p:nvSpPr>
          <p:cNvPr id="25" name="TextBox 24"/>
          <p:cNvSpPr txBox="1"/>
          <p:nvPr/>
        </p:nvSpPr>
        <p:spPr>
          <a:xfrm>
            <a:off x="5047488" y="6080759"/>
            <a:ext cx="12627864" cy="384048"/>
          </a:xfrm>
          <a:prstGeom prst="rect">
            <a:avLst/>
          </a:prstGeom>
          <a:noFill/>
        </p:spPr>
        <p:txBody>
          <a:bodyPr wrap="square" anchor="t" lIns="0" rIns="0" tIns="0" bIns="0">
            <a:spAutoFit/>
          </a:bodyPr>
          <a:lstStyle/>
          <a:p>
            <a:pPr algn="l">
              <a:lnSpc>
                <a:spcPct val="112000"/>
              </a:lnSpc>
            </a:pPr>
            <a:r>
              <a:rPr sz="2000" b="1" i="0">
                <a:solidFill>
                  <a:srgbClr val="0B2A6B"/>
                </a:solidFill>
                <a:latin typeface="Pretendard"/>
                <a:ea typeface="Pretendard"/>
                <a:cs typeface="Pretendard"/>
              </a:rPr>
              <a:t>정량 지표 — 효과(측정 설계)와 검증(현재 수치)을 구분</a:t>
            </a:r>
          </a:p>
        </p:txBody>
      </p:sp>
      <p:sp>
        <p:nvSpPr>
          <p:cNvPr id="26" name="Rounded Rectangle 25"/>
          <p:cNvSpPr/>
          <p:nvPr/>
        </p:nvSpPr>
        <p:spPr>
          <a:xfrm>
            <a:off x="4800600" y="6583679"/>
            <a:ext cx="3026664" cy="2167128"/>
          </a:xfrm>
          <a:prstGeom prst="roundRect">
            <a:avLst>
              <a:gd name="adj" fmla="val 3500"/>
            </a:avLst>
          </a:prstGeom>
          <a:solidFill>
            <a:srgbClr val="FFFFFF"/>
          </a:solidFill>
          <a:ln w="9525">
            <a:solidFill>
              <a:srgbClr val="D9E0EC"/>
            </a:solidFill>
          </a:ln>
        </p:spPr>
        <p:txBody>
          <a:bodyPr rtlCol="0" anchor="ctr"/>
          <a:lstStyle/>
          <a:p/>
        </p:txBody>
      </p:sp>
      <p:sp>
        <p:nvSpPr>
          <p:cNvPr id="27" name="TextBox 26"/>
          <p:cNvSpPr txBox="1"/>
          <p:nvPr/>
        </p:nvSpPr>
        <p:spPr>
          <a:xfrm>
            <a:off x="5074920" y="6839712"/>
            <a:ext cx="2478024" cy="274320"/>
          </a:xfrm>
          <a:prstGeom prst="rect">
            <a:avLst/>
          </a:prstGeom>
          <a:noFill/>
        </p:spPr>
        <p:txBody>
          <a:bodyPr wrap="square" anchor="t" lIns="0" rIns="0" tIns="0" bIns="0">
            <a:spAutoFit/>
          </a:bodyPr>
          <a:lstStyle/>
          <a:p>
            <a:pPr algn="l">
              <a:lnSpc>
                <a:spcPct val="112000"/>
              </a:lnSpc>
            </a:pPr>
            <a:r>
              <a:rPr sz="1300" b="1" i="0">
                <a:solidFill>
                  <a:srgbClr val="8B9AB5"/>
                </a:solidFill>
                <a:latin typeface="Pretendard"/>
                <a:ea typeface="Pretendard"/>
                <a:cs typeface="Pretendard"/>
              </a:rPr>
              <a:t>효과① 리포트 작성 시간</a:t>
            </a:r>
          </a:p>
        </p:txBody>
      </p:sp>
      <p:sp>
        <p:nvSpPr>
          <p:cNvPr id="28" name="TextBox 27"/>
          <p:cNvSpPr txBox="1"/>
          <p:nvPr/>
        </p:nvSpPr>
        <p:spPr>
          <a:xfrm>
            <a:off x="5074920" y="7187183"/>
            <a:ext cx="2478024" cy="566928"/>
          </a:xfrm>
          <a:prstGeom prst="rect">
            <a:avLst/>
          </a:prstGeom>
          <a:noFill/>
        </p:spPr>
        <p:txBody>
          <a:bodyPr wrap="square" anchor="t" lIns="0" rIns="0" tIns="0" bIns="0">
            <a:spAutoFit/>
          </a:bodyPr>
          <a:lstStyle/>
          <a:p>
            <a:pPr algn="l">
              <a:lnSpc>
                <a:spcPct val="112000"/>
              </a:lnSpc>
            </a:pPr>
            <a:r>
              <a:rPr sz="2400" b="1" i="0">
                <a:solidFill>
                  <a:srgbClr val="0B2A6B"/>
                </a:solidFill>
                <a:latin typeface="Pretendard"/>
                <a:ea typeface="Pretendard"/>
                <a:cs typeface="Pretendard"/>
              </a:rPr>
              <a:t>실측 설계</a:t>
            </a:r>
          </a:p>
        </p:txBody>
      </p:sp>
      <p:sp>
        <p:nvSpPr>
          <p:cNvPr id="29" name="TextBox 28"/>
          <p:cNvSpPr txBox="1"/>
          <p:nvPr/>
        </p:nvSpPr>
        <p:spPr>
          <a:xfrm>
            <a:off x="5074920" y="7845551"/>
            <a:ext cx="2478024" cy="795528"/>
          </a:xfrm>
          <a:prstGeom prst="rect">
            <a:avLst/>
          </a:prstGeom>
          <a:noFill/>
        </p:spPr>
        <p:txBody>
          <a:bodyPr wrap="square" anchor="t" lIns="0" rIns="0" tIns="0" bIns="0">
            <a:spAutoFit/>
          </a:bodyPr>
          <a:lstStyle/>
          <a:p>
            <a:pPr algn="l">
              <a:lnSpc>
                <a:spcPct val="110000"/>
              </a:lnSpc>
            </a:pPr>
            <a:r>
              <a:rPr sz="1050" b="0" i="0">
                <a:solidFill>
                  <a:srgbClr val="1F2A44"/>
                </a:solidFill>
                <a:latin typeface="Pretendard"/>
                <a:ea typeface="Pretendard"/>
                <a:cs typeface="Pretendard"/>
              </a:rPr>
              <a:t>앱이 이미지 로드→승인 소요시간을 자동 기록(구현 완료). 수기 기준선은 현직 판독원 확인 후 비교 — 미확정 수치는 기재하지 않음</a:t>
            </a:r>
          </a:p>
        </p:txBody>
      </p:sp>
      <p:sp>
        <p:nvSpPr>
          <p:cNvPr id="30" name="Rounded Rectangle 29"/>
          <p:cNvSpPr/>
          <p:nvPr/>
        </p:nvSpPr>
        <p:spPr>
          <a:xfrm>
            <a:off x="8083296" y="6583679"/>
            <a:ext cx="3026664" cy="2167128"/>
          </a:xfrm>
          <a:prstGeom prst="roundRect">
            <a:avLst>
              <a:gd name="adj" fmla="val 3500"/>
            </a:avLst>
          </a:prstGeom>
          <a:solidFill>
            <a:srgbClr val="FFFFFF"/>
          </a:solidFill>
          <a:ln w="9525">
            <a:solidFill>
              <a:srgbClr val="D9E0EC"/>
            </a:solidFill>
          </a:ln>
        </p:spPr>
        <p:txBody>
          <a:bodyPr rtlCol="0" anchor="ctr"/>
          <a:lstStyle/>
          <a:p/>
        </p:txBody>
      </p:sp>
      <p:sp>
        <p:nvSpPr>
          <p:cNvPr id="31" name="TextBox 30"/>
          <p:cNvSpPr txBox="1"/>
          <p:nvPr/>
        </p:nvSpPr>
        <p:spPr>
          <a:xfrm>
            <a:off x="8357616" y="6839712"/>
            <a:ext cx="2478024" cy="274320"/>
          </a:xfrm>
          <a:prstGeom prst="rect">
            <a:avLst/>
          </a:prstGeom>
          <a:noFill/>
        </p:spPr>
        <p:txBody>
          <a:bodyPr wrap="square" anchor="t" lIns="0" rIns="0" tIns="0" bIns="0">
            <a:spAutoFit/>
          </a:bodyPr>
          <a:lstStyle/>
          <a:p>
            <a:pPr algn="l">
              <a:lnSpc>
                <a:spcPct val="112000"/>
              </a:lnSpc>
            </a:pPr>
            <a:r>
              <a:rPr sz="1300" b="1" i="0">
                <a:solidFill>
                  <a:srgbClr val="8B9AB5"/>
                </a:solidFill>
                <a:latin typeface="Pretendard"/>
                <a:ea typeface="Pretendard"/>
                <a:cs typeface="Pretendard"/>
              </a:rPr>
              <a:t>효과② 이력 검색 시간</a:t>
            </a:r>
          </a:p>
        </p:txBody>
      </p:sp>
      <p:sp>
        <p:nvSpPr>
          <p:cNvPr id="32" name="TextBox 31"/>
          <p:cNvSpPr txBox="1"/>
          <p:nvPr/>
        </p:nvSpPr>
        <p:spPr>
          <a:xfrm>
            <a:off x="8357616" y="7187183"/>
            <a:ext cx="2478024" cy="566928"/>
          </a:xfrm>
          <a:prstGeom prst="rect">
            <a:avLst/>
          </a:prstGeom>
          <a:noFill/>
        </p:spPr>
        <p:txBody>
          <a:bodyPr wrap="square" anchor="t" lIns="0" rIns="0" tIns="0" bIns="0">
            <a:spAutoFit/>
          </a:bodyPr>
          <a:lstStyle/>
          <a:p>
            <a:pPr algn="l">
              <a:lnSpc>
                <a:spcPct val="112000"/>
              </a:lnSpc>
            </a:pPr>
            <a:r>
              <a:rPr sz="2400" b="1" i="0">
                <a:solidFill>
                  <a:srgbClr val="0B2A6B"/>
                </a:solidFill>
                <a:latin typeface="Pretendard"/>
                <a:ea typeface="Pretendard"/>
                <a:cs typeface="Pretendard"/>
              </a:rPr>
              <a:t>수색 → 조회</a:t>
            </a:r>
          </a:p>
        </p:txBody>
      </p:sp>
      <p:sp>
        <p:nvSpPr>
          <p:cNvPr id="33" name="TextBox 32"/>
          <p:cNvSpPr txBox="1"/>
          <p:nvPr/>
        </p:nvSpPr>
        <p:spPr>
          <a:xfrm>
            <a:off x="8357616" y="7845551"/>
            <a:ext cx="2478024" cy="795528"/>
          </a:xfrm>
          <a:prstGeom prst="rect">
            <a:avLst/>
          </a:prstGeom>
          <a:noFill/>
        </p:spPr>
        <p:txBody>
          <a:bodyPr wrap="square" anchor="t" lIns="0" rIns="0" tIns="0" bIns="0">
            <a:spAutoFit/>
          </a:bodyPr>
          <a:lstStyle/>
          <a:p>
            <a:pPr algn="l">
              <a:lnSpc>
                <a:spcPct val="110000"/>
              </a:lnSpc>
            </a:pPr>
            <a:r>
              <a:rPr sz="1050" b="0" i="0">
                <a:solidFill>
                  <a:srgbClr val="1F2A44"/>
                </a:solidFill>
                <a:latin typeface="Pretendard"/>
                <a:ea typeface="Pretendard"/>
                <a:cs typeface="Pretendard"/>
              </a:rPr>
              <a:t>블록·용접부·유형·합부·기간 조건 검색 + 자연어 검색·요약. 목표: 과거 이력 조회를 서류 수색에서 화면 조회로 — 시연에서 실측</a:t>
            </a:r>
          </a:p>
        </p:txBody>
      </p:sp>
      <p:sp>
        <p:nvSpPr>
          <p:cNvPr id="34" name="Rounded Rectangle 33"/>
          <p:cNvSpPr/>
          <p:nvPr/>
        </p:nvSpPr>
        <p:spPr>
          <a:xfrm>
            <a:off x="11365992" y="6583679"/>
            <a:ext cx="3026664" cy="2167128"/>
          </a:xfrm>
          <a:prstGeom prst="roundRect">
            <a:avLst>
              <a:gd name="adj" fmla="val 3500"/>
            </a:avLst>
          </a:prstGeom>
          <a:solidFill>
            <a:srgbClr val="FFFFFF"/>
          </a:solidFill>
          <a:ln w="9525">
            <a:solidFill>
              <a:srgbClr val="D9E0EC"/>
            </a:solidFill>
          </a:ln>
        </p:spPr>
        <p:txBody>
          <a:bodyPr rtlCol="0" anchor="ctr"/>
          <a:lstStyle/>
          <a:p/>
        </p:txBody>
      </p:sp>
      <p:sp>
        <p:nvSpPr>
          <p:cNvPr id="35" name="TextBox 34"/>
          <p:cNvSpPr txBox="1"/>
          <p:nvPr/>
        </p:nvSpPr>
        <p:spPr>
          <a:xfrm>
            <a:off x="11640312" y="6839712"/>
            <a:ext cx="2478024" cy="274320"/>
          </a:xfrm>
          <a:prstGeom prst="rect">
            <a:avLst/>
          </a:prstGeom>
          <a:noFill/>
        </p:spPr>
        <p:txBody>
          <a:bodyPr wrap="square" anchor="t" lIns="0" rIns="0" tIns="0" bIns="0">
            <a:spAutoFit/>
          </a:bodyPr>
          <a:lstStyle/>
          <a:p>
            <a:pPr algn="l">
              <a:lnSpc>
                <a:spcPct val="112000"/>
              </a:lnSpc>
            </a:pPr>
            <a:r>
              <a:rPr sz="1300" b="1" i="0">
                <a:solidFill>
                  <a:srgbClr val="8B9AB5"/>
                </a:solidFill>
                <a:latin typeface="Pretendard"/>
                <a:ea typeface="Pretendard"/>
                <a:cs typeface="Pretendard"/>
              </a:rPr>
              <a:t>검증① 2차 눈 성능</a:t>
            </a:r>
          </a:p>
        </p:txBody>
      </p:sp>
      <p:sp>
        <p:nvSpPr>
          <p:cNvPr id="36" name="TextBox 35"/>
          <p:cNvSpPr txBox="1"/>
          <p:nvPr/>
        </p:nvSpPr>
        <p:spPr>
          <a:xfrm>
            <a:off x="11640312" y="7187183"/>
            <a:ext cx="2478024" cy="566928"/>
          </a:xfrm>
          <a:prstGeom prst="rect">
            <a:avLst/>
          </a:prstGeom>
          <a:noFill/>
        </p:spPr>
        <p:txBody>
          <a:bodyPr wrap="square" anchor="t" lIns="0" rIns="0" tIns="0" bIns="0">
            <a:spAutoFit/>
          </a:bodyPr>
          <a:lstStyle/>
          <a:p>
            <a:pPr algn="l">
              <a:lnSpc>
                <a:spcPct val="112000"/>
              </a:lnSpc>
            </a:pPr>
            <a:r>
              <a:rPr sz="2400" b="1" i="0">
                <a:solidFill>
                  <a:srgbClr val="0B2A6B"/>
                </a:solidFill>
                <a:latin typeface="Pretendard"/>
                <a:ea typeface="Pretendard"/>
                <a:cs typeface="Pretendard"/>
              </a:rPr>
              <a:t>재현율 ≥ 95%</a:t>
            </a:r>
          </a:p>
        </p:txBody>
      </p:sp>
      <p:sp>
        <p:nvSpPr>
          <p:cNvPr id="37" name="TextBox 36"/>
          <p:cNvSpPr txBox="1"/>
          <p:nvPr/>
        </p:nvSpPr>
        <p:spPr>
          <a:xfrm>
            <a:off x="11640312" y="7845551"/>
            <a:ext cx="2478024" cy="795528"/>
          </a:xfrm>
          <a:prstGeom prst="rect">
            <a:avLst/>
          </a:prstGeom>
          <a:noFill/>
        </p:spPr>
        <p:txBody>
          <a:bodyPr wrap="square" anchor="t" lIns="0" rIns="0" tIns="0" bIns="0">
            <a:spAutoFit/>
          </a:bodyPr>
          <a:lstStyle/>
          <a:p>
            <a:pPr algn="l">
              <a:lnSpc>
                <a:spcPct val="110000"/>
              </a:lnSpc>
            </a:pPr>
            <a:r>
              <a:rPr sz="1050" b="0" i="0">
                <a:solidFill>
                  <a:srgbClr val="1F2A44"/>
                </a:solidFill>
                <a:latin typeface="Pretendard"/>
                <a:ea typeface="Pretendard"/>
                <a:cs typeface="Pretendard"/>
              </a:rPr>
              <a:t>채택 운영점의 재현율·장당 오탐을 함께 공개(AI Hub RT 테스트셋 + GDXray 교차). 현재 폴백 탐지기: 합성 필름 재현율 14/14, 장당 오탐 3.8</a:t>
            </a:r>
          </a:p>
        </p:txBody>
      </p:sp>
      <p:sp>
        <p:nvSpPr>
          <p:cNvPr id="38" name="Rounded Rectangle 37"/>
          <p:cNvSpPr/>
          <p:nvPr/>
        </p:nvSpPr>
        <p:spPr>
          <a:xfrm>
            <a:off x="14648688" y="6583679"/>
            <a:ext cx="3026664" cy="2167128"/>
          </a:xfrm>
          <a:prstGeom prst="roundRect">
            <a:avLst>
              <a:gd name="adj" fmla="val 3500"/>
            </a:avLst>
          </a:prstGeom>
          <a:solidFill>
            <a:srgbClr val="FFFFFF"/>
          </a:solidFill>
          <a:ln w="9525">
            <a:solidFill>
              <a:srgbClr val="D9E0EC"/>
            </a:solidFill>
          </a:ln>
        </p:spPr>
        <p:txBody>
          <a:bodyPr rtlCol="0" anchor="ctr"/>
          <a:lstStyle/>
          <a:p/>
        </p:txBody>
      </p:sp>
      <p:sp>
        <p:nvSpPr>
          <p:cNvPr id="39" name="TextBox 38"/>
          <p:cNvSpPr txBox="1"/>
          <p:nvPr/>
        </p:nvSpPr>
        <p:spPr>
          <a:xfrm>
            <a:off x="14923008" y="6839712"/>
            <a:ext cx="2478024" cy="274320"/>
          </a:xfrm>
          <a:prstGeom prst="rect">
            <a:avLst/>
          </a:prstGeom>
          <a:noFill/>
        </p:spPr>
        <p:txBody>
          <a:bodyPr wrap="square" anchor="t" lIns="0" rIns="0" tIns="0" bIns="0">
            <a:spAutoFit/>
          </a:bodyPr>
          <a:lstStyle/>
          <a:p>
            <a:pPr algn="l">
              <a:lnSpc>
                <a:spcPct val="112000"/>
              </a:lnSpc>
            </a:pPr>
            <a:r>
              <a:rPr sz="1300" b="1" i="0">
                <a:solidFill>
                  <a:srgbClr val="8B9AB5"/>
                </a:solidFill>
                <a:latin typeface="Pretendard"/>
                <a:ea typeface="Pretendard"/>
                <a:cs typeface="Pretendard"/>
              </a:rPr>
              <a:t>검증② 프로토타입 품질</a:t>
            </a:r>
          </a:p>
        </p:txBody>
      </p:sp>
      <p:sp>
        <p:nvSpPr>
          <p:cNvPr id="40" name="TextBox 39"/>
          <p:cNvSpPr txBox="1"/>
          <p:nvPr/>
        </p:nvSpPr>
        <p:spPr>
          <a:xfrm>
            <a:off x="14923008" y="7187183"/>
            <a:ext cx="2478024" cy="566928"/>
          </a:xfrm>
          <a:prstGeom prst="rect">
            <a:avLst/>
          </a:prstGeom>
          <a:noFill/>
        </p:spPr>
        <p:txBody>
          <a:bodyPr wrap="square" anchor="t" lIns="0" rIns="0" tIns="0" bIns="0">
            <a:spAutoFit/>
          </a:bodyPr>
          <a:lstStyle/>
          <a:p>
            <a:pPr algn="l">
              <a:lnSpc>
                <a:spcPct val="112000"/>
              </a:lnSpc>
            </a:pPr>
            <a:r>
              <a:rPr sz="2400" b="1" i="0">
                <a:solidFill>
                  <a:srgbClr val="0B2A6B"/>
                </a:solidFill>
                <a:latin typeface="Pretendard"/>
                <a:ea typeface="Pretendard"/>
                <a:cs typeface="Pretendard"/>
              </a:rPr>
              <a:t>테스트 195건</a:t>
            </a:r>
          </a:p>
        </p:txBody>
      </p:sp>
      <p:sp>
        <p:nvSpPr>
          <p:cNvPr id="41" name="TextBox 40"/>
          <p:cNvSpPr txBox="1"/>
          <p:nvPr/>
        </p:nvSpPr>
        <p:spPr>
          <a:xfrm>
            <a:off x="14923008" y="7845551"/>
            <a:ext cx="2478024" cy="795528"/>
          </a:xfrm>
          <a:prstGeom prst="rect">
            <a:avLst/>
          </a:prstGeom>
          <a:noFill/>
        </p:spPr>
        <p:txBody>
          <a:bodyPr wrap="square" anchor="t" lIns="0" rIns="0" tIns="0" bIns="0">
            <a:spAutoFit/>
          </a:bodyPr>
          <a:lstStyle/>
          <a:p>
            <a:pPr algn="l">
              <a:lnSpc>
                <a:spcPct val="110000"/>
              </a:lnSpc>
            </a:pPr>
            <a:r>
              <a:rPr sz="1050" b="0" i="0">
                <a:solidFill>
                  <a:srgbClr val="1F2A44"/>
                </a:solidFill>
                <a:latin typeface="Pretendard"/>
                <a:ea typeface="Pretendard"/>
                <a:cs typeface="Pretendard"/>
              </a:rPr>
              <a:t>자동 테스트 195건 · 합성 필름 E2E 헤드리스 검증 · 판정 3종·PDF·DB·라벨 export 회귀 테스트. 운영 시 채택률·직접 추가(미탐) 건수 자동 집계</a:t>
            </a:r>
          </a:p>
        </p:txBody>
      </p:sp>
      <p:sp>
        <p:nvSpPr>
          <p:cNvPr id="42" name="TextBox 41"/>
          <p:cNvSpPr txBox="1"/>
          <p:nvPr/>
        </p:nvSpPr>
        <p:spPr>
          <a:xfrm>
            <a:off x="4800600" y="8887967"/>
            <a:ext cx="12874752" cy="329184"/>
          </a:xfrm>
          <a:prstGeom prst="rect">
            <a:avLst/>
          </a:prstGeom>
          <a:noFill/>
        </p:spPr>
        <p:txBody>
          <a:bodyPr wrap="square" anchor="t" lIns="0" rIns="0" tIns="0" bIns="0">
            <a:spAutoFit/>
          </a:bodyPr>
          <a:lstStyle/>
          <a:p>
            <a:pPr algn="l">
              <a:lnSpc>
                <a:spcPct val="112000"/>
              </a:lnSpc>
            </a:pPr>
            <a:r>
              <a:rPr sz="1250" b="0" i="0">
                <a:solidFill>
                  <a:srgbClr val="5B6B8C"/>
                </a:solidFill>
                <a:latin typeface="Pretendard"/>
                <a:ea typeface="Pretendard"/>
                <a:cs typeface="Pretendard"/>
              </a:rPr>
              <a:t>판정 항목마다 허용 한계·근거 조항 ID가 자동 기재되어 리포트의 판정 근거 누락을 구조적으로 방지 — 현재는 데모 기준표, 선급 지침 확정 후 JSON 교체</a:t>
            </a:r>
          </a:p>
        </p:txBody>
      </p:sp>
      <p:sp>
        <p:nvSpPr>
          <p:cNvPr id="43" name="TextBox 42"/>
          <p:cNvSpPr txBox="1"/>
          <p:nvPr/>
        </p:nvSpPr>
        <p:spPr>
          <a:xfrm>
            <a:off x="4800600" y="9299448"/>
            <a:ext cx="12874752" cy="502920"/>
          </a:xfrm>
          <a:prstGeom prst="rect">
            <a:avLst/>
          </a:prstGeom>
          <a:noFill/>
        </p:spPr>
        <p:txBody>
          <a:bodyPr wrap="square" anchor="t" lIns="0" rIns="0" tIns="0" bIns="0">
            <a:spAutoFit/>
          </a:bodyPr>
          <a:lstStyle/>
          <a:p>
            <a:pPr algn="l">
              <a:lnSpc>
                <a:spcPct val="108000"/>
              </a:lnSpc>
            </a:pPr>
            <a:r>
              <a:rPr sz="850" b="0" i="0">
                <a:solidFill>
                  <a:srgbClr val="5B6B8C"/>
                </a:solidFill>
                <a:latin typeface="Pretendard"/>
                <a:ea typeface="Pretendard"/>
                <a:cs typeface="Pretendard"/>
              </a:rPr>
              <a:t>출처: IACS UR W33 Rev.2·W34 Rev.1(2026.07.15 승인, 2028.01.01 시행 — 100mm 해석 길이 지침) · UR W33 §8.2·8.5 보고 항목(자체 대조) · KR×Microsoft AI 협력 보도(2026.06, 검색 요약 기준) · 두산에너빌리티 2026 스마트공장·자동화산업전 발언(위키리크스한국, 검색 요약 기준) · 가스신문 2025.09.18(검색 요약 기준) · DNV-RP-0671(2023.09) · 앱 자체 측정(합성 필름) — 효과 지표는 측정 설계이며 확정 수치가 아님</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327</Words>
  <Application>Microsoft Office PowerPoint</Application>
  <PresentationFormat>사용자 지정</PresentationFormat>
  <Paragraphs>77</Paragraphs>
  <Slides>6</Slides>
  <Notes>6</Notes>
  <HiddenSlides>0</HiddenSlides>
  <MMClips>0</MMClips>
  <ScaleCrop>false</ScaleCrop>
  <HeadingPairs>
    <vt:vector size="6" baseType="variant">
      <vt:variant>
        <vt:lpstr>사용한 글꼴</vt:lpstr>
      </vt:variant>
      <vt:variant>
        <vt:i4>2</vt:i4>
      </vt:variant>
      <vt:variant>
        <vt:lpstr>테마</vt:lpstr>
      </vt:variant>
      <vt:variant>
        <vt:i4>1</vt:i4>
      </vt:variant>
      <vt:variant>
        <vt:lpstr>슬라이드 제목</vt:lpstr>
      </vt:variant>
      <vt:variant>
        <vt:i4>6</vt:i4>
      </vt:variant>
    </vt:vector>
  </HeadingPairs>
  <TitlesOfParts>
    <vt:vector size="9" baseType="lpstr">
      <vt:lpstr>Pretendard</vt:lpstr>
      <vt:lpstr>Arial</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안 성민</cp:lastModifiedBy>
  <cp:revision>2</cp:revision>
  <dcterms:created xsi:type="dcterms:W3CDTF">2026-08-11T00:19:57Z</dcterms:created>
  <dcterms:modified xsi:type="dcterms:W3CDTF">2026-08-11T01:19:30Z</dcterms:modified>
</cp:coreProperties>
</file>